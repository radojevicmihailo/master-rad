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99a24aca9394a2e" /><Relationship Type="http://schemas.openxmlformats.org/officeDocument/2006/relationships/extended-properties" Target="/docProps/app.xml" Id="Rfc1d8dba948d4e60" /><Relationship Type="http://schemas.openxmlformats.org/officeDocument/2006/relationships/officeDocument" Target="/ppt/presentation.xml" Id="R0efddee6f9cf4772" /></Relationships>
</file>

<file path=ppt/presentation.xml><?xml version="1.0" encoding="utf-8"?>
<p:presentation xmlns:p="http://schemas.openxmlformats.org/presentationml/2006/main">
  <p:sldMasterIdLst>
    <p:sldMasterId xmlns:r="http://schemas.openxmlformats.org/officeDocument/2006/relationships" id="2147483648" r:id="Rd9c5a232ee754faa"/>
  </p:sldMasterIdLst>
  <p:notesMasterIdLst>
    <p:notesMasterId xmlns:r="http://schemas.openxmlformats.org/officeDocument/2006/relationships" r:id="R8238d6a9f433450e"/>
  </p:notesMasterIdLst>
  <p:sldIdLst>
    <p:sldId xmlns:r="http://schemas.openxmlformats.org/officeDocument/2006/relationships" id="256" r:id="Ra045a190b5314b2f"/>
    <p:sldId xmlns:r="http://schemas.openxmlformats.org/officeDocument/2006/relationships" id="257" r:id="R368a54c64a5347b9"/>
    <p:sldId xmlns:r="http://schemas.openxmlformats.org/officeDocument/2006/relationships" id="258" r:id="R6ef7625030214358"/>
    <p:sldId xmlns:r="http://schemas.openxmlformats.org/officeDocument/2006/relationships" id="259" r:id="Re50a7aa1e8454a53"/>
    <p:sldId xmlns:r="http://schemas.openxmlformats.org/officeDocument/2006/relationships" id="260" r:id="Rc449e0250de74ec0"/>
    <p:sldId xmlns:r="http://schemas.openxmlformats.org/officeDocument/2006/relationships" id="261" r:id="R9c54225ea0d94741"/>
    <p:sldId xmlns:r="http://schemas.openxmlformats.org/officeDocument/2006/relationships" id="262" r:id="Rd0f1c8d867254bb0"/>
    <p:sldId xmlns:r="http://schemas.openxmlformats.org/officeDocument/2006/relationships" id="263" r:id="R32cbed51082e42c5"/>
    <p:sldId xmlns:r="http://schemas.openxmlformats.org/officeDocument/2006/relationships" id="264" r:id="Rb075f8ca42274327"/>
    <p:sldId xmlns:r="http://schemas.openxmlformats.org/officeDocument/2006/relationships" id="265" r:id="R558a44de2a1841a5"/>
    <p:sldId xmlns:r="http://schemas.openxmlformats.org/officeDocument/2006/relationships" id="266" r:id="Re55f5fcc36534f41"/>
    <p:sldId xmlns:r="http://schemas.openxmlformats.org/officeDocument/2006/relationships" id="267" r:id="R3582adf7d02643f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17ec1a6bf614183" /><Relationship Type="http://schemas.openxmlformats.org/officeDocument/2006/relationships/slideMaster" Target="/ppt/slideMasters/slideMaster1.xml" Id="Rd9c5a232ee754faa" /><Relationship Type="http://schemas.openxmlformats.org/officeDocument/2006/relationships/notesMaster" Target="/ppt/notesMasters/notesMaster1.xml" Id="R8238d6a9f433450e" /><Relationship Type="http://schemas.openxmlformats.org/officeDocument/2006/relationships/presProps" Target="/ppt/presProps.xml" Id="R515e0467d5a84a48" /><Relationship Type="http://schemas.openxmlformats.org/officeDocument/2006/relationships/tableStyles" Target="/ppt/tableStyles.xml" Id="Rf2738ea30d0a4b9c" /><Relationship Type="http://schemas.openxmlformats.org/officeDocument/2006/relationships/slide" Target="/ppt/slides/slide1.xml" Id="Ra045a190b5314b2f" /><Relationship Type="http://schemas.openxmlformats.org/officeDocument/2006/relationships/slide" Target="/ppt/slides/slide2.xml" Id="R368a54c64a5347b9" /><Relationship Type="http://schemas.openxmlformats.org/officeDocument/2006/relationships/slide" Target="/ppt/slides/slide3.xml" Id="R6ef7625030214358" /><Relationship Type="http://schemas.openxmlformats.org/officeDocument/2006/relationships/slide" Target="/ppt/slides/slide4.xml" Id="Re50a7aa1e8454a53" /><Relationship Type="http://schemas.openxmlformats.org/officeDocument/2006/relationships/slide" Target="/ppt/slides/slide5.xml" Id="Rc449e0250de74ec0" /><Relationship Type="http://schemas.openxmlformats.org/officeDocument/2006/relationships/slide" Target="/ppt/slides/slide6.xml" Id="R9c54225ea0d94741" /><Relationship Type="http://schemas.openxmlformats.org/officeDocument/2006/relationships/slide" Target="/ppt/slides/slide7.xml" Id="Rd0f1c8d867254bb0" /><Relationship Type="http://schemas.openxmlformats.org/officeDocument/2006/relationships/slide" Target="/ppt/slides/slide8.xml" Id="R32cbed51082e42c5" /><Relationship Type="http://schemas.openxmlformats.org/officeDocument/2006/relationships/slide" Target="/ppt/slides/slide9.xml" Id="Rb075f8ca42274327" /><Relationship Type="http://schemas.openxmlformats.org/officeDocument/2006/relationships/slide" Target="/ppt/slides/slide10.xml" Id="R558a44de2a1841a5" /><Relationship Type="http://schemas.openxmlformats.org/officeDocument/2006/relationships/slide" Target="/ppt/slides/slide11.xml" Id="Re55f5fcc36534f41" /><Relationship Type="http://schemas.openxmlformats.org/officeDocument/2006/relationships/slide" Target="/ppt/slides/slide12.xml" Id="R3582adf7d02643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7141d63c54b4a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68cd4cf4d9402f" /><Relationship Type="http://schemas.openxmlformats.org/officeDocument/2006/relationships/notesMaster" Target="/ppt/notesMasters/notesMaster1.xml" Id="R55be887c27b741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e0a5165f21458a" /><Relationship Type="http://schemas.openxmlformats.org/officeDocument/2006/relationships/notesMaster" Target="/ppt/notesMasters/notesMaster1.xml" Id="R1398b1e8432e42c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9fafe21e36644a7" /><Relationship Type="http://schemas.openxmlformats.org/officeDocument/2006/relationships/notesMaster" Target="/ppt/notesMasters/notesMaster1.xml" Id="Rda934c193c4d44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68189fd15b4199" /><Relationship Type="http://schemas.openxmlformats.org/officeDocument/2006/relationships/notesMaster" Target="/ppt/notesMasters/notesMaster1.xml" Id="R729d3e8bb3104b84"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bcc076df6c4cbd" /><Relationship Type="http://schemas.openxmlformats.org/officeDocument/2006/relationships/notesMaster" Target="/ppt/notesMasters/notesMaster1.xml" Id="Rf0bf0f4252d54ff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8bd6bb003f84da6" /><Relationship Type="http://schemas.openxmlformats.org/officeDocument/2006/relationships/notesMaster" Target="/ppt/notesMasters/notesMaster1.xml" Id="R99fb13747de3493e"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54c56d19614f93" /><Relationship Type="http://schemas.openxmlformats.org/officeDocument/2006/relationships/notesMaster" Target="/ppt/notesMasters/notesMaster1.xml" Id="Rce035e47497e4f21" /></Relationships>
</file>

<file path=ppt/notesSlides/_rels/notesSlide8.xml.rels>&#65279;<?xml version="1.0" encoding="utf-8"?><Relationships xmlns="http://schemas.openxmlformats.org/package/2006/relationships"><Relationship Type="http://schemas.openxmlformats.org/officeDocument/2006/relationships/slide" Target="/ppt/slides/slide8.xml" Id="Redeee7e99c674a74" /><Relationship Type="http://schemas.openxmlformats.org/officeDocument/2006/relationships/notesMaster" Target="/ppt/notesMasters/notesMaster1.xml" Id="Rfed51ebc247e4d0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247b0eb6c074438" /><Relationship Type="http://schemas.openxmlformats.org/officeDocument/2006/relationships/notesMaster" Target="/ppt/notesMasters/notesMaster1.xml" Id="R361f31c22b2e466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7c31918ca774a26" /><Relationship Type="http://schemas.openxmlformats.org/officeDocument/2006/relationships/notesMaster" Target="/ppt/notesMasters/notesMaster1.xml" Id="R9e2a0f36cd94426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e37b69c81c4b91" /><Relationship Type="http://schemas.openxmlformats.org/officeDocument/2006/relationships/notesMaster" Target="/ppt/notesMasters/notesMaster1.xml" Id="Rb9cf34be0405472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83bee096ad14bda" /><Relationship Type="http://schemas.openxmlformats.org/officeDocument/2006/relationships/notesMaster" Target="/ppt/notesMasters/notesMaster1.xml" Id="R801de555b7d5475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Dobar dan. Ja sam Mihailo Radojević i predstaviću master rad pod nazivom „Optimalna raspodela poslova na računarima“. Rad je urađen pod mentorstvom profesora Dragana Olćana i docentkinje Jovane Petrović. Osnovno pitanje rada je kako rasporediti veliki broj poslova na heterogene računare tako da ukupna zarada bude što veća, uz poštovanje svih vremenskih i tržišnih ograničenja.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Posmatramo više servisa i heterogene računare. Oznaka p-i-j predstavlja zaradu po jedinici servisa i na računaru j, t-i-j vreme izvršavanja te jedinice na računaru j, a d-i ukupan zahtev za servis i. Promenljiva x-i-j označava broj jedinica servisa i raspoređenih na računar j. Maksimizujemo ukupnu zaradu uz dva glavna ograničenja: nijedan računar ne sme prekoračiti raspoloživo vreme, a za svaki servis ne sme se realizovati više jedinica nego što je zahtevano. Promenljive su nenegativne i celobrojne, pa formulacija ima m puta n promenljivih.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Rad povezuje matematički model i evolutivnu pretragu. Specijalizacija genetičkog algoritma odnosi se na predstavljanje rešenja i postupak popravke prilagođen ovom problemu. Hromozom je matrica raspodele poslova, a posle inicijalizacije, ukrštanja i mutacije primenjuje se namenska četvorofazna popravka. Selekcija, elitizam, ukrštanje i mutacija jesu standardni elementi GA, dok su matrični zapis hromozoma i popravka vezani za razmatranu raspodelu poslova.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Procedura popravke je centralni element algoritma i ima četiri determinističke faze. Najpre uklanja negativne vrednosti. Zatim smanjuje količine kada je premašen zahtev servisa. U trećoj fazi oslobađa prekoračeno vreme računara uklanjanjem najmanje profitabilnih jedinica, a na kraju preostali kapacitet pohlepno popunjava najprofitabilnijim dopustivim poslovima. GA i dalje ostaje populacioni algoritam globalne pretrage; popravka samo održava dopustivost i lokalno doteruje pojedinačna rešenja koja evolutivna pretraga proizvodi.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Ista matematička formulacija ispitana je na tri problema: 10 puta 10, 100 puta 100 i 1000 puta 1000, odnosno sa sto, deset hiljada i milion promenljivih. HiGHS je korišćen kao referentni alat za sve tri lokalno rešene instance, a slučajna pretraga kao kontrolna metoda. Za dodatnu online proveru korišćen je NEOS server sa Gurobi solverom. Online solver rešio je probleme 10 puta 10 i 100 puta 100, ali problem sa milion promenljivih nije mogao da reši tim putem. Konfiguracije su pokretane više puta, a sva vremenska merenja izvršena su na istom računaru, MacBook Pro uređaju sa M1 Pro procesorom i 16 gigabajta memorije.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 grafikonu su prikazane reprezentativne konfiguracije genetičkog algoritma. Na maloj instanci konfiguracija sa istim budžetom kao slučajna pretraga dostiže 98,7 procenata optimuma; uz veći budžet GA prelazi 99 procenata, ali taj rezultat nije korišćen u ovom direktnom poređenju. Na srednjoj instanci GA dostiže 98,8 procenata, a na velikoj 97,1 procenat. To su kvalitetna i stabilna rešenja, ali je ključan nalaz da je HiGHS na sve tri ispitane linearne instance bio i bolji i brži. Malu instancu rešava za manje od sekunde, srednju za oko 7,7 sekundi, a na velikoj instanci sa milion promenljivih dokazuje optimum za oko 185 sekundi. GA na velikoj instanci zahteva više sati. Dakle, na ovom modelu genetički algoritam nije zamena za egzaktni alat.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Ovde su prikazane GA konfiguracije odabrane za poređenje sa kontrolnom metodom, pa se pojedine vrednosti blago razlikuju od prethodnog slajda. GA je bolji od slučajne pretrage na sve tri ispitane instance, ali veličina razlike zavisi od instance. Posebno odstupa instanca 100 puta 100. Velika razlika na njoj nije posledica broja evaluacija, jer su obe metode imale isti budžet od deset miliona evaluacija. Obe koriste isto generisanje početnih rešenja i istu popravku, pa razlika pokazuje doprinos selekcije, ukrštanja, mutacije i elitizma, koji pretragu usmeravaju ka kvalitetnijim raspodelama.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 istom ukupnom broju od milion evaluacija populacija od 1000 jedinki brže napreduje na početku jer prolazi kroz više generacija. Populacija od 2000 jedinki napreduje sporije, ali zahvaljujući većoj raznovrsnosti na kraju dostiže nešto bolju prosečnu vrednost: 88.817 prema 88.657 dinara. Dakle, veličina populacije utiče na konvergenciju: menja odnos između broja jedinki u generaciji, broja generacija i raznovrsnosti pretrage.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 problemu 100 puta 100 povećanje populacije povećava prosečnu vrednost funkcije cilja, ali se veličina dodatnog poboljšanja smanjuje. Prelazak sa 100 hiljada na 200 hiljada jedinki povećava prosečnu vrednost funkcije cilja za približno 0,15%, dok se prosečno vreme izvršavanja povećava oko tri i po puta. Zato najveća populacija nije automatski najbolji inženjerski izbor; treba birati tačku posle koje dodatni kvalitet više ne opravdava dodatno vreme.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Eksperimentalni zaključak rada odnosi se na ispitane statičke linearne instance: HiGHS je dao najbolju vrednost funkcije cilja uz najmanje vreme. Nelinearnosti, dinamičke promene, više ciljeva i ograničenja koja se teško izražavaju linearnom formulacijom nisu ispitivani u radu; navedeni su kao moguća proširenja matematičkog modela i pravci buduće primene GA. Na grafikonu se vidi da je šest pokretanja velike instance dalo veoma slične putanje, ali jedno takvo pokretanje traje oko 3,4 sata. Ograničenje evaluacije je i to što je korišćen po jedan problem svake veličine.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Rezultati daju tri odgovora. Prvo, GA pronalazi stabilna rešenja kvaliteta od približno 97 do 99 procenata referentnog optimuma. Drugo, GA je bolji od slučajne pretrage na sve tri ispitane instance, ali veličina razlike zavisi od instance i posebno je izražena na problemu 100 puta 100. Treće, povećanje populacije povećava vrednost funkcije cilja, ali uz sve manji dodatni dobitak i brzo rastuće vreme izvršavanja.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Jedan od glavnih doprinosa rada je specijalizovana procedura popravke: posle svake izmene hromozoma vraća rešenje u dopustivo stanje i zatim ga lokalno poboljšava profitabilnijim dodelama. HiGHS ostaje prvi izbor za ispitane linearne instance. Primena GA na proširene, dinamičke i višekriterijumske formulacije nije ispitana u ovom radu i predstavlja pravac daljeg istraživanja, zajedno sa adaptivnim operatorima i lokalnom pretragom. Hvala na pažnji.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a52a942d47467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51107654dc455d" /><Relationship Type="http://schemas.openxmlformats.org/officeDocument/2006/relationships/slideLayout" Target="/ppt/slideLayouts/slideLayout1.xml" Id="Rfaa4c5273342444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a4c5273342444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f8a47d70d2745e8" /><Relationship Type="http://schemas.openxmlformats.org/officeDocument/2006/relationships/image" Target="/ppt/media/image.png" Id="Re6df9296d0154e1c" /><Relationship Type="http://schemas.openxmlformats.org/officeDocument/2006/relationships/notesSlide" Target="/ppt/notesSlides/notesSlide1.xml" Id="Rf1be4ba5fa06421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727b39cac6c46f7" /><Relationship Type="http://schemas.openxmlformats.org/officeDocument/2006/relationships/notesSlide" Target="/ppt/notesSlides/notesSlide2.xml" Id="Re96b1a1e760a4a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d58b54b403d429b" /><Relationship Type="http://schemas.openxmlformats.org/officeDocument/2006/relationships/notesSlide" Target="/ppt/notesSlides/notesSlide3.xml" Id="R0b97eac419ae4a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a97d0e4764b4720" /><Relationship Type="http://schemas.openxmlformats.org/officeDocument/2006/relationships/notesSlide" Target="/ppt/notesSlides/notesSlide4.xml" Id="R78da793326304bc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1b76aaa87b74503" /><Relationship Type="http://schemas.openxmlformats.org/officeDocument/2006/relationships/notesSlide" Target="/ppt/notesSlides/notesSlide5.xml" Id="R3c29153fdcac4b4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3e8edc3ddad419d" /><Relationship Type="http://schemas.openxmlformats.org/officeDocument/2006/relationships/chart" Target="/ppt/slides/charts/chart1.xml" Id="R73a8dff73ee64ca3" /><Relationship Type="http://schemas.openxmlformats.org/officeDocument/2006/relationships/notesSlide" Target="/ppt/notesSlides/notesSlide6.xml" Id="Rebca02f44a3c4c1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c68434b5cbc4815" /><Relationship Type="http://schemas.openxmlformats.org/officeDocument/2006/relationships/chart" Target="/ppt/slides/charts/chart2.xml" Id="Ra2262971577e401f" /><Relationship Type="http://schemas.openxmlformats.org/officeDocument/2006/relationships/notesSlide" Target="/ppt/notesSlides/notesSlide7.xml" Id="R51f90a48efff4b1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d995fd7df9b416c" /><Relationship Type="http://schemas.openxmlformats.org/officeDocument/2006/relationships/image" Target="/ppt/media/image2.png" Id="Ra60e1d838d814aef" /><Relationship Type="http://schemas.openxmlformats.org/officeDocument/2006/relationships/notesSlide" Target="/ppt/notesSlides/notesSlide8.xml" Id="R2c3c45797bf14b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219ebe64e724c48" /><Relationship Type="http://schemas.openxmlformats.org/officeDocument/2006/relationships/chart" Target="/ppt/slides/charts/chart3.xml" Id="R5407d28115aa42b7" /><Relationship Type="http://schemas.openxmlformats.org/officeDocument/2006/relationships/chart" Target="/ppt/slides/charts/chart4.xml" Id="R593713b662c645b1" /><Relationship Type="http://schemas.openxmlformats.org/officeDocument/2006/relationships/notesSlide" Target="/ppt/notesSlides/notesSlide9.xml" Id="Rd66bb34ef2774f6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ca5528e1f844849" /><Relationship Type="http://schemas.openxmlformats.org/officeDocument/2006/relationships/image" Target="/ppt/media/image3.png" Id="Ref41ab772dc0487a" /><Relationship Type="http://schemas.openxmlformats.org/officeDocument/2006/relationships/notesSlide" Target="/ppt/notesSlides/notesSlide10.xml" Id="Rc81cd45ff931465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ac0c08f96434012" /><Relationship Type="http://schemas.openxmlformats.org/officeDocument/2006/relationships/notesSlide" Target="/ppt/notesSlides/notesSlide11.xml" Id="Rd742230759b849c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ddb082d3f14e1a" /><Relationship Type="http://schemas.openxmlformats.org/officeDocument/2006/relationships/notesSlide" Target="/ppt/notesSlides/notesSlide12.xml" Id="Rd1b17c087d774313" /></Relationships>
</file>

<file path=ppt/slides/charts/chart1.xml><?xml version="1.0" encoding="utf-8"?>
<c:chartSpace xmlns:c="http://schemas.openxmlformats.org/drawingml/2006/chart">
  <c:lang val="en-US"/>
  <c:chart>
    <c:plotArea>
      <c:barChart>
        <c:barDir val="col"/>
        <c:grouping val="clustered"/>
        <c:varyColors val="0"/>
        <c:ser>
          <c:idx val="0"/>
          <c:order val="0"/>
          <c:tx>
            <c:v>HiGHS</c:v>
          </c:tx>
          <c:spPr>
            <a:solidFill xmlns:a="http://schemas.openxmlformats.org/drawingml/2006/main">
              <a:srgbClr val="123B63"/>
            </a:solidFill>
          </c:spPr>
          <c:cat>
            <c:strLit>
              <c:ptCount val="3"/>
              <c:pt idx="0">
                <c:v>10×10</c:v>
              </c:pt>
              <c:pt idx="1">
                <c:v>100×100</c:v>
              </c:pt>
              <c:pt idx="2">
                <c:v>1000×1000</c:v>
              </c:pt>
            </c:strLit>
          </c:cat>
          <c:val>
            <c:numLit>
              <c:formatCode>0.0"%"</c:formatCode>
              <c:ptCount val="3"/>
              <c:pt idx="0">
                <c:v>100</c:v>
              </c:pt>
              <c:pt idx="1">
                <c:v>100</c:v>
              </c:pt>
              <c:pt idx="2">
                <c:v>100</c:v>
              </c:pt>
            </c:numLit>
          </c:val>
        </c:ser>
        <c:ser>
          <c:idx val="1"/>
          <c:order val="1"/>
          <c:tx>
            <c:v>Genetički algoritam</c:v>
          </c:tx>
          <c:spPr>
            <a:solidFill xmlns:a="http://schemas.openxmlformats.org/drawingml/2006/main">
              <a:srgbClr val="73B9E6"/>
            </a:solidFill>
          </c:spPr>
          <c:cat>
            <c:strLit>
              <c:ptCount val="3"/>
              <c:pt idx="0">
                <c:v>10×10</c:v>
              </c:pt>
              <c:pt idx="1">
                <c:v>100×100</c:v>
              </c:pt>
              <c:pt idx="2">
                <c:v>1000×1000</c:v>
              </c:pt>
            </c:strLit>
          </c:cat>
          <c:val>
            <c:numLit>
              <c:formatCode>0.0"%"</c:formatCode>
              <c:ptCount val="3"/>
              <c:pt idx="0">
                <c:v>98.7</c:v>
              </c:pt>
              <c:pt idx="1">
                <c:v>98.8</c:v>
              </c:pt>
              <c:pt idx="2">
                <c:v>97.1</c:v>
              </c:pt>
            </c:numLit>
          </c:val>
        </c:ser>
        <c:dLbls>
          <c:txPr>
            <a:bodyPr xmlns:a="http://schemas.openxmlformats.org/drawingml/2006/main" anchorCtr="1"/>
            <a:lstStyle xmlns:a="http://schemas.openxmlformats.org/drawingml/2006/main"/>
            <a:p xmlns:a="http://schemas.openxmlformats.org/drawingml/2006/main">
              <a:pPr>
                <a:defRPr sz="1050" b="1">
                  <a:solidFill>
                    <a:srgbClr val="111827"/>
                  </a:solidFil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7D0D9"/>
            </a:solidFill>
            <a:prstDash val="solid"/>
          </a:ln>
        </c:spPr>
        <c:txPr>
          <a:bodyPr xmlns:a="http://schemas.openxmlformats.org/drawingml/2006/main" anchorCtr="1"/>
          <a:lstStyle xmlns:a="http://schemas.openxmlformats.org/drawingml/2006/main"/>
          <a:p xmlns:a="http://schemas.openxmlformats.org/drawingml/2006/main">
            <a:pPr>
              <a:defRPr sz="1200" b="1">
                <a:solidFill>
                  <a:srgbClr val="111827"/>
                </a:solidFill>
              </a:defRPr>
            </a:pPr>
          </a:p>
        </c:txPr>
        <c:crossAx val="48672768"/>
      </c:catAx>
      <c:valAx>
        <c:axId val="48672768"/>
        <c:scaling>
          <c:orientation val="minMax"/>
          <c:max val="102"/>
          <c:min val="90"/>
        </c:scaling>
        <c:delete val="0"/>
        <c:axPos val="l"/>
        <c:majorGridlines>
          <c:spPr>
            <a:ln xmlns:a="http://schemas.openxmlformats.org/drawingml/2006/main" w="9525">
              <a:solidFill>
                <a:srgbClr val="E5EAF0"/>
              </a:solidFill>
              <a:prstDash val="solid"/>
            </a:ln>
          </c:spPr>
        </c:majorGridlines>
        <c:numFmt formatCode="0&quot;%&quot;"/>
        <c:majorTickMark val="none"/>
        <c:minorTickMark val="none"/>
        <c:spPr>
          <a:ln xmlns:a="http://schemas.openxmlformats.org/drawingml/2006/main" w="9525">
            <a:solidFill>
              <a:srgbClr val="C7D0D9"/>
            </a:solidFill>
            <a:prstDash val="solid"/>
          </a:ln>
        </c:spPr>
        <c:txPr>
          <a:bodyPr xmlns:a="http://schemas.openxmlformats.org/drawingml/2006/main" anchorCtr="1"/>
          <a:lstStyle xmlns:a="http://schemas.openxmlformats.org/drawingml/2006/main"/>
          <a:p xmlns:a="http://schemas.openxmlformats.org/drawingml/2006/main">
            <a:pPr>
              <a:defRPr sz="900">
                <a:solidFill>
                  <a:srgbClr val="536273"/>
                </a:solidFill>
              </a:defRPr>
            </a:pPr>
          </a:p>
        </c:txPr>
        <c:crossAx val="48650112"/>
        <c:crossBetween val="between"/>
        <c:majorUnit val="2"/>
      </c:valAx>
      <c:spPr>
        <a:noFill xmlns:a="http://schemas.openxmlformats.org/drawingml/2006/main"/>
        <a:ln xmlns:a="http://schemas.openxmlformats.org/drawingml/2006/main" w="0">
          <a:solidFill>
            <a:srgbClr val="FFFFFF"/>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536273"/>
              </a:solidFill>
            </a:defRPr>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col"/>
        <c:grouping val="clustered"/>
        <c:varyColors val="0"/>
        <c:ser>
          <c:idx val="0"/>
          <c:order val="0"/>
          <c:tx>
            <c:v>Genetički algoritam</c:v>
          </c:tx>
          <c:spPr>
            <a:solidFill xmlns:a="http://schemas.openxmlformats.org/drawingml/2006/main">
              <a:srgbClr val="2E75B6"/>
            </a:solidFill>
          </c:spPr>
          <c:cat>
            <c:strLit>
              <c:ptCount val="3"/>
              <c:pt idx="0">
                <c:v>10×10</c:v>
              </c:pt>
              <c:pt idx="1">
                <c:v>100×100</c:v>
              </c:pt>
              <c:pt idx="2">
                <c:v>1000×1000</c:v>
              </c:pt>
            </c:strLit>
          </c:cat>
          <c:val>
            <c:numLit>
              <c:formatCode>0.0"%"</c:formatCode>
              <c:ptCount val="3"/>
              <c:pt idx="0">
                <c:v>98.7</c:v>
              </c:pt>
              <c:pt idx="1">
                <c:v>98.59</c:v>
              </c:pt>
              <c:pt idx="2">
                <c:v>97</c:v>
              </c:pt>
            </c:numLit>
          </c:val>
        </c:ser>
        <c:ser>
          <c:idx val="1"/>
          <c:order val="1"/>
          <c:tx>
            <c:v>Slučajna pretraga</c:v>
          </c:tx>
          <c:spPr>
            <a:solidFill xmlns:a="http://schemas.openxmlformats.org/drawingml/2006/main">
              <a:srgbClr val="B8C3CD"/>
            </a:solidFill>
          </c:spPr>
          <c:cat>
            <c:strLit>
              <c:ptCount val="3"/>
              <c:pt idx="0">
                <c:v>10×10</c:v>
              </c:pt>
              <c:pt idx="1">
                <c:v>100×100</c:v>
              </c:pt>
              <c:pt idx="2">
                <c:v>1000×1000</c:v>
              </c:pt>
            </c:strLit>
          </c:cat>
          <c:val>
            <c:numLit>
              <c:formatCode>0.0"%"</c:formatCode>
              <c:ptCount val="3"/>
              <c:pt idx="0">
                <c:v>83.8</c:v>
              </c:pt>
              <c:pt idx="1">
                <c:v>49.59</c:v>
              </c:pt>
              <c:pt idx="2">
                <c:v>88</c:v>
              </c:pt>
            </c:numLit>
          </c:val>
        </c:ser>
        <c:dLbls>
          <c:txPr>
            <a:bodyPr xmlns:a="http://schemas.openxmlformats.org/drawingml/2006/main" anchorCtr="1"/>
            <a:lstStyle xmlns:a="http://schemas.openxmlformats.org/drawingml/2006/main"/>
            <a:p xmlns:a="http://schemas.openxmlformats.org/drawingml/2006/main">
              <a:pPr>
                <a:defRPr sz="1050" b="1">
                  <a:solidFill>
                    <a:srgbClr val="111827"/>
                  </a:solidFil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7D0D9"/>
            </a:solidFill>
            <a:prstDash val="solid"/>
          </a:ln>
        </c:spPr>
        <c:txPr>
          <a:bodyPr xmlns:a="http://schemas.openxmlformats.org/drawingml/2006/main" anchorCtr="1"/>
          <a:lstStyle xmlns:a="http://schemas.openxmlformats.org/drawingml/2006/main"/>
          <a:p xmlns:a="http://schemas.openxmlformats.org/drawingml/2006/main">
            <a:pPr>
              <a:defRPr sz="1200" b="1">
                <a:solidFill>
                  <a:srgbClr val="111827"/>
                </a:solidFill>
              </a:defRPr>
            </a:pPr>
          </a:p>
        </c:txPr>
        <c:crossAx val="48672768"/>
      </c:catAx>
      <c:valAx>
        <c:axId val="48672768"/>
        <c:scaling>
          <c:orientation val="minMax"/>
          <c:max val="105"/>
          <c:min val="40"/>
        </c:scaling>
        <c:delete val="0"/>
        <c:axPos val="l"/>
        <c:majorGridlines>
          <c:spPr>
            <a:ln xmlns:a="http://schemas.openxmlformats.org/drawingml/2006/main" w="9525">
              <a:solidFill>
                <a:srgbClr val="E5EAF0"/>
              </a:solidFill>
              <a:prstDash val="solid"/>
            </a:ln>
          </c:spPr>
        </c:majorGridlines>
        <c:numFmt formatCode="0&quot;%&quot;"/>
        <c:majorTickMark val="none"/>
        <c:minorTickMark val="none"/>
        <c:spPr>
          <a:ln xmlns:a="http://schemas.openxmlformats.org/drawingml/2006/main" w="9525">
            <a:solidFill>
              <a:srgbClr val="C7D0D9"/>
            </a:solidFill>
            <a:prstDash val="solid"/>
          </a:ln>
        </c:spPr>
        <c:txPr>
          <a:bodyPr xmlns:a="http://schemas.openxmlformats.org/drawingml/2006/main" anchorCtr="1"/>
          <a:lstStyle xmlns:a="http://schemas.openxmlformats.org/drawingml/2006/main"/>
          <a:p xmlns:a="http://schemas.openxmlformats.org/drawingml/2006/main">
            <a:pPr>
              <a:defRPr sz="900">
                <a:solidFill>
                  <a:srgbClr val="536273"/>
                </a:solidFill>
              </a:defRPr>
            </a:pPr>
          </a:p>
        </c:txPr>
        <c:crossAx val="48650112"/>
        <c:crossBetween val="between"/>
        <c:majorUnit val="10"/>
      </c:valAx>
      <c:spPr>
        <a:noFill xmlns:a="http://schemas.openxmlformats.org/drawingml/2006/main"/>
        <a:ln xmlns:a="http://schemas.openxmlformats.org/drawingml/2006/main" w="0">
          <a:solidFill>
            <a:srgbClr val="FFFFFF"/>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536273"/>
              </a:solidFill>
            </a:defRPr>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barChart>
        <c:barDir val="col"/>
        <c:grouping val="clustered"/>
        <c:varyColors val="0"/>
        <c:ser>
          <c:idx val="0"/>
          <c:order val="0"/>
          <c:tx>
            <c:v>% optimuma</c:v>
          </c:tx>
          <c:spPr>
            <a:solidFill xmlns:a="http://schemas.openxmlformats.org/drawingml/2006/main">
              <a:srgbClr val="2E75B6"/>
            </a:solidFill>
          </c:spPr>
          <c:cat>
            <c:strLit>
              <c:ptCount val="6"/>
              <c:pt idx="0">
                <c:v>5k</c:v>
              </c:pt>
              <c:pt idx="1">
                <c:v>10k</c:v>
              </c:pt>
              <c:pt idx="2">
                <c:v>50k</c:v>
              </c:pt>
              <c:pt idx="3">
                <c:v>100k</c:v>
              </c:pt>
              <c:pt idx="4">
                <c:v>150k</c:v>
              </c:pt>
              <c:pt idx="5">
                <c:v>200k</c:v>
              </c:pt>
            </c:strLit>
          </c:cat>
          <c:val>
            <c:numLit>
              <c:formatCode>0.00"%"</c:formatCode>
              <c:ptCount val="6"/>
              <c:pt idx="0">
                <c:v>98.0879</c:v>
              </c:pt>
              <c:pt idx="1">
                <c:v>98.3121</c:v>
              </c:pt>
              <c:pt idx="2">
                <c:v>98.5912</c:v>
              </c:pt>
              <c:pt idx="3">
                <c:v>98.7198</c:v>
              </c:pt>
              <c:pt idx="4">
                <c:v>98.7509</c:v>
              </c:pt>
              <c:pt idx="5">
                <c:v>98.8394</c:v>
              </c:pt>
            </c:numLit>
          </c:val>
        </c:ser>
        <c:dLbls>
          <c:txPr>
            <a:bodyPr xmlns:a="http://schemas.openxmlformats.org/drawingml/2006/main" anchorCtr="1"/>
            <a:lstStyle xmlns:a="http://schemas.openxmlformats.org/drawingml/2006/main"/>
            <a:p xmlns:a="http://schemas.openxmlformats.org/drawingml/2006/main">
              <a:pPr>
                <a:defRPr sz="900" b="1">
                  <a:solidFill>
                    <a:srgbClr val="111827"/>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7D0D9"/>
            </a:solidFill>
            <a:prstDash val="solid"/>
          </a:ln>
        </c:spPr>
        <c:txPr>
          <a:bodyPr xmlns:a="http://schemas.openxmlformats.org/drawingml/2006/main" anchorCtr="1"/>
          <a:lstStyle xmlns:a="http://schemas.openxmlformats.org/drawingml/2006/main"/>
          <a:p xmlns:a="http://schemas.openxmlformats.org/drawingml/2006/main">
            <a:pPr>
              <a:defRPr sz="1050" b="1">
                <a:solidFill>
                  <a:srgbClr val="111827"/>
                </a:solidFill>
              </a:defRPr>
            </a:pPr>
          </a:p>
        </c:txPr>
        <c:crossAx val="48672768"/>
      </c:catAx>
      <c:valAx>
        <c:axId val="48672768"/>
        <c:scaling>
          <c:orientation val="minMax"/>
          <c:max val="99"/>
          <c:min val="97.8"/>
        </c:scaling>
        <c:delete val="0"/>
        <c:axPos val="l"/>
        <c:majorGridlines>
          <c:spPr>
            <a:ln xmlns:a="http://schemas.openxmlformats.org/drawingml/2006/main" w="9525">
              <a:solidFill>
                <a:srgbClr val="E5EAF0"/>
              </a:solidFill>
              <a:prstDash val="solid"/>
            </a:ln>
          </c:spPr>
        </c:majorGridlines>
        <c:numFmt formatCode="0.0&quot;%&quot;"/>
        <c:majorTickMark val="none"/>
        <c:minorTickMark val="none"/>
        <c:spPr>
          <a:ln xmlns:a="http://schemas.openxmlformats.org/drawingml/2006/main" w="9525">
            <a:solidFill>
              <a:srgbClr val="C7D0D9"/>
            </a:solidFill>
            <a:prstDash val="solid"/>
          </a:ln>
        </c:spPr>
        <c:txPr>
          <a:bodyPr xmlns:a="http://schemas.openxmlformats.org/drawingml/2006/main" anchorCtr="1"/>
          <a:lstStyle xmlns:a="http://schemas.openxmlformats.org/drawingml/2006/main"/>
          <a:p xmlns:a="http://schemas.openxmlformats.org/drawingml/2006/main">
            <a:pPr>
              <a:defRPr sz="825">
                <a:solidFill>
                  <a:srgbClr val="536273"/>
                </a:solidFill>
              </a:defRPr>
            </a:pPr>
          </a:p>
        </c:txPr>
        <c:crossAx val="48650112"/>
        <c:crossBetween val="between"/>
        <c:majorUnit val="0.2"/>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4.xml><?xml version="1.0" encoding="utf-8"?>
<c:chartSpace xmlns:c="http://schemas.openxmlformats.org/drawingml/2006/chart">
  <c:lang val="en-US"/>
  <c:chart>
    <c:plotArea>
      <c:barChart>
        <c:barDir val="col"/>
        <c:grouping val="clustered"/>
        <c:varyColors val="0"/>
        <c:ser>
          <c:idx val="0"/>
          <c:order val="0"/>
          <c:tx>
            <c:v>Vreme</c:v>
          </c:tx>
          <c:spPr>
            <a:solidFill xmlns:a="http://schemas.openxmlformats.org/drawingml/2006/main">
              <a:srgbClr val="2E7D5B"/>
            </a:solidFill>
          </c:spPr>
          <c:cat>
            <c:strLit>
              <c:ptCount val="6"/>
              <c:pt idx="0">
                <c:v>5k</c:v>
              </c:pt>
              <c:pt idx="1">
                <c:v>10k</c:v>
              </c:pt>
              <c:pt idx="2">
                <c:v>50k</c:v>
              </c:pt>
              <c:pt idx="3">
                <c:v>100k</c:v>
              </c:pt>
              <c:pt idx="4">
                <c:v>150k</c:v>
              </c:pt>
              <c:pt idx="5">
                <c:v>200k</c:v>
              </c:pt>
            </c:strLit>
          </c:cat>
          <c:val>
            <c:numLit>
              <c:formatCode>0" s"</c:formatCode>
              <c:ptCount val="6"/>
              <c:pt idx="0">
                <c:v>16.3</c:v>
              </c:pt>
              <c:pt idx="1">
                <c:v>30</c:v>
              </c:pt>
              <c:pt idx="2">
                <c:v>311.4</c:v>
              </c:pt>
              <c:pt idx="3">
                <c:v>503.8</c:v>
              </c:pt>
              <c:pt idx="4">
                <c:v>1382.6</c:v>
              </c:pt>
              <c:pt idx="5">
                <c:v>1778.8</c:v>
              </c:pt>
            </c:numLit>
          </c:val>
        </c:ser>
        <c:dLbls>
          <c:txPr>
            <a:bodyPr xmlns:a="http://schemas.openxmlformats.org/drawingml/2006/main" anchorCtr="1"/>
            <a:lstStyle xmlns:a="http://schemas.openxmlformats.org/drawingml/2006/main"/>
            <a:p xmlns:a="http://schemas.openxmlformats.org/drawingml/2006/main">
              <a:pPr>
                <a:defRPr sz="900" b="1">
                  <a:solidFill>
                    <a:srgbClr val="111827"/>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7D0D9"/>
            </a:solidFill>
            <a:prstDash val="solid"/>
          </a:ln>
        </c:spPr>
        <c:txPr>
          <a:bodyPr xmlns:a="http://schemas.openxmlformats.org/drawingml/2006/main" anchorCtr="1"/>
          <a:lstStyle xmlns:a="http://schemas.openxmlformats.org/drawingml/2006/main"/>
          <a:p xmlns:a="http://schemas.openxmlformats.org/drawingml/2006/main">
            <a:pPr>
              <a:defRPr sz="1050" b="1">
                <a:solidFill>
                  <a:srgbClr val="111827"/>
                </a:solidFill>
              </a:defRPr>
            </a:pPr>
          </a:p>
        </c:txPr>
        <c:crossAx val="48672768"/>
      </c:catAx>
      <c:valAx>
        <c:axId val="48672768"/>
        <c:scaling>
          <c:orientation val="minMax"/>
          <c:max val="2000"/>
          <c:min val="0"/>
        </c:scaling>
        <c:delete val="0"/>
        <c:axPos val="l"/>
        <c:majorGridlines>
          <c:spPr>
            <a:ln xmlns:a="http://schemas.openxmlformats.org/drawingml/2006/main" w="9525">
              <a:solidFill>
                <a:srgbClr val="E5EAF0"/>
              </a:solidFill>
              <a:prstDash val="solid"/>
            </a:ln>
          </c:spPr>
        </c:majorGridlines>
        <c:numFmt formatCode="0&quot; s&quot;"/>
        <c:majorTickMark val="none"/>
        <c:minorTickMark val="none"/>
        <c:spPr>
          <a:ln xmlns:a="http://schemas.openxmlformats.org/drawingml/2006/main" w="9525">
            <a:solidFill>
              <a:srgbClr val="C7D0D9"/>
            </a:solidFill>
            <a:prstDash val="solid"/>
          </a:ln>
        </c:spPr>
        <c:txPr>
          <a:bodyPr xmlns:a="http://schemas.openxmlformats.org/drawingml/2006/main" anchorCtr="1"/>
          <a:lstStyle xmlns:a="http://schemas.openxmlformats.org/drawingml/2006/main"/>
          <a:p xmlns:a="http://schemas.openxmlformats.org/drawingml/2006/main">
            <a:pPr>
              <a:defRPr sz="825">
                <a:solidFill>
                  <a:srgbClr val="536273"/>
                </a:solidFill>
              </a:defRPr>
            </a:pPr>
          </a:p>
        </c:txPr>
        <c:crossAx val="48650112"/>
        <c:crossBetween val="between"/>
        <c:majorUnit val="500"/>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6D45101-D815-4BA7-929C-10D02C319C2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23B63"/>
          </a:solidFill>
          <a:ln xmlns:a="http://schemas.openxmlformats.org/drawingml/2006/main" w="0">
            <a:solidFill>
              <a:srgbClr val="123B63"/>
            </a:solid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e6df9296d0154e1c"/>
          <a:stretch xmlns:a="http://schemas.openxmlformats.org/drawingml/2006/main"/>
        </p:blipFill>
        <p:spPr>
          <a:xfrm xmlns:a="http://schemas.openxmlformats.org/drawingml/2006/main">
            <a:off x="9620250" y="476840"/>
            <a:ext cx="1428750" cy="165617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9E09C5F-96EA-4559-A1C5-C06338A4D375}"/>
              </a:ext>
            </a:extLst>
          </p:cNvPr>
          <p:cNvSpPr>
            <a:spLocks xmlns:a="http://schemas.openxmlformats.org/drawingml/2006/main" noGrp="1"/>
          </p:cNvSpPr>
          <p:nvPr/>
        </p:nvSpPr>
        <p:spPr>
          <a:xfrm xmlns:a="http://schemas.openxmlformats.org/drawingml/2006/main">
            <a:off x="571500" y="514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a:solidFill>
                  <a:srgbClr val="2E75B6"/>
                </a:solidFill>
                <a:latin typeface="Arial"/>
                <a:ea typeface="Arial"/>
                <a:cs typeface="Arial"/>
              </a:defRPr>
            </a:pPr>
            <a:r>
              <a:rPr sz="1500" b="1">
                <a:solidFill>
                  <a:srgbClr val="2E75B6"/>
                </a:solidFill>
                <a:latin typeface="Arial"/>
                <a:ea typeface="Arial"/>
                <a:cs typeface="Arial"/>
              </a:rPr>
              <a:t>MASTER RAD</a:t>
            </a:r>
          </a:p>
        </p:txBody>
      </p:sp>
      <p:sp>
        <p:nvSpPr>
          <p:cNvPr id="4" name="">
            <a:extLst xmlns:a="http://schemas.openxmlformats.org/drawingml/2006/main">
              <a:ext uri="{FF2B5EF4-FFF2-40B4-BE49-F238E27FC236}">
                <a16:creationId xmlns:a16="http://schemas.microsoft.com/office/drawing/2014/main" id="{5ACB48A7-6317-42E3-BD2F-D5CBCC32ED9B}"/>
              </a:ext>
            </a:extLst>
          </p:cNvPr>
          <p:cNvSpPr>
            <a:spLocks xmlns:a="http://schemas.openxmlformats.org/drawingml/2006/main" noGrp="1"/>
          </p:cNvSpPr>
          <p:nvPr/>
        </p:nvSpPr>
        <p:spPr>
          <a:xfrm xmlns:a="http://schemas.openxmlformats.org/drawingml/2006/main">
            <a:off x="571500" y="1790700"/>
            <a:ext cx="8572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4800" b="1">
                <a:solidFill>
                  <a:srgbClr val="111827"/>
                </a:solidFill>
                <a:latin typeface="Arial"/>
                <a:ea typeface="Arial"/>
                <a:cs typeface="Arial"/>
              </a:defRPr>
            </a:pPr>
            <a:r>
              <a:rPr sz="4800" b="1">
                <a:solidFill>
                  <a:srgbClr val="111827"/>
                </a:solidFill>
                <a:latin typeface="Arial"/>
                <a:ea typeface="Arial"/>
                <a:cs typeface="Arial"/>
              </a:rPr>
              <a:t>Optimalna raspodela</a:t>
            </a:r>
          </a:p>
          <a:p xmlns:a="http://schemas.openxmlformats.org/drawingml/2006/main">
            <a:pPr algn="l">
              <a:buNone/>
              <a:defRPr sz="4800" b="1">
                <a:solidFill>
                  <a:srgbClr val="111827"/>
                </a:solidFill>
                <a:latin typeface="Arial"/>
                <a:ea typeface="Arial"/>
                <a:cs typeface="Arial"/>
              </a:defRPr>
            </a:pPr>
            <a:r>
              <a:rPr sz="4800" b="1">
                <a:solidFill>
                  <a:srgbClr val="111827"/>
                </a:solidFill>
                <a:latin typeface="Arial"/>
                <a:ea typeface="Arial"/>
                <a:cs typeface="Arial"/>
              </a:rPr>
              <a:t>poslova na računarima</a:t>
            </a:r>
          </a:p>
        </p:txBody>
      </p:sp>
      <p:sp>
        <p:nvSpPr>
          <p:cNvPr id="5" name="">
            <a:extLst xmlns:a="http://schemas.openxmlformats.org/drawingml/2006/main">
              <a:ext uri="{FF2B5EF4-FFF2-40B4-BE49-F238E27FC236}">
                <a16:creationId xmlns:a16="http://schemas.microsoft.com/office/drawing/2014/main" id="{0C606044-428A-4A6E-BA26-8DF441810597}"/>
              </a:ext>
            </a:extLst>
          </p:cNvPr>
          <p:cNvSpPr>
            <a:spLocks xmlns:a="http://schemas.openxmlformats.org/drawingml/2006/main" noGrp="1"/>
          </p:cNvSpPr>
          <p:nvPr/>
        </p:nvSpPr>
        <p:spPr>
          <a:xfrm xmlns:a="http://schemas.openxmlformats.org/drawingml/2006/main">
            <a:off x="571500" y="4572000"/>
            <a:ext cx="5143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123B63"/>
                </a:solidFill>
                <a:latin typeface="Arial"/>
                <a:ea typeface="Arial"/>
                <a:cs typeface="Arial"/>
              </a:defRPr>
            </a:pPr>
            <a:r>
              <a:rPr sz="1875" b="1">
                <a:solidFill>
                  <a:srgbClr val="123B63"/>
                </a:solidFill>
                <a:latin typeface="Arial"/>
                <a:ea typeface="Arial"/>
                <a:cs typeface="Arial"/>
              </a:rPr>
              <a:t>Mihailo Radojević 2023/3209</a:t>
            </a:r>
          </a:p>
        </p:txBody>
      </p:sp>
      <p:sp>
        <p:nvSpPr>
          <p:cNvPr id="6" name="">
            <a:extLst xmlns:a="http://schemas.openxmlformats.org/drawingml/2006/main">
              <a:ext uri="{FF2B5EF4-FFF2-40B4-BE49-F238E27FC236}">
                <a16:creationId xmlns:a16="http://schemas.microsoft.com/office/drawing/2014/main" id="{EAF5D1C4-28B9-4B52-BC97-AABB69C447F6}"/>
              </a:ext>
            </a:extLst>
          </p:cNvPr>
          <p:cNvSpPr>
            <a:spLocks xmlns:a="http://schemas.openxmlformats.org/drawingml/2006/main" noGrp="1"/>
          </p:cNvSpPr>
          <p:nvPr/>
        </p:nvSpPr>
        <p:spPr>
          <a:xfrm xmlns:a="http://schemas.openxmlformats.org/drawingml/2006/main">
            <a:off x="571500" y="5095875"/>
            <a:ext cx="838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0">
                <a:solidFill>
                  <a:srgbClr val="536273"/>
                </a:solidFill>
                <a:latin typeface="Arial"/>
                <a:ea typeface="Arial"/>
                <a:cs typeface="Arial"/>
              </a:defRPr>
            </a:pPr>
            <a:r>
              <a:rPr sz="1350" b="0">
                <a:solidFill>
                  <a:srgbClr val="536273"/>
                </a:solidFill>
                <a:latin typeface="Arial"/>
                <a:ea typeface="Arial"/>
                <a:cs typeface="Arial"/>
              </a:rPr>
              <a:t>Mentori: dr Dragan Olćan, redovni profesor · dr Jovana Petrović, docent</a:t>
            </a:r>
          </a:p>
        </p:txBody>
      </p:sp>
      <p:sp>
        <p:nvSpPr>
          <p:cNvPr id="7" name="">
            <a:extLst xmlns:a="http://schemas.openxmlformats.org/drawingml/2006/main">
              <a:ext uri="{FF2B5EF4-FFF2-40B4-BE49-F238E27FC236}">
                <a16:creationId xmlns:a16="http://schemas.microsoft.com/office/drawing/2014/main" id="{89F9EDDA-9CA1-4AB6-9D5B-9D0033C1512B}"/>
              </a:ext>
            </a:extLst>
          </p:cNvPr>
          <p:cNvSpPr>
            <a:spLocks xmlns:a="http://schemas.openxmlformats.org/drawingml/2006/main" noGrp="1"/>
          </p:cNvSpPr>
          <p:nvPr/>
        </p:nvSpPr>
        <p:spPr>
          <a:xfrm xmlns:a="http://schemas.openxmlformats.org/drawingml/2006/main">
            <a:off x="571500" y="601980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0">
                <a:solidFill>
                  <a:srgbClr val="536273"/>
                </a:solidFill>
                <a:latin typeface="Arial"/>
                <a:ea typeface="Arial"/>
                <a:cs typeface="Arial"/>
              </a:defRPr>
            </a:pPr>
            <a:r>
              <a:rPr sz="1125" b="0">
                <a:solidFill>
                  <a:srgbClr val="536273"/>
                </a:solidFill>
                <a:latin typeface="Arial"/>
                <a:ea typeface="Arial"/>
                <a:cs typeface="Arial"/>
              </a:rPr>
              <a:t>Univerzitet u Beogradu · Elektrotehnički fakultet · jul 2026.</a:t>
            </a:r>
          </a:p>
        </p:txBody>
      </p:sp>
      <p:sp>
        <p:nvSpPr>
          <p:cNvPr id="8" name="slide-1-number">
            <a:extLst xmlns:a="http://schemas.openxmlformats.org/drawingml/2006/main">
              <a:ext uri="{FF2B5EF4-FFF2-40B4-BE49-F238E27FC236}">
                <a16:creationId xmlns:a16="http://schemas.microsoft.com/office/drawing/2014/main" id="{B3211D7F-2E9C-43AA-86B7-DE1904FF465D}"/>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1/12</a:t>
            </a:r>
          </a:p>
        </p:txBody>
      </p:sp>
      <p:sp>
        <p:nvSpPr>
          <p:cNvPr id="9" name="slide-1-footer">
            <a:extLst xmlns:a="http://schemas.openxmlformats.org/drawingml/2006/main">
              <a:ext uri="{FF2B5EF4-FFF2-40B4-BE49-F238E27FC236}">
                <a16:creationId xmlns:a16="http://schemas.microsoft.com/office/drawing/2014/main" id="{0B6C7019-E24C-4520-B75F-5613E73CE780}"/>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Tree>
    <p:extLst>
      <p:ext uri="{BB962C8B-B14F-4D97-AF65-F5344CB8AC3E}">
        <p14:creationId xmlns:p14="http://schemas.microsoft.com/office/powerpoint/2010/main" val="93616961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slide-2-title">
            <a:extLst xmlns:a="http://schemas.openxmlformats.org/drawingml/2006/main">
              <a:ext uri="{FF2B5EF4-FFF2-40B4-BE49-F238E27FC236}">
                <a16:creationId xmlns:a16="http://schemas.microsoft.com/office/drawing/2014/main" id="{AE814951-09B5-4FA7-A90F-874D08C6DBD6}"/>
              </a:ext>
            </a:extLst>
          </p:cNvPr>
          <p:cNvSpPr>
            <a:spLocks xmlns:a="http://schemas.openxmlformats.org/drawingml/2006/main" noGrp="1"/>
          </p:cNvSpPr>
          <p:nvPr/>
        </p:nvSpPr>
        <p:spPr>
          <a:xfrm xmlns:a="http://schemas.openxmlformats.org/drawingml/2006/main">
            <a:off x="533400" y="32385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850" b="1">
                <a:solidFill>
                  <a:srgbClr val="111827"/>
                </a:solidFill>
                <a:latin typeface="Arial"/>
                <a:ea typeface="Arial"/>
                <a:cs typeface="Arial"/>
              </a:defRPr>
            </a:pPr>
            <a:r>
              <a:rPr sz="2850" b="1">
                <a:solidFill>
                  <a:srgbClr val="111827"/>
                </a:solidFill>
                <a:latin typeface="Arial"/>
                <a:ea typeface="Arial"/>
                <a:cs typeface="Arial"/>
              </a:rPr>
              <a:t>Problem i matematički model staju u jedan matrični zapis</a:t>
            </a:r>
          </a:p>
        </p:txBody>
      </p:sp>
      <p:cxnSp>
        <p:nvCxnSpPr>
          <p:cNvPr id="34" name="slide-2-header-rule"/>
          <p:cNvCxnSpPr/>
          <p:nvPr/>
        </p:nvCxnSpPr>
        <p:spPr>
          <a:xfrm xmlns:a="http://schemas.openxmlformats.org/drawingml/2006/main">
            <a:off x="533400" y="1143000"/>
            <a:ext cx="11125200" cy="0"/>
          </a:xfrm>
          <a:prstGeom xmlns:a="http://schemas.openxmlformats.org/drawingml/2006/main" prst="straightConnector1">
            <a:avLst/>
          </a:prstGeom>
          <a:ln xmlns:a="http://schemas.openxmlformats.org/drawingml/2006/main" w="9525">
            <a:solidFill>
              <a:srgbClr val="C7D0D9"/>
            </a:solidFill>
            <a:prstDash val="solid"/>
          </a:ln>
        </p:spPr>
      </p:cxnSp>
      <p:sp>
        <p:nvSpPr>
          <p:cNvPr id="3" name="slide-2-number">
            <a:extLst xmlns:a="http://schemas.openxmlformats.org/drawingml/2006/main">
              <a:ext uri="{FF2B5EF4-FFF2-40B4-BE49-F238E27FC236}">
                <a16:creationId xmlns:a16="http://schemas.microsoft.com/office/drawing/2014/main" id="{B2FEACBB-3D1A-4B2F-94E3-43F689DA7BD7}"/>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2/12</a:t>
            </a:r>
          </a:p>
        </p:txBody>
      </p:sp>
      <p:sp>
        <p:nvSpPr>
          <p:cNvPr id="4" name="slide-2-footer">
            <a:extLst xmlns:a="http://schemas.openxmlformats.org/drawingml/2006/main">
              <a:ext uri="{FF2B5EF4-FFF2-40B4-BE49-F238E27FC236}">
                <a16:creationId xmlns:a16="http://schemas.microsoft.com/office/drawing/2014/main" id="{8B6469AA-F9BF-4283-864E-A5145B218471}"/>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
        <p:nvSpPr>
          <p:cNvPr id="5" name="">
            <a:extLst xmlns:a="http://schemas.openxmlformats.org/drawingml/2006/main">
              <a:ext uri="{FF2B5EF4-FFF2-40B4-BE49-F238E27FC236}">
                <a16:creationId xmlns:a16="http://schemas.microsoft.com/office/drawing/2014/main" id="{125243D9-6C44-497C-8B71-D0F620452202}"/>
              </a:ext>
            </a:extLst>
          </p:cNvPr>
          <p:cNvSpPr>
            <a:spLocks xmlns:a="http://schemas.openxmlformats.org/drawingml/2006/main" noGrp="1"/>
          </p:cNvSpPr>
          <p:nvPr/>
        </p:nvSpPr>
        <p:spPr>
          <a:xfrm xmlns:a="http://schemas.openxmlformats.org/drawingml/2006/main">
            <a:off x="533400" y="1504950"/>
            <a:ext cx="4095750" cy="4457700"/>
          </a:xfrm>
          <a:prstGeom xmlns:a="http://schemas.openxmlformats.org/drawingml/2006/main" prst="rect">
            <a:avLst/>
          </a:prstGeom>
          <a:solidFill xmlns:a="http://schemas.openxmlformats.org/drawingml/2006/main">
            <a:srgbClr val="EAF3F9"/>
          </a:solidFill>
          <a:ln xmlns:a="http://schemas.openxmlformats.org/drawingml/2006/main" w="9525">
            <a:solidFill>
              <a:srgbClr val="EAF3F9"/>
            </a:solidFill>
            <a:prstDash val="solid"/>
          </a:ln>
        </p:spPr>
      </p:sp>
      <p:sp>
        <p:nvSpPr>
          <p:cNvPr id="6" name="">
            <a:extLst xmlns:a="http://schemas.openxmlformats.org/drawingml/2006/main">
              <a:ext uri="{FF2B5EF4-FFF2-40B4-BE49-F238E27FC236}">
                <a16:creationId xmlns:a16="http://schemas.microsoft.com/office/drawing/2014/main" id="{9555725D-F96B-4C8E-910A-BEAA383F21D8}"/>
              </a:ext>
            </a:extLst>
          </p:cNvPr>
          <p:cNvSpPr>
            <a:spLocks xmlns:a="http://schemas.openxmlformats.org/drawingml/2006/main" noGrp="1"/>
          </p:cNvSpPr>
          <p:nvPr/>
        </p:nvSpPr>
        <p:spPr>
          <a:xfrm xmlns:a="http://schemas.openxmlformats.org/drawingml/2006/main">
            <a:off x="800100" y="1809750"/>
            <a:ext cx="3562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123B63"/>
                </a:solidFill>
                <a:latin typeface="Arial"/>
                <a:ea typeface="Arial"/>
                <a:cs typeface="Arial"/>
              </a:defRPr>
            </a:pPr>
            <a:r>
              <a:rPr sz="1875" b="1">
                <a:solidFill>
                  <a:srgbClr val="123B63"/>
                </a:solidFill>
                <a:latin typeface="Arial"/>
                <a:ea typeface="Arial"/>
                <a:cs typeface="Arial"/>
              </a:rPr>
              <a:t>Oznake modela</a:t>
            </a:r>
          </a:p>
        </p:txBody>
      </p:sp>
      <p:sp>
        <p:nvSpPr>
          <p:cNvPr id="7" name="">
            <a:extLst xmlns:a="http://schemas.openxmlformats.org/drawingml/2006/main">
              <a:ext uri="{FF2B5EF4-FFF2-40B4-BE49-F238E27FC236}">
                <a16:creationId xmlns:a16="http://schemas.microsoft.com/office/drawing/2014/main" id="{730E8D09-DB65-4046-A5D5-0965342C726E}"/>
              </a:ext>
            </a:extLst>
          </p:cNvPr>
          <p:cNvSpPr>
            <a:spLocks xmlns:a="http://schemas.openxmlformats.org/drawingml/2006/main" noGrp="1"/>
          </p:cNvSpPr>
          <p:nvPr/>
        </p:nvSpPr>
        <p:spPr>
          <a:xfrm xmlns:a="http://schemas.openxmlformats.org/drawingml/2006/main">
            <a:off x="800100" y="2352675"/>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0">
                <a:solidFill>
                  <a:srgbClr val="536273"/>
                </a:solidFill>
                <a:latin typeface="Arial"/>
                <a:ea typeface="Arial"/>
                <a:cs typeface="Arial"/>
              </a:defRPr>
            </a:pPr>
            <a:r>
              <a:rPr sz="1500" b="0">
                <a:solidFill>
                  <a:srgbClr val="536273"/>
                </a:solidFill>
                <a:latin typeface="Arial"/>
                <a:ea typeface="Arial"/>
                <a:cs typeface="Arial"/>
              </a:rPr>
              <a:t>pᵢⱼ — zarada jedinice i na računaru j
tᵢⱼ — vreme jedinice i na računaru j
dᵢ — zahtev za servis i</a:t>
            </a:r>
          </a:p>
        </p:txBody>
      </p:sp>
      <p:sp>
        <p:nvSpPr>
          <p:cNvPr id="8" name="">
            <a:extLst xmlns:a="http://schemas.openxmlformats.org/drawingml/2006/main">
              <a:ext uri="{FF2B5EF4-FFF2-40B4-BE49-F238E27FC236}">
                <a16:creationId xmlns:a16="http://schemas.microsoft.com/office/drawing/2014/main" id="{7D12AAD5-2930-49F2-843B-63B054A27B13}"/>
              </a:ext>
            </a:extLst>
          </p:cNvPr>
          <p:cNvSpPr>
            <a:spLocks xmlns:a="http://schemas.openxmlformats.org/drawingml/2006/main" noGrp="1"/>
          </p:cNvSpPr>
          <p:nvPr/>
        </p:nvSpPr>
        <p:spPr>
          <a:xfrm xmlns:a="http://schemas.openxmlformats.org/drawingml/2006/main">
            <a:off x="800100" y="3429000"/>
            <a:ext cx="11239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450" b="1">
                <a:solidFill>
                  <a:srgbClr val="2E75B6"/>
                </a:solidFill>
                <a:latin typeface="Arial"/>
                <a:ea typeface="Arial"/>
                <a:cs typeface="Arial"/>
              </a:defRPr>
            </a:pPr>
            <a:r>
              <a:rPr sz="3450" b="1">
                <a:solidFill>
                  <a:srgbClr val="2E75B6"/>
                </a:solidFill>
                <a:latin typeface="Arial"/>
                <a:ea typeface="Arial"/>
                <a:cs typeface="Arial"/>
              </a:rPr>
              <a:t>xᵢⱼ</a:t>
            </a:r>
          </a:p>
        </p:txBody>
      </p:sp>
      <p:sp>
        <p:nvSpPr>
          <p:cNvPr id="9" name="">
            <a:extLst xmlns:a="http://schemas.openxmlformats.org/drawingml/2006/main">
              <a:ext uri="{FF2B5EF4-FFF2-40B4-BE49-F238E27FC236}">
                <a16:creationId xmlns:a16="http://schemas.microsoft.com/office/drawing/2014/main" id="{71268AC8-89B2-4C40-9B96-FE4576E4F30B}"/>
              </a:ext>
            </a:extLst>
          </p:cNvPr>
          <p:cNvSpPr>
            <a:spLocks xmlns:a="http://schemas.openxmlformats.org/drawingml/2006/main" noGrp="1"/>
          </p:cNvSpPr>
          <p:nvPr/>
        </p:nvSpPr>
        <p:spPr>
          <a:xfrm xmlns:a="http://schemas.openxmlformats.org/drawingml/2006/main">
            <a:off x="1924050" y="3486150"/>
            <a:ext cx="2305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0">
                <a:solidFill>
                  <a:srgbClr val="111827"/>
                </a:solidFill>
                <a:latin typeface="Arial"/>
                <a:ea typeface="Arial"/>
                <a:cs typeface="Arial"/>
              </a:defRPr>
            </a:pPr>
            <a:r>
              <a:rPr sz="1350" b="0">
                <a:solidFill>
                  <a:srgbClr val="111827"/>
                </a:solidFill>
                <a:latin typeface="Arial"/>
                <a:ea typeface="Arial"/>
                <a:cs typeface="Arial"/>
              </a:rPr>
              <a:t>broj jedinica servisa i</a:t>
            </a:r>
          </a:p>
          <a:p xmlns:a="http://schemas.openxmlformats.org/drawingml/2006/main">
            <a:pPr algn="l">
              <a:buNone/>
              <a:defRPr sz="1350" b="0">
                <a:solidFill>
                  <a:srgbClr val="111827"/>
                </a:solidFill>
                <a:latin typeface="Arial"/>
                <a:ea typeface="Arial"/>
                <a:cs typeface="Arial"/>
              </a:defRPr>
            </a:pPr>
            <a:r>
              <a:rPr sz="1350" b="0">
                <a:solidFill>
                  <a:srgbClr val="111827"/>
                </a:solidFill>
                <a:latin typeface="Arial"/>
                <a:ea typeface="Arial"/>
                <a:cs typeface="Arial"/>
              </a:rPr>
              <a:t>raspoređenih na računar j</a:t>
            </a:r>
          </a:p>
        </p:txBody>
      </p:sp>
      <p:sp>
        <p:nvSpPr>
          <p:cNvPr id="10" name="">
            <a:extLst xmlns:a="http://schemas.openxmlformats.org/drawingml/2006/main">
              <a:ext uri="{FF2B5EF4-FFF2-40B4-BE49-F238E27FC236}">
                <a16:creationId xmlns:a16="http://schemas.microsoft.com/office/drawing/2014/main" id="{4DF88A6C-30E5-4621-BA83-9FA3BDBD8717}"/>
              </a:ext>
            </a:extLst>
          </p:cNvPr>
          <p:cNvSpPr>
            <a:spLocks xmlns:a="http://schemas.openxmlformats.org/drawingml/2006/main" noGrp="1"/>
          </p:cNvSpPr>
          <p:nvPr/>
        </p:nvSpPr>
        <p:spPr>
          <a:xfrm xmlns:a="http://schemas.openxmlformats.org/drawingml/2006/main">
            <a:off x="800100" y="4572000"/>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2E7D5B"/>
                </a:solidFill>
                <a:latin typeface="Arial"/>
                <a:ea typeface="Arial"/>
                <a:cs typeface="Arial"/>
              </a:defRPr>
            </a:pPr>
            <a:r>
              <a:rPr sz="1350" b="1">
                <a:solidFill>
                  <a:srgbClr val="2E7D5B"/>
                </a:solidFill>
                <a:latin typeface="Arial"/>
                <a:ea typeface="Arial"/>
                <a:cs typeface="Arial"/>
              </a:rPr>
              <a:t>Cilj</a:t>
            </a:r>
          </a:p>
        </p:txBody>
      </p:sp>
      <p:sp>
        <p:nvSpPr>
          <p:cNvPr id="11" name="">
            <a:extLst xmlns:a="http://schemas.openxmlformats.org/drawingml/2006/main">
              <a:ext uri="{FF2B5EF4-FFF2-40B4-BE49-F238E27FC236}">
                <a16:creationId xmlns:a16="http://schemas.microsoft.com/office/drawing/2014/main" id="{BC263295-9DC2-40D2-8512-2A66DF8A10D8}"/>
              </a:ext>
            </a:extLst>
          </p:cNvPr>
          <p:cNvSpPr>
            <a:spLocks xmlns:a="http://schemas.openxmlformats.org/drawingml/2006/main" noGrp="1"/>
          </p:cNvSpPr>
          <p:nvPr/>
        </p:nvSpPr>
        <p:spPr>
          <a:xfrm xmlns:a="http://schemas.openxmlformats.org/drawingml/2006/main">
            <a:off x="800100" y="4972050"/>
            <a:ext cx="3562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a:solidFill>
                  <a:srgbClr val="111827"/>
                </a:solidFill>
                <a:latin typeface="Arial"/>
                <a:ea typeface="Arial"/>
                <a:cs typeface="Arial"/>
              </a:defRPr>
            </a:pPr>
            <a:r>
              <a:rPr sz="1500" b="1">
                <a:solidFill>
                  <a:srgbClr val="111827"/>
                </a:solidFill>
                <a:latin typeface="Arial"/>
                <a:ea typeface="Arial"/>
                <a:cs typeface="Arial"/>
              </a:rPr>
              <a:t>Najveća ukupna zarada uz potpuno poštovanje kapaciteta i zahteva.</a:t>
            </a:r>
          </a:p>
        </p:txBody>
      </p:sp>
      <p:sp>
        <p:nvSpPr>
          <p:cNvPr id="12" name="">
            <a:extLst xmlns:a="http://schemas.openxmlformats.org/drawingml/2006/main">
              <a:ext uri="{FF2B5EF4-FFF2-40B4-BE49-F238E27FC236}">
                <a16:creationId xmlns:a16="http://schemas.microsoft.com/office/drawing/2014/main" id="{F80F7DB9-AFBC-41EC-A592-E58DC1852DD3}"/>
              </a:ext>
            </a:extLst>
          </p:cNvPr>
          <p:cNvSpPr>
            <a:spLocks xmlns:a="http://schemas.openxmlformats.org/drawingml/2006/main" noGrp="1"/>
          </p:cNvSpPr>
          <p:nvPr/>
        </p:nvSpPr>
        <p:spPr>
          <a:xfrm xmlns:a="http://schemas.openxmlformats.org/drawingml/2006/main">
            <a:off x="4953000" y="1504950"/>
            <a:ext cx="6705600" cy="1428750"/>
          </a:xfrm>
          <a:prstGeom xmlns:a="http://schemas.openxmlformats.org/drawingml/2006/main" prst="rect">
            <a:avLst/>
          </a:prstGeom>
          <a:solidFill xmlns:a="http://schemas.openxmlformats.org/drawingml/2006/main">
            <a:srgbClr val="123B63"/>
          </a:solidFill>
          <a:ln xmlns:a="http://schemas.openxmlformats.org/drawingml/2006/main" w="9525">
            <a:solidFill>
              <a:srgbClr val="123B63"/>
            </a:solidFill>
            <a:prstDash val="solid"/>
          </a:ln>
        </p:spPr>
      </p:sp>
      <p:sp>
        <p:nvSpPr>
          <p:cNvPr id="13" name="">
            <a:extLst xmlns:a="http://schemas.openxmlformats.org/drawingml/2006/main">
              <a:ext uri="{FF2B5EF4-FFF2-40B4-BE49-F238E27FC236}">
                <a16:creationId xmlns:a16="http://schemas.microsoft.com/office/drawing/2014/main" id="{E02BA693-215D-44B5-A2B6-A0BFB8F205CD}"/>
              </a:ext>
            </a:extLst>
          </p:cNvPr>
          <p:cNvSpPr>
            <a:spLocks xmlns:a="http://schemas.openxmlformats.org/drawingml/2006/main" noGrp="1"/>
          </p:cNvSpPr>
          <p:nvPr/>
        </p:nvSpPr>
        <p:spPr>
          <a:xfrm xmlns:a="http://schemas.openxmlformats.org/drawingml/2006/main">
            <a:off x="5238750" y="1838325"/>
            <a:ext cx="61341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3150" b="1">
                <a:solidFill>
                  <a:srgbClr val="FFFFFF"/>
                </a:solidFill>
                <a:latin typeface="Arial"/>
                <a:ea typeface="Arial"/>
                <a:cs typeface="Arial"/>
              </a:defRPr>
            </a:pPr>
            <a:r>
              <a:rPr sz="3150" b="1">
                <a:solidFill>
                  <a:srgbClr val="FFFFFF"/>
                </a:solidFill>
                <a:latin typeface="Arial"/>
                <a:ea typeface="Arial"/>
                <a:cs typeface="Arial"/>
              </a:rPr>
              <a:t>max   Σᵢ Σⱼ  pᵢⱼ · xᵢⱼ</a:t>
            </a:r>
          </a:p>
        </p:txBody>
      </p:sp>
      <p:sp>
        <p:nvSpPr>
          <p:cNvPr id="14" name="">
            <a:extLst xmlns:a="http://schemas.openxmlformats.org/drawingml/2006/main">
              <a:ext uri="{FF2B5EF4-FFF2-40B4-BE49-F238E27FC236}">
                <a16:creationId xmlns:a16="http://schemas.microsoft.com/office/drawing/2014/main" id="{A85D1518-7C82-48A1-BC01-5B3B3228E5BE}"/>
              </a:ext>
            </a:extLst>
          </p:cNvPr>
          <p:cNvSpPr>
            <a:spLocks xmlns:a="http://schemas.openxmlformats.org/drawingml/2006/main" noGrp="1"/>
          </p:cNvSpPr>
          <p:nvPr/>
        </p:nvSpPr>
        <p:spPr>
          <a:xfrm xmlns:a="http://schemas.openxmlformats.org/drawingml/2006/main">
            <a:off x="4953000" y="3219450"/>
            <a:ext cx="3181350" cy="19812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5" name="">
            <a:extLst xmlns:a="http://schemas.openxmlformats.org/drawingml/2006/main">
              <a:ext uri="{FF2B5EF4-FFF2-40B4-BE49-F238E27FC236}">
                <a16:creationId xmlns:a16="http://schemas.microsoft.com/office/drawing/2014/main" id="{12679788-0AC0-457A-97C5-399DA03CCF4E}"/>
              </a:ext>
            </a:extLst>
          </p:cNvPr>
          <p:cNvSpPr>
            <a:spLocks xmlns:a="http://schemas.openxmlformats.org/drawingml/2006/main" noGrp="1"/>
          </p:cNvSpPr>
          <p:nvPr/>
        </p:nvSpPr>
        <p:spPr>
          <a:xfrm xmlns:a="http://schemas.openxmlformats.org/drawingml/2006/main">
            <a:off x="5181600" y="3476625"/>
            <a:ext cx="27241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a:solidFill>
                  <a:srgbClr val="123B63"/>
                </a:solidFill>
                <a:latin typeface="Arial"/>
                <a:ea typeface="Arial"/>
                <a:cs typeface="Arial"/>
              </a:defRPr>
            </a:pPr>
            <a:r>
              <a:rPr sz="1575" b="1">
                <a:solidFill>
                  <a:srgbClr val="123B63"/>
                </a:solidFill>
                <a:latin typeface="Arial"/>
                <a:ea typeface="Arial"/>
                <a:cs typeface="Arial"/>
              </a:rPr>
              <a:t>Kapacitet računara</a:t>
            </a:r>
          </a:p>
        </p:txBody>
      </p:sp>
      <p:sp>
        <p:nvSpPr>
          <p:cNvPr id="16" name="">
            <a:extLst xmlns:a="http://schemas.openxmlformats.org/drawingml/2006/main">
              <a:ext uri="{FF2B5EF4-FFF2-40B4-BE49-F238E27FC236}">
                <a16:creationId xmlns:a16="http://schemas.microsoft.com/office/drawing/2014/main" id="{98451E80-C04A-45ED-9EA5-ACA68FA0E609}"/>
              </a:ext>
            </a:extLst>
          </p:cNvPr>
          <p:cNvSpPr>
            <a:spLocks xmlns:a="http://schemas.openxmlformats.org/drawingml/2006/main" noGrp="1"/>
          </p:cNvSpPr>
          <p:nvPr/>
        </p:nvSpPr>
        <p:spPr>
          <a:xfrm xmlns:a="http://schemas.openxmlformats.org/drawingml/2006/main">
            <a:off x="5181600" y="4038600"/>
            <a:ext cx="2724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2250" b="1">
                <a:solidFill>
                  <a:srgbClr val="111827"/>
                </a:solidFill>
                <a:latin typeface="Arial"/>
                <a:ea typeface="Arial"/>
                <a:cs typeface="Arial"/>
              </a:defRPr>
            </a:pPr>
            <a:r>
              <a:rPr sz="2250" b="1">
                <a:solidFill>
                  <a:srgbClr val="111827"/>
                </a:solidFill>
                <a:latin typeface="Arial"/>
                <a:ea typeface="Arial"/>
                <a:cs typeface="Arial"/>
              </a:rPr>
              <a:t>Σᵢ tᵢⱼxᵢⱼ ≤ T</a:t>
            </a:r>
          </a:p>
        </p:txBody>
      </p:sp>
      <p:sp>
        <p:nvSpPr>
          <p:cNvPr id="17" name="">
            <a:extLst xmlns:a="http://schemas.openxmlformats.org/drawingml/2006/main">
              <a:ext uri="{FF2B5EF4-FFF2-40B4-BE49-F238E27FC236}">
                <a16:creationId xmlns:a16="http://schemas.microsoft.com/office/drawing/2014/main" id="{0B9E810C-595C-4DBB-A4E4-CA5F098E2DE9}"/>
              </a:ext>
            </a:extLst>
          </p:cNvPr>
          <p:cNvSpPr>
            <a:spLocks xmlns:a="http://schemas.openxmlformats.org/drawingml/2006/main" noGrp="1"/>
          </p:cNvSpPr>
          <p:nvPr/>
        </p:nvSpPr>
        <p:spPr>
          <a:xfrm xmlns:a="http://schemas.openxmlformats.org/drawingml/2006/main">
            <a:off x="5181600" y="4657725"/>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b="0">
                <a:solidFill>
                  <a:srgbClr val="536273"/>
                </a:solidFill>
                <a:latin typeface="Arial"/>
                <a:ea typeface="Arial"/>
                <a:cs typeface="Arial"/>
              </a:defRPr>
            </a:pPr>
            <a:r>
              <a:rPr sz="1200" b="0">
                <a:solidFill>
                  <a:srgbClr val="536273"/>
                </a:solidFill>
                <a:latin typeface="Arial"/>
                <a:ea typeface="Arial"/>
                <a:cs typeface="Arial"/>
              </a:rPr>
              <a:t>za svaki računar j</a:t>
            </a:r>
          </a:p>
        </p:txBody>
      </p:sp>
      <p:sp>
        <p:nvSpPr>
          <p:cNvPr id="18" name="">
            <a:extLst xmlns:a="http://schemas.openxmlformats.org/drawingml/2006/main">
              <a:ext uri="{FF2B5EF4-FFF2-40B4-BE49-F238E27FC236}">
                <a16:creationId xmlns:a16="http://schemas.microsoft.com/office/drawing/2014/main" id="{0E1E3EF0-1A26-434B-8B5A-19881B90D19E}"/>
              </a:ext>
            </a:extLst>
          </p:cNvPr>
          <p:cNvSpPr>
            <a:spLocks xmlns:a="http://schemas.openxmlformats.org/drawingml/2006/main" noGrp="1"/>
          </p:cNvSpPr>
          <p:nvPr/>
        </p:nvSpPr>
        <p:spPr>
          <a:xfrm xmlns:a="http://schemas.openxmlformats.org/drawingml/2006/main">
            <a:off x="8477250" y="3219450"/>
            <a:ext cx="3181350" cy="19812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9" name="">
            <a:extLst xmlns:a="http://schemas.openxmlformats.org/drawingml/2006/main">
              <a:ext uri="{FF2B5EF4-FFF2-40B4-BE49-F238E27FC236}">
                <a16:creationId xmlns:a16="http://schemas.microsoft.com/office/drawing/2014/main" id="{D5BFB574-B6E5-41E1-848A-C1A9971A079D}"/>
              </a:ext>
            </a:extLst>
          </p:cNvPr>
          <p:cNvSpPr>
            <a:spLocks xmlns:a="http://schemas.openxmlformats.org/drawingml/2006/main" noGrp="1"/>
          </p:cNvSpPr>
          <p:nvPr/>
        </p:nvSpPr>
        <p:spPr>
          <a:xfrm xmlns:a="http://schemas.openxmlformats.org/drawingml/2006/main">
            <a:off x="8705850" y="3476625"/>
            <a:ext cx="27241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a:solidFill>
                  <a:srgbClr val="123B63"/>
                </a:solidFill>
                <a:latin typeface="Arial"/>
                <a:ea typeface="Arial"/>
                <a:cs typeface="Arial"/>
              </a:defRPr>
            </a:pPr>
            <a:r>
              <a:rPr sz="1575" b="1">
                <a:solidFill>
                  <a:srgbClr val="123B63"/>
                </a:solidFill>
                <a:latin typeface="Arial"/>
                <a:ea typeface="Arial"/>
                <a:cs typeface="Arial"/>
              </a:rPr>
              <a:t>Zahtev servisa</a:t>
            </a:r>
          </a:p>
        </p:txBody>
      </p:sp>
      <p:sp>
        <p:nvSpPr>
          <p:cNvPr id="20" name="">
            <a:extLst xmlns:a="http://schemas.openxmlformats.org/drawingml/2006/main">
              <a:ext uri="{FF2B5EF4-FFF2-40B4-BE49-F238E27FC236}">
                <a16:creationId xmlns:a16="http://schemas.microsoft.com/office/drawing/2014/main" id="{BEED3057-4F02-4A46-B581-6EA9B974C140}"/>
              </a:ext>
            </a:extLst>
          </p:cNvPr>
          <p:cNvSpPr>
            <a:spLocks xmlns:a="http://schemas.openxmlformats.org/drawingml/2006/main" noGrp="1"/>
          </p:cNvSpPr>
          <p:nvPr/>
        </p:nvSpPr>
        <p:spPr>
          <a:xfrm xmlns:a="http://schemas.openxmlformats.org/drawingml/2006/main">
            <a:off x="8705850" y="4038600"/>
            <a:ext cx="2724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2250" b="1">
                <a:solidFill>
                  <a:srgbClr val="111827"/>
                </a:solidFill>
                <a:latin typeface="Arial"/>
                <a:ea typeface="Arial"/>
                <a:cs typeface="Arial"/>
              </a:defRPr>
            </a:pPr>
            <a:r>
              <a:rPr sz="2250" b="1">
                <a:solidFill>
                  <a:srgbClr val="111827"/>
                </a:solidFill>
                <a:latin typeface="Arial"/>
                <a:ea typeface="Arial"/>
                <a:cs typeface="Arial"/>
              </a:rPr>
              <a:t>Σⱼ xᵢⱼ ≤ dᵢ</a:t>
            </a:r>
          </a:p>
        </p:txBody>
      </p:sp>
      <p:sp>
        <p:nvSpPr>
          <p:cNvPr id="21" name="">
            <a:extLst xmlns:a="http://schemas.openxmlformats.org/drawingml/2006/main">
              <a:ext uri="{FF2B5EF4-FFF2-40B4-BE49-F238E27FC236}">
                <a16:creationId xmlns:a16="http://schemas.microsoft.com/office/drawing/2014/main" id="{20A1473F-1A6B-4646-8238-B11B5215A3E6}"/>
              </a:ext>
            </a:extLst>
          </p:cNvPr>
          <p:cNvSpPr>
            <a:spLocks xmlns:a="http://schemas.openxmlformats.org/drawingml/2006/main" noGrp="1"/>
          </p:cNvSpPr>
          <p:nvPr/>
        </p:nvSpPr>
        <p:spPr>
          <a:xfrm xmlns:a="http://schemas.openxmlformats.org/drawingml/2006/main">
            <a:off x="8705850" y="4657725"/>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b="0">
                <a:solidFill>
                  <a:srgbClr val="536273"/>
                </a:solidFill>
                <a:latin typeface="Arial"/>
                <a:ea typeface="Arial"/>
                <a:cs typeface="Arial"/>
              </a:defRPr>
            </a:pPr>
            <a:r>
              <a:rPr sz="1200" b="0">
                <a:solidFill>
                  <a:srgbClr val="536273"/>
                </a:solidFill>
                <a:latin typeface="Arial"/>
                <a:ea typeface="Arial"/>
                <a:cs typeface="Arial"/>
              </a:rPr>
              <a:t>za svaki servis i</a:t>
            </a:r>
          </a:p>
        </p:txBody>
      </p:sp>
      <p:sp>
        <p:nvSpPr>
          <p:cNvPr id="22" name="">
            <a:extLst xmlns:a="http://schemas.openxmlformats.org/drawingml/2006/main">
              <a:ext uri="{FF2B5EF4-FFF2-40B4-BE49-F238E27FC236}">
                <a16:creationId xmlns:a16="http://schemas.microsoft.com/office/drawing/2014/main" id="{BA80F070-1329-4FF1-A067-228AE833E69D}"/>
              </a:ext>
            </a:extLst>
          </p:cNvPr>
          <p:cNvSpPr>
            <a:spLocks xmlns:a="http://schemas.openxmlformats.org/drawingml/2006/main" noGrp="1"/>
          </p:cNvSpPr>
          <p:nvPr/>
        </p:nvSpPr>
        <p:spPr>
          <a:xfrm xmlns:a="http://schemas.openxmlformats.org/drawingml/2006/main">
            <a:off x="5619750" y="5524500"/>
            <a:ext cx="542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0">
                <a:solidFill>
                  <a:srgbClr val="536273"/>
                </a:solidFill>
                <a:latin typeface="Arial"/>
                <a:ea typeface="Arial"/>
                <a:cs typeface="Arial"/>
              </a:defRPr>
            </a:pPr>
            <a:r>
              <a:rPr sz="1350" b="0">
                <a:solidFill>
                  <a:srgbClr val="536273"/>
                </a:solidFill>
                <a:latin typeface="Arial"/>
                <a:ea typeface="Arial"/>
                <a:cs typeface="Arial"/>
              </a:rPr>
              <a:t>xᵢⱼ ∈ ℤ≥0  ·  m × n celobrojnih promenljivih</a:t>
            </a:r>
          </a:p>
        </p:txBody>
      </p:sp>
    </p:spTree>
    <p:extLst>
      <p:ext uri="{BB962C8B-B14F-4D97-AF65-F5344CB8AC3E}">
        <p14:creationId xmlns:p14="http://schemas.microsoft.com/office/powerpoint/2010/main" val="172263247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slide-3-title">
            <a:extLst xmlns:a="http://schemas.openxmlformats.org/drawingml/2006/main">
              <a:ext uri="{FF2B5EF4-FFF2-40B4-BE49-F238E27FC236}">
                <a16:creationId xmlns:a16="http://schemas.microsoft.com/office/drawing/2014/main" id="{BE88105C-1773-43E5-A1EF-7F8B2E6E40BC}"/>
              </a:ext>
            </a:extLst>
          </p:cNvPr>
          <p:cNvSpPr>
            <a:spLocks xmlns:a="http://schemas.openxmlformats.org/drawingml/2006/main" noGrp="1"/>
          </p:cNvSpPr>
          <p:nvPr/>
        </p:nvSpPr>
        <p:spPr>
          <a:xfrm xmlns:a="http://schemas.openxmlformats.org/drawingml/2006/main">
            <a:off x="533400" y="32385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850" b="1">
                <a:solidFill>
                  <a:srgbClr val="111827"/>
                </a:solidFill>
                <a:latin typeface="Arial"/>
                <a:ea typeface="Arial"/>
                <a:cs typeface="Arial"/>
              </a:defRPr>
            </a:pPr>
            <a:r>
              <a:rPr sz="2850" b="1">
                <a:solidFill>
                  <a:srgbClr val="111827"/>
                </a:solidFill>
                <a:latin typeface="Arial"/>
                <a:ea typeface="Arial"/>
                <a:cs typeface="Arial"/>
              </a:rPr>
              <a:t>Rad povezuje matematički model i evolutivnu pretragu</a:t>
            </a:r>
          </a:p>
        </p:txBody>
      </p:sp>
      <p:cxnSp>
        <p:nvCxnSpPr>
          <p:cNvPr id="197" name="slide-3-header-rule"/>
          <p:cNvCxnSpPr/>
          <p:nvPr/>
        </p:nvCxnSpPr>
        <p:spPr>
          <a:xfrm xmlns:a="http://schemas.openxmlformats.org/drawingml/2006/main">
            <a:off x="533400" y="1143000"/>
            <a:ext cx="11125200" cy="0"/>
          </a:xfrm>
          <a:prstGeom xmlns:a="http://schemas.openxmlformats.org/drawingml/2006/main" prst="straightConnector1">
            <a:avLst/>
          </a:prstGeom>
          <a:ln xmlns:a="http://schemas.openxmlformats.org/drawingml/2006/main" w="9525">
            <a:solidFill>
              <a:srgbClr val="C7D0D9"/>
            </a:solidFill>
            <a:prstDash val="solid"/>
          </a:ln>
        </p:spPr>
      </p:cxnSp>
      <p:sp>
        <p:nvSpPr>
          <p:cNvPr id="3" name="slide-3-number">
            <a:extLst xmlns:a="http://schemas.openxmlformats.org/drawingml/2006/main">
              <a:ext uri="{FF2B5EF4-FFF2-40B4-BE49-F238E27FC236}">
                <a16:creationId xmlns:a16="http://schemas.microsoft.com/office/drawing/2014/main" id="{E069B98D-7432-4334-82EB-A9338ADD86AC}"/>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3/12</a:t>
            </a:r>
          </a:p>
        </p:txBody>
      </p:sp>
      <p:sp>
        <p:nvSpPr>
          <p:cNvPr id="4" name="slide-3-footer">
            <a:extLst xmlns:a="http://schemas.openxmlformats.org/drawingml/2006/main">
              <a:ext uri="{FF2B5EF4-FFF2-40B4-BE49-F238E27FC236}">
                <a16:creationId xmlns:a16="http://schemas.microsoft.com/office/drawing/2014/main" id="{0EB88EF9-4B29-40E0-AE5A-127E7EEFCD0D}"/>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
        <p:nvSpPr>
          <p:cNvPr id="5" name="">
            <a:extLst xmlns:a="http://schemas.openxmlformats.org/drawingml/2006/main">
              <a:ext uri="{FF2B5EF4-FFF2-40B4-BE49-F238E27FC236}">
                <a16:creationId xmlns:a16="http://schemas.microsoft.com/office/drawing/2014/main" id="{4FAB0E06-4C56-4A30-B99D-86D28803EAE5}"/>
              </a:ext>
            </a:extLst>
          </p:cNvPr>
          <p:cNvSpPr>
            <a:spLocks xmlns:a="http://schemas.openxmlformats.org/drawingml/2006/main" noGrp="1"/>
          </p:cNvSpPr>
          <p:nvPr/>
        </p:nvSpPr>
        <p:spPr>
          <a:xfrm xmlns:a="http://schemas.openxmlformats.org/drawingml/2006/main">
            <a:off x="533400" y="14859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a:solidFill>
                  <a:srgbClr val="2E75B6"/>
                </a:solidFill>
                <a:latin typeface="Arial"/>
                <a:ea typeface="Arial"/>
                <a:cs typeface="Arial"/>
              </a:defRPr>
            </a:pPr>
            <a:r>
              <a:rPr sz="1575" b="1">
                <a:solidFill>
                  <a:srgbClr val="2E75B6"/>
                </a:solidFill>
                <a:latin typeface="Arial"/>
                <a:ea typeface="Arial"/>
                <a:cs typeface="Arial"/>
              </a:rPr>
              <a:t>Tri doprinosa</a:t>
            </a:r>
          </a:p>
        </p:txBody>
      </p:sp>
      <p:sp>
        <p:nvSpPr>
          <p:cNvPr id="6" name="">
            <a:extLst xmlns:a="http://schemas.openxmlformats.org/drawingml/2006/main">
              <a:ext uri="{FF2B5EF4-FFF2-40B4-BE49-F238E27FC236}">
                <a16:creationId xmlns:a16="http://schemas.microsoft.com/office/drawing/2014/main" id="{A22584A6-D3D4-4CE8-8F0B-5F0F7B1F1E63}"/>
              </a:ext>
            </a:extLst>
          </p:cNvPr>
          <p:cNvSpPr>
            <a:spLocks xmlns:a="http://schemas.openxmlformats.org/drawingml/2006/main" noGrp="1"/>
          </p:cNvSpPr>
          <p:nvPr/>
        </p:nvSpPr>
        <p:spPr>
          <a:xfrm xmlns:a="http://schemas.openxmlformats.org/drawingml/2006/main">
            <a:off x="533400" y="1952625"/>
            <a:ext cx="3257550" cy="11430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7" name="">
            <a:extLst xmlns:a="http://schemas.openxmlformats.org/drawingml/2006/main">
              <a:ext uri="{FF2B5EF4-FFF2-40B4-BE49-F238E27FC236}">
                <a16:creationId xmlns:a16="http://schemas.microsoft.com/office/drawing/2014/main" id="{E33A5EAA-2E52-4FAD-9C2A-3395EAEBBFDE}"/>
              </a:ext>
            </a:extLst>
          </p:cNvPr>
          <p:cNvSpPr>
            <a:spLocks xmlns:a="http://schemas.openxmlformats.org/drawingml/2006/main" noGrp="1"/>
          </p:cNvSpPr>
          <p:nvPr/>
        </p:nvSpPr>
        <p:spPr>
          <a:xfrm xmlns:a="http://schemas.openxmlformats.org/drawingml/2006/main">
            <a:off x="723900" y="2085975"/>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536273"/>
                </a:solidFill>
                <a:latin typeface="Arial"/>
                <a:ea typeface="Arial"/>
                <a:cs typeface="Arial"/>
              </a:defRPr>
            </a:pPr>
            <a:r>
              <a:rPr sz="1275" b="1">
                <a:solidFill>
                  <a:srgbClr val="536273"/>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CA823003-0356-43A5-8733-4D10F1F2B110}"/>
              </a:ext>
            </a:extLst>
          </p:cNvPr>
          <p:cNvSpPr>
            <a:spLocks xmlns:a="http://schemas.openxmlformats.org/drawingml/2006/main" noGrp="1"/>
          </p:cNvSpPr>
          <p:nvPr/>
        </p:nvSpPr>
        <p:spPr>
          <a:xfrm xmlns:a="http://schemas.openxmlformats.org/drawingml/2006/main">
            <a:off x="723900" y="2371725"/>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111827"/>
                </a:solidFill>
                <a:latin typeface="Arial"/>
                <a:ea typeface="Arial"/>
                <a:cs typeface="Arial"/>
              </a:defRPr>
            </a:pPr>
            <a:r>
              <a:rPr sz="1425" b="1">
                <a:solidFill>
                  <a:srgbClr val="111827"/>
                </a:solidFill>
                <a:latin typeface="Arial"/>
                <a:ea typeface="Arial"/>
                <a:cs typeface="Arial"/>
              </a:rPr>
              <a:t>ILP formulacija</a:t>
            </a:r>
          </a:p>
        </p:txBody>
      </p:sp>
      <p:sp>
        <p:nvSpPr>
          <p:cNvPr id="9" name="">
            <a:extLst xmlns:a="http://schemas.openxmlformats.org/drawingml/2006/main">
              <a:ext uri="{FF2B5EF4-FFF2-40B4-BE49-F238E27FC236}">
                <a16:creationId xmlns:a16="http://schemas.microsoft.com/office/drawing/2014/main" id="{D3351EBF-D7D5-4514-90EF-E2CC098ACD7A}"/>
              </a:ext>
            </a:extLst>
          </p:cNvPr>
          <p:cNvSpPr>
            <a:spLocks xmlns:a="http://schemas.openxmlformats.org/drawingml/2006/main" noGrp="1"/>
          </p:cNvSpPr>
          <p:nvPr/>
        </p:nvSpPr>
        <p:spPr>
          <a:xfrm xmlns:a="http://schemas.openxmlformats.org/drawingml/2006/main">
            <a:off x="723900" y="2676525"/>
            <a:ext cx="2876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0">
                <a:solidFill>
                  <a:srgbClr val="536273"/>
                </a:solidFill>
                <a:latin typeface="Arial"/>
                <a:ea typeface="Arial"/>
                <a:cs typeface="Arial"/>
              </a:defRPr>
            </a:pPr>
            <a:r>
              <a:rPr sz="1125" b="0">
                <a:solidFill>
                  <a:srgbClr val="536273"/>
                </a:solidFill>
                <a:latin typeface="Arial"/>
                <a:ea typeface="Arial"/>
                <a:cs typeface="Arial"/>
              </a:rPr>
              <a:t>Referentni model i rezultat HiGHS-a.</a:t>
            </a:r>
          </a:p>
        </p:txBody>
      </p:sp>
      <p:sp>
        <p:nvSpPr>
          <p:cNvPr id="10" name="">
            <a:extLst xmlns:a="http://schemas.openxmlformats.org/drawingml/2006/main">
              <a:ext uri="{FF2B5EF4-FFF2-40B4-BE49-F238E27FC236}">
                <a16:creationId xmlns:a16="http://schemas.microsoft.com/office/drawing/2014/main" id="{B18B31F9-DE16-409C-9FDD-6CE620EF2218}"/>
              </a:ext>
            </a:extLst>
          </p:cNvPr>
          <p:cNvSpPr>
            <a:spLocks xmlns:a="http://schemas.openxmlformats.org/drawingml/2006/main" noGrp="1"/>
          </p:cNvSpPr>
          <p:nvPr/>
        </p:nvSpPr>
        <p:spPr>
          <a:xfrm xmlns:a="http://schemas.openxmlformats.org/drawingml/2006/main">
            <a:off x="533400" y="3286125"/>
            <a:ext cx="3257550" cy="1143000"/>
          </a:xfrm>
          <a:prstGeom xmlns:a="http://schemas.openxmlformats.org/drawingml/2006/main" prst="rect">
            <a:avLst/>
          </a:prstGeom>
          <a:solidFill xmlns:a="http://schemas.openxmlformats.org/drawingml/2006/main">
            <a:srgbClr val="EAF3F9"/>
          </a:solidFill>
          <a:ln xmlns:a="http://schemas.openxmlformats.org/drawingml/2006/main" w="9525">
            <a:solidFill>
              <a:srgbClr val="2E75B6"/>
            </a:solidFill>
            <a:prstDash val="solid"/>
          </a:ln>
        </p:spPr>
      </p:sp>
      <p:sp>
        <p:nvSpPr>
          <p:cNvPr id="11" name="">
            <a:extLst xmlns:a="http://schemas.openxmlformats.org/drawingml/2006/main">
              <a:ext uri="{FF2B5EF4-FFF2-40B4-BE49-F238E27FC236}">
                <a16:creationId xmlns:a16="http://schemas.microsoft.com/office/drawing/2014/main" id="{D2BC97ED-4CE3-41A4-A08F-ECB2A4B1E831}"/>
              </a:ext>
            </a:extLst>
          </p:cNvPr>
          <p:cNvSpPr>
            <a:spLocks xmlns:a="http://schemas.openxmlformats.org/drawingml/2006/main" noGrp="1"/>
          </p:cNvSpPr>
          <p:nvPr/>
        </p:nvSpPr>
        <p:spPr>
          <a:xfrm xmlns:a="http://schemas.openxmlformats.org/drawingml/2006/main">
            <a:off x="723900" y="3419475"/>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2E75B6"/>
                </a:solidFill>
                <a:latin typeface="Arial"/>
                <a:ea typeface="Arial"/>
                <a:cs typeface="Arial"/>
              </a:defRPr>
            </a:pPr>
            <a:r>
              <a:rPr sz="1275" b="1">
                <a:solidFill>
                  <a:srgbClr val="2E75B6"/>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EF644CE6-5A1F-4B53-8314-904FAC5A9F12}"/>
              </a:ext>
            </a:extLst>
          </p:cNvPr>
          <p:cNvSpPr>
            <a:spLocks xmlns:a="http://schemas.openxmlformats.org/drawingml/2006/main" noGrp="1"/>
          </p:cNvSpPr>
          <p:nvPr/>
        </p:nvSpPr>
        <p:spPr>
          <a:xfrm xmlns:a="http://schemas.openxmlformats.org/drawingml/2006/main">
            <a:off x="723900" y="3705225"/>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111827"/>
                </a:solidFill>
                <a:latin typeface="Arial"/>
                <a:ea typeface="Arial"/>
                <a:cs typeface="Arial"/>
              </a:defRPr>
            </a:pPr>
            <a:r>
              <a:rPr sz="1425" b="1">
                <a:solidFill>
                  <a:srgbClr val="111827"/>
                </a:solidFill>
                <a:latin typeface="Arial"/>
                <a:ea typeface="Arial"/>
                <a:cs typeface="Arial"/>
              </a:rPr>
              <a:t>GA prilagođen problemu</a:t>
            </a:r>
          </a:p>
        </p:txBody>
      </p:sp>
      <p:sp>
        <p:nvSpPr>
          <p:cNvPr id="13" name="">
            <a:extLst xmlns:a="http://schemas.openxmlformats.org/drawingml/2006/main">
              <a:ext uri="{FF2B5EF4-FFF2-40B4-BE49-F238E27FC236}">
                <a16:creationId xmlns:a16="http://schemas.microsoft.com/office/drawing/2014/main" id="{43E3C9B1-5095-414B-AA6A-8B7C7A457DF7}"/>
              </a:ext>
            </a:extLst>
          </p:cNvPr>
          <p:cNvSpPr>
            <a:spLocks xmlns:a="http://schemas.openxmlformats.org/drawingml/2006/main" noGrp="1"/>
          </p:cNvSpPr>
          <p:nvPr/>
        </p:nvSpPr>
        <p:spPr>
          <a:xfrm xmlns:a="http://schemas.openxmlformats.org/drawingml/2006/main">
            <a:off x="723900" y="4010025"/>
            <a:ext cx="2876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0">
                <a:solidFill>
                  <a:srgbClr val="536273"/>
                </a:solidFill>
                <a:latin typeface="Arial"/>
                <a:ea typeface="Arial"/>
                <a:cs typeface="Arial"/>
              </a:defRPr>
            </a:pPr>
            <a:r>
              <a:rPr sz="1125" b="0">
                <a:solidFill>
                  <a:srgbClr val="536273"/>
                </a:solidFill>
                <a:latin typeface="Arial"/>
                <a:ea typeface="Arial"/>
                <a:cs typeface="Arial"/>
              </a:rPr>
              <a:t>Matrični hromozom + namenska popravka.</a:t>
            </a:r>
          </a:p>
        </p:txBody>
      </p:sp>
      <p:sp>
        <p:nvSpPr>
          <p:cNvPr id="14" name="">
            <a:extLst xmlns:a="http://schemas.openxmlformats.org/drawingml/2006/main">
              <a:ext uri="{FF2B5EF4-FFF2-40B4-BE49-F238E27FC236}">
                <a16:creationId xmlns:a16="http://schemas.microsoft.com/office/drawing/2014/main" id="{BD838B94-C29C-4C72-A829-33C688A14E9F}"/>
              </a:ext>
            </a:extLst>
          </p:cNvPr>
          <p:cNvSpPr>
            <a:spLocks xmlns:a="http://schemas.openxmlformats.org/drawingml/2006/main" noGrp="1"/>
          </p:cNvSpPr>
          <p:nvPr/>
        </p:nvSpPr>
        <p:spPr>
          <a:xfrm xmlns:a="http://schemas.openxmlformats.org/drawingml/2006/main">
            <a:off x="533400" y="4619625"/>
            <a:ext cx="3257550" cy="11430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5" name="">
            <a:extLst xmlns:a="http://schemas.openxmlformats.org/drawingml/2006/main">
              <a:ext uri="{FF2B5EF4-FFF2-40B4-BE49-F238E27FC236}">
                <a16:creationId xmlns:a16="http://schemas.microsoft.com/office/drawing/2014/main" id="{6339008A-A026-45F2-9081-DC324A253BFD}"/>
              </a:ext>
            </a:extLst>
          </p:cNvPr>
          <p:cNvSpPr>
            <a:spLocks xmlns:a="http://schemas.openxmlformats.org/drawingml/2006/main" noGrp="1"/>
          </p:cNvSpPr>
          <p:nvPr/>
        </p:nvSpPr>
        <p:spPr>
          <a:xfrm xmlns:a="http://schemas.openxmlformats.org/drawingml/2006/main">
            <a:off x="723900" y="4752975"/>
            <a:ext cx="457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536273"/>
                </a:solidFill>
                <a:latin typeface="Arial"/>
                <a:ea typeface="Arial"/>
                <a:cs typeface="Arial"/>
              </a:defRPr>
            </a:pPr>
            <a:r>
              <a:rPr sz="1275" b="1">
                <a:solidFill>
                  <a:srgbClr val="536273"/>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32F4D9E7-891A-4430-A4D3-BC8F1F4CF2E5}"/>
              </a:ext>
            </a:extLst>
          </p:cNvPr>
          <p:cNvSpPr>
            <a:spLocks xmlns:a="http://schemas.openxmlformats.org/drawingml/2006/main" noGrp="1"/>
          </p:cNvSpPr>
          <p:nvPr/>
        </p:nvSpPr>
        <p:spPr>
          <a:xfrm xmlns:a="http://schemas.openxmlformats.org/drawingml/2006/main">
            <a:off x="723900" y="5038725"/>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111827"/>
                </a:solidFill>
                <a:latin typeface="Arial"/>
                <a:ea typeface="Arial"/>
                <a:cs typeface="Arial"/>
              </a:defRPr>
            </a:pPr>
            <a:r>
              <a:rPr sz="1425" b="1">
                <a:solidFill>
                  <a:srgbClr val="111827"/>
                </a:solidFill>
                <a:latin typeface="Arial"/>
                <a:ea typeface="Arial"/>
                <a:cs typeface="Arial"/>
              </a:rPr>
              <a:t>Evaluacija</a:t>
            </a:r>
          </a:p>
        </p:txBody>
      </p:sp>
      <p:sp>
        <p:nvSpPr>
          <p:cNvPr id="17" name="">
            <a:extLst xmlns:a="http://schemas.openxmlformats.org/drawingml/2006/main">
              <a:ext uri="{FF2B5EF4-FFF2-40B4-BE49-F238E27FC236}">
                <a16:creationId xmlns:a16="http://schemas.microsoft.com/office/drawing/2014/main" id="{44BC9CB4-69CB-40D0-AF75-F6BCDBDA433F}"/>
              </a:ext>
            </a:extLst>
          </p:cNvPr>
          <p:cNvSpPr>
            <a:spLocks xmlns:a="http://schemas.openxmlformats.org/drawingml/2006/main" noGrp="1"/>
          </p:cNvSpPr>
          <p:nvPr/>
        </p:nvSpPr>
        <p:spPr>
          <a:xfrm xmlns:a="http://schemas.openxmlformats.org/drawingml/2006/main">
            <a:off x="723900" y="5343525"/>
            <a:ext cx="2876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0">
                <a:solidFill>
                  <a:srgbClr val="536273"/>
                </a:solidFill>
                <a:latin typeface="Arial"/>
                <a:ea typeface="Arial"/>
                <a:cs typeface="Arial"/>
              </a:defRPr>
            </a:pPr>
            <a:r>
              <a:rPr sz="1125" b="0">
                <a:solidFill>
                  <a:srgbClr val="536273"/>
                </a:solidFill>
                <a:latin typeface="Arial"/>
                <a:ea typeface="Arial"/>
                <a:cs typeface="Arial"/>
              </a:rPr>
              <a:t>Tri veličine, kvalitet, vreme i stabilnost.</a:t>
            </a:r>
          </a:p>
        </p:txBody>
      </p:sp>
      <p:sp>
        <p:nvSpPr>
          <p:cNvPr id="18" name="">
            <a:extLst xmlns:a="http://schemas.openxmlformats.org/drawingml/2006/main">
              <a:ext uri="{FF2B5EF4-FFF2-40B4-BE49-F238E27FC236}">
                <a16:creationId xmlns:a16="http://schemas.microsoft.com/office/drawing/2014/main" id="{4253235B-71C6-4FF6-909A-8AE514D96403}"/>
              </a:ext>
            </a:extLst>
          </p:cNvPr>
          <p:cNvSpPr>
            <a:spLocks xmlns:a="http://schemas.openxmlformats.org/drawingml/2006/main" noGrp="1"/>
          </p:cNvSpPr>
          <p:nvPr/>
        </p:nvSpPr>
        <p:spPr>
          <a:xfrm xmlns:a="http://schemas.openxmlformats.org/drawingml/2006/main">
            <a:off x="4286250" y="14859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a:solidFill>
                  <a:srgbClr val="2E75B6"/>
                </a:solidFill>
                <a:latin typeface="Arial"/>
                <a:ea typeface="Arial"/>
                <a:cs typeface="Arial"/>
              </a:defRPr>
            </a:pPr>
            <a:r>
              <a:rPr sz="1575" b="1">
                <a:solidFill>
                  <a:srgbClr val="2E75B6"/>
                </a:solidFill>
                <a:latin typeface="Arial"/>
                <a:ea typeface="Arial"/>
                <a:cs typeface="Arial"/>
              </a:rPr>
              <a:t>Evolutivna petlja</a:t>
            </a:r>
          </a:p>
        </p:txBody>
      </p:sp>
      <p:cxnSp>
        <p:nvCxnSpPr>
          <p:cNvPr id="214" name=""/>
          <p:cNvCxnSpPr/>
          <p:nvPr/>
        </p:nvCxnSpPr>
        <p:spPr>
          <a:xfrm xmlns:a="http://schemas.openxmlformats.org/drawingml/2006/main">
            <a:off x="5486400" y="3238500"/>
            <a:ext cx="304800" cy="0"/>
          </a:xfrm>
          <a:prstGeom xmlns:a="http://schemas.openxmlformats.org/drawingml/2006/main" prst="straightConnector1">
            <a:avLst/>
          </a:prstGeom>
          <a:ln xmlns:a="http://schemas.openxmlformats.org/drawingml/2006/main" w="19050">
            <a:solidFill>
              <a:srgbClr val="2E75B6"/>
            </a:solidFill>
            <a:prstDash val="solid"/>
          </a:ln>
        </p:spPr>
      </p:cxnSp>
      <p:sp>
        <p:nvSpPr>
          <p:cNvPr id="20" name="">
            <a:extLst xmlns:a="http://schemas.openxmlformats.org/drawingml/2006/main">
              <a:ext uri="{FF2B5EF4-FFF2-40B4-BE49-F238E27FC236}">
                <a16:creationId xmlns:a16="http://schemas.microsoft.com/office/drawing/2014/main" id="{5C0D6657-0295-427A-95D6-F2F927D2225C}"/>
              </a:ext>
            </a:extLst>
          </p:cNvPr>
          <p:cNvSpPr>
            <a:spLocks xmlns:a="http://schemas.openxmlformats.org/drawingml/2006/main" noGrp="1"/>
          </p:cNvSpPr>
          <p:nvPr/>
        </p:nvSpPr>
        <p:spPr>
          <a:xfrm xmlns:a="http://schemas.openxmlformats.org/drawingml/2006/main">
            <a:off x="4286250" y="2524125"/>
            <a:ext cx="1200150" cy="14287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21" name="">
            <a:extLst xmlns:a="http://schemas.openxmlformats.org/drawingml/2006/main">
              <a:ext uri="{FF2B5EF4-FFF2-40B4-BE49-F238E27FC236}">
                <a16:creationId xmlns:a16="http://schemas.microsoft.com/office/drawing/2014/main" id="{0969AE37-319E-4389-BE10-84B1174B380A}"/>
              </a:ext>
            </a:extLst>
          </p:cNvPr>
          <p:cNvSpPr>
            <a:spLocks xmlns:a="http://schemas.openxmlformats.org/drawingml/2006/main" noGrp="1"/>
          </p:cNvSpPr>
          <p:nvPr/>
        </p:nvSpPr>
        <p:spPr>
          <a:xfrm xmlns:a="http://schemas.openxmlformats.org/drawingml/2006/main">
            <a:off x="4400550" y="2667000"/>
            <a:ext cx="266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2E75B6"/>
                </a:solidFill>
                <a:latin typeface="Arial"/>
                <a:ea typeface="Arial"/>
                <a:cs typeface="Arial"/>
              </a:defRPr>
            </a:pPr>
            <a:r>
              <a:rPr sz="1050" b="1">
                <a:solidFill>
                  <a:srgbClr val="2E75B6"/>
                </a:solidFill>
                <a:latin typeface="Arial"/>
                <a:ea typeface="Arial"/>
                <a:cs typeface="Arial"/>
              </a:rPr>
              <a:t>1</a:t>
            </a:r>
          </a:p>
        </p:txBody>
      </p:sp>
      <p:sp>
        <p:nvSpPr>
          <p:cNvPr id="22" name="">
            <a:extLst xmlns:a="http://schemas.openxmlformats.org/drawingml/2006/main">
              <a:ext uri="{FF2B5EF4-FFF2-40B4-BE49-F238E27FC236}">
                <a16:creationId xmlns:a16="http://schemas.microsoft.com/office/drawing/2014/main" id="{A69DA36F-BCA0-487A-94B2-23D7AAEDF7B2}"/>
              </a:ext>
            </a:extLst>
          </p:cNvPr>
          <p:cNvSpPr>
            <a:spLocks xmlns:a="http://schemas.openxmlformats.org/drawingml/2006/main" noGrp="1"/>
          </p:cNvSpPr>
          <p:nvPr/>
        </p:nvSpPr>
        <p:spPr>
          <a:xfrm xmlns:a="http://schemas.openxmlformats.org/drawingml/2006/main">
            <a:off x="4362450" y="3095625"/>
            <a:ext cx="1047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b="1">
                <a:solidFill>
                  <a:srgbClr val="111827"/>
                </a:solidFill>
                <a:latin typeface="Arial"/>
                <a:ea typeface="Arial"/>
                <a:cs typeface="Arial"/>
              </a:defRPr>
            </a:pPr>
            <a:r>
              <a:rPr sz="1200" b="1">
                <a:solidFill>
                  <a:srgbClr val="111827"/>
                </a:solidFill>
                <a:latin typeface="Arial"/>
                <a:ea typeface="Arial"/>
                <a:cs typeface="Arial"/>
              </a:rPr>
              <a:t>Inicijalizacija</a:t>
            </a:r>
          </a:p>
        </p:txBody>
      </p:sp>
      <p:cxnSp>
        <p:nvCxnSpPr>
          <p:cNvPr id="218" name=""/>
          <p:cNvCxnSpPr/>
          <p:nvPr/>
        </p:nvCxnSpPr>
        <p:spPr>
          <a:xfrm xmlns:a="http://schemas.openxmlformats.org/drawingml/2006/main">
            <a:off x="6991350" y="3238500"/>
            <a:ext cx="304800" cy="0"/>
          </a:xfrm>
          <a:prstGeom xmlns:a="http://schemas.openxmlformats.org/drawingml/2006/main" prst="straightConnector1">
            <a:avLst/>
          </a:prstGeom>
          <a:ln xmlns:a="http://schemas.openxmlformats.org/drawingml/2006/main" w="19050">
            <a:solidFill>
              <a:srgbClr val="2E75B6"/>
            </a:solidFill>
            <a:prstDash val="solid"/>
          </a:ln>
        </p:spPr>
      </p:cxnSp>
      <p:sp>
        <p:nvSpPr>
          <p:cNvPr id="24" name="">
            <a:extLst xmlns:a="http://schemas.openxmlformats.org/drawingml/2006/main">
              <a:ext uri="{FF2B5EF4-FFF2-40B4-BE49-F238E27FC236}">
                <a16:creationId xmlns:a16="http://schemas.microsoft.com/office/drawing/2014/main" id="{50EF9013-417D-46FF-942B-F8884E5DF97D}"/>
              </a:ext>
            </a:extLst>
          </p:cNvPr>
          <p:cNvSpPr>
            <a:spLocks xmlns:a="http://schemas.openxmlformats.org/drawingml/2006/main" noGrp="1"/>
          </p:cNvSpPr>
          <p:nvPr/>
        </p:nvSpPr>
        <p:spPr>
          <a:xfrm xmlns:a="http://schemas.openxmlformats.org/drawingml/2006/main">
            <a:off x="5791200" y="2524125"/>
            <a:ext cx="1200150" cy="14287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25" name="">
            <a:extLst xmlns:a="http://schemas.openxmlformats.org/drawingml/2006/main">
              <a:ext uri="{FF2B5EF4-FFF2-40B4-BE49-F238E27FC236}">
                <a16:creationId xmlns:a16="http://schemas.microsoft.com/office/drawing/2014/main" id="{89FA1395-AD96-45A3-B05E-9B2D133C90AB}"/>
              </a:ext>
            </a:extLst>
          </p:cNvPr>
          <p:cNvSpPr>
            <a:spLocks xmlns:a="http://schemas.openxmlformats.org/drawingml/2006/main" noGrp="1"/>
          </p:cNvSpPr>
          <p:nvPr/>
        </p:nvSpPr>
        <p:spPr>
          <a:xfrm xmlns:a="http://schemas.openxmlformats.org/drawingml/2006/main">
            <a:off x="5905500" y="2667000"/>
            <a:ext cx="266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2E75B6"/>
                </a:solidFill>
                <a:latin typeface="Arial"/>
                <a:ea typeface="Arial"/>
                <a:cs typeface="Arial"/>
              </a:defRPr>
            </a:pPr>
            <a:r>
              <a:rPr sz="1050" b="1">
                <a:solidFill>
                  <a:srgbClr val="2E75B6"/>
                </a:solidFill>
                <a:latin typeface="Arial"/>
                <a:ea typeface="Arial"/>
                <a:cs typeface="Arial"/>
              </a:rPr>
              <a:t>2</a:t>
            </a:r>
          </a:p>
        </p:txBody>
      </p:sp>
      <p:sp>
        <p:nvSpPr>
          <p:cNvPr id="26" name="">
            <a:extLst xmlns:a="http://schemas.openxmlformats.org/drawingml/2006/main">
              <a:ext uri="{FF2B5EF4-FFF2-40B4-BE49-F238E27FC236}">
                <a16:creationId xmlns:a16="http://schemas.microsoft.com/office/drawing/2014/main" id="{5AB1BEA8-A744-4B28-A477-6CA8DBE4DC96}"/>
              </a:ext>
            </a:extLst>
          </p:cNvPr>
          <p:cNvSpPr>
            <a:spLocks xmlns:a="http://schemas.openxmlformats.org/drawingml/2006/main" noGrp="1"/>
          </p:cNvSpPr>
          <p:nvPr/>
        </p:nvSpPr>
        <p:spPr>
          <a:xfrm xmlns:a="http://schemas.openxmlformats.org/drawingml/2006/main">
            <a:off x="5867400" y="3095625"/>
            <a:ext cx="1047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b="1">
                <a:solidFill>
                  <a:srgbClr val="111827"/>
                </a:solidFill>
                <a:latin typeface="Arial"/>
                <a:ea typeface="Arial"/>
                <a:cs typeface="Arial"/>
              </a:defRPr>
            </a:pPr>
            <a:r>
              <a:rPr sz="1200" b="1">
                <a:solidFill>
                  <a:srgbClr val="111827"/>
                </a:solidFill>
                <a:latin typeface="Arial"/>
                <a:ea typeface="Arial"/>
                <a:cs typeface="Arial"/>
              </a:rPr>
              <a:t>Selekcija</a:t>
            </a:r>
          </a:p>
          <a:p xmlns:a="http://schemas.openxmlformats.org/drawingml/2006/main">
            <a:pPr algn="ctr">
              <a:buNone/>
              <a:defRPr sz="1200" b="1">
                <a:solidFill>
                  <a:srgbClr val="111827"/>
                </a:solidFill>
                <a:latin typeface="Arial"/>
                <a:ea typeface="Arial"/>
                <a:cs typeface="Arial"/>
              </a:defRPr>
            </a:pPr>
            <a:r>
              <a:rPr sz="1200" b="1">
                <a:solidFill>
                  <a:srgbClr val="111827"/>
                </a:solidFill>
                <a:latin typeface="Arial"/>
                <a:ea typeface="Arial"/>
                <a:cs typeface="Arial"/>
              </a:rPr>
              <a:t>i elitizam</a:t>
            </a:r>
          </a:p>
        </p:txBody>
      </p:sp>
      <p:cxnSp>
        <p:nvCxnSpPr>
          <p:cNvPr id="222" name=""/>
          <p:cNvCxnSpPr/>
          <p:nvPr/>
        </p:nvCxnSpPr>
        <p:spPr>
          <a:xfrm xmlns:a="http://schemas.openxmlformats.org/drawingml/2006/main">
            <a:off x="8496300" y="3238500"/>
            <a:ext cx="304800" cy="0"/>
          </a:xfrm>
          <a:prstGeom xmlns:a="http://schemas.openxmlformats.org/drawingml/2006/main" prst="straightConnector1">
            <a:avLst/>
          </a:prstGeom>
          <a:ln xmlns:a="http://schemas.openxmlformats.org/drawingml/2006/main" w="19050">
            <a:solidFill>
              <a:srgbClr val="2E75B6"/>
            </a:solidFill>
            <a:prstDash val="solid"/>
          </a:ln>
        </p:spPr>
      </p:cxnSp>
      <p:sp>
        <p:nvSpPr>
          <p:cNvPr id="28" name="">
            <a:extLst xmlns:a="http://schemas.openxmlformats.org/drawingml/2006/main">
              <a:ext uri="{FF2B5EF4-FFF2-40B4-BE49-F238E27FC236}">
                <a16:creationId xmlns:a16="http://schemas.microsoft.com/office/drawing/2014/main" id="{9814CC20-F8ED-49BF-B1C9-E8ABCFFB69D3}"/>
              </a:ext>
            </a:extLst>
          </p:cNvPr>
          <p:cNvSpPr>
            <a:spLocks xmlns:a="http://schemas.openxmlformats.org/drawingml/2006/main" noGrp="1"/>
          </p:cNvSpPr>
          <p:nvPr/>
        </p:nvSpPr>
        <p:spPr>
          <a:xfrm xmlns:a="http://schemas.openxmlformats.org/drawingml/2006/main">
            <a:off x="7296150" y="2524125"/>
            <a:ext cx="1200150" cy="14287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29" name="">
            <a:extLst xmlns:a="http://schemas.openxmlformats.org/drawingml/2006/main">
              <a:ext uri="{FF2B5EF4-FFF2-40B4-BE49-F238E27FC236}">
                <a16:creationId xmlns:a16="http://schemas.microsoft.com/office/drawing/2014/main" id="{F019F72E-B187-45D4-82CA-F9810F33114D}"/>
              </a:ext>
            </a:extLst>
          </p:cNvPr>
          <p:cNvSpPr>
            <a:spLocks xmlns:a="http://schemas.openxmlformats.org/drawingml/2006/main" noGrp="1"/>
          </p:cNvSpPr>
          <p:nvPr/>
        </p:nvSpPr>
        <p:spPr>
          <a:xfrm xmlns:a="http://schemas.openxmlformats.org/drawingml/2006/main">
            <a:off x="7410450" y="2667000"/>
            <a:ext cx="266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2E75B6"/>
                </a:solidFill>
                <a:latin typeface="Arial"/>
                <a:ea typeface="Arial"/>
                <a:cs typeface="Arial"/>
              </a:defRPr>
            </a:pPr>
            <a:r>
              <a:rPr sz="1050" b="1">
                <a:solidFill>
                  <a:srgbClr val="2E75B6"/>
                </a:solidFill>
                <a:latin typeface="Arial"/>
                <a:ea typeface="Arial"/>
                <a:cs typeface="Arial"/>
              </a:rPr>
              <a:t>3</a:t>
            </a:r>
          </a:p>
        </p:txBody>
      </p:sp>
      <p:sp>
        <p:nvSpPr>
          <p:cNvPr id="30" name="">
            <a:extLst xmlns:a="http://schemas.openxmlformats.org/drawingml/2006/main">
              <a:ext uri="{FF2B5EF4-FFF2-40B4-BE49-F238E27FC236}">
                <a16:creationId xmlns:a16="http://schemas.microsoft.com/office/drawing/2014/main" id="{EA1F4929-08FB-4C28-B8C3-7B65EF2B3AC9}"/>
              </a:ext>
            </a:extLst>
          </p:cNvPr>
          <p:cNvSpPr>
            <a:spLocks xmlns:a="http://schemas.openxmlformats.org/drawingml/2006/main" noGrp="1"/>
          </p:cNvSpPr>
          <p:nvPr/>
        </p:nvSpPr>
        <p:spPr>
          <a:xfrm xmlns:a="http://schemas.openxmlformats.org/drawingml/2006/main">
            <a:off x="7372350" y="3095625"/>
            <a:ext cx="1047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b="1">
                <a:solidFill>
                  <a:srgbClr val="111827"/>
                </a:solidFill>
                <a:latin typeface="Arial"/>
                <a:ea typeface="Arial"/>
                <a:cs typeface="Arial"/>
              </a:defRPr>
            </a:pPr>
            <a:r>
              <a:rPr sz="1200" b="1">
                <a:solidFill>
                  <a:srgbClr val="111827"/>
                </a:solidFill>
                <a:latin typeface="Arial"/>
                <a:ea typeface="Arial"/>
                <a:cs typeface="Arial"/>
              </a:rPr>
              <a:t>Ukrštanje</a:t>
            </a:r>
          </a:p>
          <a:p xmlns:a="http://schemas.openxmlformats.org/drawingml/2006/main">
            <a:pPr algn="ctr">
              <a:buNone/>
              <a:defRPr sz="1200" b="1">
                <a:solidFill>
                  <a:srgbClr val="111827"/>
                </a:solidFill>
                <a:latin typeface="Arial"/>
                <a:ea typeface="Arial"/>
                <a:cs typeface="Arial"/>
              </a:defRPr>
            </a:pPr>
            <a:r>
              <a:rPr sz="1200" b="1">
                <a:solidFill>
                  <a:srgbClr val="111827"/>
                </a:solidFill>
                <a:latin typeface="Arial"/>
                <a:ea typeface="Arial"/>
                <a:cs typeface="Arial"/>
              </a:rPr>
              <a:t>i mutacija</a:t>
            </a:r>
          </a:p>
        </p:txBody>
      </p:sp>
      <p:cxnSp>
        <p:nvCxnSpPr>
          <p:cNvPr id="226" name=""/>
          <p:cNvCxnSpPr/>
          <p:nvPr/>
        </p:nvCxnSpPr>
        <p:spPr>
          <a:xfrm xmlns:a="http://schemas.openxmlformats.org/drawingml/2006/main">
            <a:off x="10001250" y="3238500"/>
            <a:ext cx="304800" cy="0"/>
          </a:xfrm>
          <a:prstGeom xmlns:a="http://schemas.openxmlformats.org/drawingml/2006/main" prst="straightConnector1">
            <a:avLst/>
          </a:prstGeom>
          <a:ln xmlns:a="http://schemas.openxmlformats.org/drawingml/2006/main" w="19050">
            <a:solidFill>
              <a:srgbClr val="2E75B6"/>
            </a:solidFill>
            <a:prstDash val="solid"/>
          </a:ln>
        </p:spPr>
      </p:cxnSp>
      <p:sp>
        <p:nvSpPr>
          <p:cNvPr id="32" name="">
            <a:extLst xmlns:a="http://schemas.openxmlformats.org/drawingml/2006/main">
              <a:ext uri="{FF2B5EF4-FFF2-40B4-BE49-F238E27FC236}">
                <a16:creationId xmlns:a16="http://schemas.microsoft.com/office/drawing/2014/main" id="{F4303F7E-F547-4D6C-93A3-66C0A887A955}"/>
              </a:ext>
            </a:extLst>
          </p:cNvPr>
          <p:cNvSpPr>
            <a:spLocks xmlns:a="http://schemas.openxmlformats.org/drawingml/2006/main" noGrp="1"/>
          </p:cNvSpPr>
          <p:nvPr/>
        </p:nvSpPr>
        <p:spPr>
          <a:xfrm xmlns:a="http://schemas.openxmlformats.org/drawingml/2006/main">
            <a:off x="8801100" y="2524125"/>
            <a:ext cx="1200150" cy="1428750"/>
          </a:xfrm>
          <a:prstGeom xmlns:a="http://schemas.openxmlformats.org/drawingml/2006/main" prst="rect">
            <a:avLst/>
          </a:prstGeom>
          <a:solidFill xmlns:a="http://schemas.openxmlformats.org/drawingml/2006/main">
            <a:srgbClr val="123B63"/>
          </a:solidFill>
          <a:ln xmlns:a="http://schemas.openxmlformats.org/drawingml/2006/main" w="9525">
            <a:solidFill>
              <a:srgbClr val="123B63"/>
            </a:solidFill>
            <a:prstDash val="solid"/>
          </a:ln>
        </p:spPr>
      </p:sp>
      <p:sp>
        <p:nvSpPr>
          <p:cNvPr id="33" name="">
            <a:extLst xmlns:a="http://schemas.openxmlformats.org/drawingml/2006/main">
              <a:ext uri="{FF2B5EF4-FFF2-40B4-BE49-F238E27FC236}">
                <a16:creationId xmlns:a16="http://schemas.microsoft.com/office/drawing/2014/main" id="{DCA82C5A-F4FA-44F7-96A0-1BF46EC27F35}"/>
              </a:ext>
            </a:extLst>
          </p:cNvPr>
          <p:cNvSpPr>
            <a:spLocks xmlns:a="http://schemas.openxmlformats.org/drawingml/2006/main" noGrp="1"/>
          </p:cNvSpPr>
          <p:nvPr/>
        </p:nvSpPr>
        <p:spPr>
          <a:xfrm xmlns:a="http://schemas.openxmlformats.org/drawingml/2006/main">
            <a:off x="8915400" y="2667000"/>
            <a:ext cx="266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73B9E6"/>
                </a:solidFill>
                <a:latin typeface="Arial"/>
                <a:ea typeface="Arial"/>
                <a:cs typeface="Arial"/>
              </a:defRPr>
            </a:pPr>
            <a:r>
              <a:rPr sz="1050" b="1">
                <a:solidFill>
                  <a:srgbClr val="73B9E6"/>
                </a:solidFill>
                <a:latin typeface="Arial"/>
                <a:ea typeface="Arial"/>
                <a:cs typeface="Arial"/>
              </a:rPr>
              <a:t>4</a:t>
            </a:r>
          </a:p>
        </p:txBody>
      </p:sp>
      <p:sp>
        <p:nvSpPr>
          <p:cNvPr id="34" name="">
            <a:extLst xmlns:a="http://schemas.openxmlformats.org/drawingml/2006/main">
              <a:ext uri="{FF2B5EF4-FFF2-40B4-BE49-F238E27FC236}">
                <a16:creationId xmlns:a16="http://schemas.microsoft.com/office/drawing/2014/main" id="{10FB14D1-3AFA-44D7-95D7-F647134DFF2D}"/>
              </a:ext>
            </a:extLst>
          </p:cNvPr>
          <p:cNvSpPr>
            <a:spLocks xmlns:a="http://schemas.openxmlformats.org/drawingml/2006/main" noGrp="1"/>
          </p:cNvSpPr>
          <p:nvPr/>
        </p:nvSpPr>
        <p:spPr>
          <a:xfrm xmlns:a="http://schemas.openxmlformats.org/drawingml/2006/main">
            <a:off x="8877300" y="3095625"/>
            <a:ext cx="1047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Popravka</a:t>
            </a:r>
          </a:p>
        </p:txBody>
      </p:sp>
      <p:sp>
        <p:nvSpPr>
          <p:cNvPr id="35" name="">
            <a:extLst xmlns:a="http://schemas.openxmlformats.org/drawingml/2006/main">
              <a:ext uri="{FF2B5EF4-FFF2-40B4-BE49-F238E27FC236}">
                <a16:creationId xmlns:a16="http://schemas.microsoft.com/office/drawing/2014/main" id="{17183F22-E033-4247-AA9B-79F5D8DE418E}"/>
              </a:ext>
            </a:extLst>
          </p:cNvPr>
          <p:cNvSpPr>
            <a:spLocks xmlns:a="http://schemas.openxmlformats.org/drawingml/2006/main" noGrp="1"/>
          </p:cNvSpPr>
          <p:nvPr/>
        </p:nvSpPr>
        <p:spPr>
          <a:xfrm xmlns:a="http://schemas.openxmlformats.org/drawingml/2006/main">
            <a:off x="10306050" y="2524125"/>
            <a:ext cx="1200150" cy="14287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36" name="">
            <a:extLst xmlns:a="http://schemas.openxmlformats.org/drawingml/2006/main">
              <a:ext uri="{FF2B5EF4-FFF2-40B4-BE49-F238E27FC236}">
                <a16:creationId xmlns:a16="http://schemas.microsoft.com/office/drawing/2014/main" id="{AE8B4DE7-2806-44A5-B7CC-83084CE4B273}"/>
              </a:ext>
            </a:extLst>
          </p:cNvPr>
          <p:cNvSpPr>
            <a:spLocks xmlns:a="http://schemas.openxmlformats.org/drawingml/2006/main" noGrp="1"/>
          </p:cNvSpPr>
          <p:nvPr/>
        </p:nvSpPr>
        <p:spPr>
          <a:xfrm xmlns:a="http://schemas.openxmlformats.org/drawingml/2006/main">
            <a:off x="10420350" y="2667000"/>
            <a:ext cx="266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2E75B6"/>
                </a:solidFill>
                <a:latin typeface="Arial"/>
                <a:ea typeface="Arial"/>
                <a:cs typeface="Arial"/>
              </a:defRPr>
            </a:pPr>
            <a:r>
              <a:rPr sz="1050" b="1">
                <a:solidFill>
                  <a:srgbClr val="2E75B6"/>
                </a:solidFill>
                <a:latin typeface="Arial"/>
                <a:ea typeface="Arial"/>
                <a:cs typeface="Arial"/>
              </a:rPr>
              <a:t>5</a:t>
            </a:r>
          </a:p>
        </p:txBody>
      </p:sp>
      <p:sp>
        <p:nvSpPr>
          <p:cNvPr id="37" name="">
            <a:extLst xmlns:a="http://schemas.openxmlformats.org/drawingml/2006/main">
              <a:ext uri="{FF2B5EF4-FFF2-40B4-BE49-F238E27FC236}">
                <a16:creationId xmlns:a16="http://schemas.microsoft.com/office/drawing/2014/main" id="{67CE80DF-B58D-4F13-BF9B-B7728DF47900}"/>
              </a:ext>
            </a:extLst>
          </p:cNvPr>
          <p:cNvSpPr>
            <a:spLocks xmlns:a="http://schemas.openxmlformats.org/drawingml/2006/main" noGrp="1"/>
          </p:cNvSpPr>
          <p:nvPr/>
        </p:nvSpPr>
        <p:spPr>
          <a:xfrm xmlns:a="http://schemas.openxmlformats.org/drawingml/2006/main">
            <a:off x="10382250" y="3095625"/>
            <a:ext cx="1047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b="1">
                <a:solidFill>
                  <a:srgbClr val="111827"/>
                </a:solidFill>
                <a:latin typeface="Arial"/>
                <a:ea typeface="Arial"/>
                <a:cs typeface="Arial"/>
              </a:defRPr>
            </a:pPr>
            <a:r>
              <a:rPr sz="1200" b="1">
                <a:solidFill>
                  <a:srgbClr val="111827"/>
                </a:solidFill>
                <a:latin typeface="Arial"/>
                <a:ea typeface="Arial"/>
                <a:cs typeface="Arial"/>
              </a:rPr>
              <a:t>Nova</a:t>
            </a:r>
          </a:p>
          <a:p xmlns:a="http://schemas.openxmlformats.org/drawingml/2006/main">
            <a:pPr algn="ctr">
              <a:buNone/>
              <a:defRPr sz="1200" b="1">
                <a:solidFill>
                  <a:srgbClr val="111827"/>
                </a:solidFill>
                <a:latin typeface="Arial"/>
                <a:ea typeface="Arial"/>
                <a:cs typeface="Arial"/>
              </a:defRPr>
            </a:pPr>
            <a:r>
              <a:rPr sz="1200" b="1">
                <a:solidFill>
                  <a:srgbClr val="111827"/>
                </a:solidFill>
                <a:latin typeface="Arial"/>
                <a:ea typeface="Arial"/>
                <a:cs typeface="Arial"/>
              </a:rPr>
              <a:t>generacija</a:t>
            </a:r>
          </a:p>
        </p:txBody>
      </p:sp>
      <p:sp>
        <p:nvSpPr>
          <p:cNvPr id="38" name="">
            <a:extLst xmlns:a="http://schemas.openxmlformats.org/drawingml/2006/main">
              <a:ext uri="{FF2B5EF4-FFF2-40B4-BE49-F238E27FC236}">
                <a16:creationId xmlns:a16="http://schemas.microsoft.com/office/drawing/2014/main" id="{8BF426CD-E82F-43B1-B2D6-5E978F0AE364}"/>
              </a:ext>
            </a:extLst>
          </p:cNvPr>
          <p:cNvSpPr>
            <a:spLocks xmlns:a="http://schemas.openxmlformats.org/drawingml/2006/main" noGrp="1"/>
          </p:cNvSpPr>
          <p:nvPr/>
        </p:nvSpPr>
        <p:spPr>
          <a:xfrm xmlns:a="http://schemas.openxmlformats.org/drawingml/2006/main">
            <a:off x="4286250" y="4524375"/>
            <a:ext cx="7219950" cy="990600"/>
          </a:xfrm>
          <a:prstGeom xmlns:a="http://schemas.openxmlformats.org/drawingml/2006/main" prst="rect">
            <a:avLst/>
          </a:prstGeom>
          <a:solidFill xmlns:a="http://schemas.openxmlformats.org/drawingml/2006/main">
            <a:srgbClr val="EAF3F9"/>
          </a:solidFill>
          <a:ln xmlns:a="http://schemas.openxmlformats.org/drawingml/2006/main" w="9525">
            <a:solidFill>
              <a:srgbClr val="EAF3F9"/>
            </a:solidFill>
            <a:prstDash val="solid"/>
          </a:ln>
        </p:spPr>
      </p:sp>
      <p:sp>
        <p:nvSpPr>
          <p:cNvPr id="39" name="">
            <a:extLst xmlns:a="http://schemas.openxmlformats.org/drawingml/2006/main">
              <a:ext uri="{FF2B5EF4-FFF2-40B4-BE49-F238E27FC236}">
                <a16:creationId xmlns:a16="http://schemas.microsoft.com/office/drawing/2014/main" id="{8030C696-644D-4BBC-B668-C88E0894CD5F}"/>
              </a:ext>
            </a:extLst>
          </p:cNvPr>
          <p:cNvSpPr>
            <a:spLocks xmlns:a="http://schemas.openxmlformats.org/drawingml/2006/main" noGrp="1"/>
          </p:cNvSpPr>
          <p:nvPr/>
        </p:nvSpPr>
        <p:spPr>
          <a:xfrm xmlns:a="http://schemas.openxmlformats.org/drawingml/2006/main">
            <a:off x="4533900" y="47625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2E7D5B"/>
                </a:solidFill>
                <a:latin typeface="Arial"/>
                <a:ea typeface="Arial"/>
                <a:cs typeface="Arial"/>
              </a:defRPr>
            </a:pPr>
            <a:r>
              <a:rPr sz="1350" b="1">
                <a:solidFill>
                  <a:srgbClr val="2E7D5B"/>
                </a:solidFill>
                <a:latin typeface="Arial"/>
                <a:ea typeface="Arial"/>
                <a:cs typeface="Arial"/>
              </a:rPr>
              <a:t>Ključna veza</a:t>
            </a:r>
          </a:p>
        </p:txBody>
      </p:sp>
      <p:sp>
        <p:nvSpPr>
          <p:cNvPr id="40" name="">
            <a:extLst xmlns:a="http://schemas.openxmlformats.org/drawingml/2006/main">
              <a:ext uri="{FF2B5EF4-FFF2-40B4-BE49-F238E27FC236}">
                <a16:creationId xmlns:a16="http://schemas.microsoft.com/office/drawing/2014/main" id="{4607FF7E-FFE3-48B0-A4A2-F490E0FA991D}"/>
              </a:ext>
            </a:extLst>
          </p:cNvPr>
          <p:cNvSpPr>
            <a:spLocks xmlns:a="http://schemas.openxmlformats.org/drawingml/2006/main" noGrp="1"/>
          </p:cNvSpPr>
          <p:nvPr/>
        </p:nvSpPr>
        <p:spPr>
          <a:xfrm xmlns:a="http://schemas.openxmlformats.org/drawingml/2006/main">
            <a:off x="6038850" y="4695825"/>
            <a:ext cx="521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11827"/>
                </a:solidFill>
                <a:latin typeface="Arial"/>
                <a:ea typeface="Arial"/>
                <a:cs typeface="Arial"/>
              </a:defRPr>
            </a:pPr>
            <a:r>
              <a:rPr sz="1425" b="0">
                <a:solidFill>
                  <a:srgbClr val="111827"/>
                </a:solidFill>
                <a:latin typeface="Arial"/>
                <a:ea typeface="Arial"/>
                <a:cs typeface="Arial"/>
              </a:rPr>
              <a:t>Svaka promena hromozoma završava se popravkom, pa evolucija uvek radi sa dopustivim rešenjima.</a:t>
            </a:r>
          </a:p>
        </p:txBody>
      </p:sp>
    </p:spTree>
    <p:extLst>
      <p:ext uri="{BB962C8B-B14F-4D97-AF65-F5344CB8AC3E}">
        <p14:creationId xmlns:p14="http://schemas.microsoft.com/office/powerpoint/2010/main" val="41752181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slide-4-title">
            <a:extLst xmlns:a="http://schemas.openxmlformats.org/drawingml/2006/main">
              <a:ext uri="{FF2B5EF4-FFF2-40B4-BE49-F238E27FC236}">
                <a16:creationId xmlns:a16="http://schemas.microsoft.com/office/drawing/2014/main" id="{E2D55ED2-ACEE-463E-B1AF-9D580D5355BE}"/>
              </a:ext>
            </a:extLst>
          </p:cNvPr>
          <p:cNvSpPr>
            <a:spLocks xmlns:a="http://schemas.openxmlformats.org/drawingml/2006/main" noGrp="1"/>
          </p:cNvSpPr>
          <p:nvPr/>
        </p:nvSpPr>
        <p:spPr>
          <a:xfrm xmlns:a="http://schemas.openxmlformats.org/drawingml/2006/main">
            <a:off x="533400" y="32385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850" b="1">
                <a:solidFill>
                  <a:srgbClr val="111827"/>
                </a:solidFill>
                <a:latin typeface="Arial"/>
                <a:ea typeface="Arial"/>
                <a:cs typeface="Arial"/>
              </a:defRPr>
            </a:pPr>
            <a:r>
              <a:rPr sz="2850" b="1">
                <a:solidFill>
                  <a:srgbClr val="111827"/>
                </a:solidFill>
                <a:latin typeface="Arial"/>
                <a:ea typeface="Arial"/>
                <a:cs typeface="Arial"/>
              </a:rPr>
              <a:t>Popravka održava dopustivost i poboljšava rešenje</a:t>
            </a:r>
          </a:p>
        </p:txBody>
      </p:sp>
      <p:cxnSp>
        <p:nvCxnSpPr>
          <p:cNvPr id="108" name="slide-4-header-rule"/>
          <p:cNvCxnSpPr/>
          <p:nvPr/>
        </p:nvCxnSpPr>
        <p:spPr>
          <a:xfrm xmlns:a="http://schemas.openxmlformats.org/drawingml/2006/main">
            <a:off x="533400" y="1143000"/>
            <a:ext cx="11125200" cy="0"/>
          </a:xfrm>
          <a:prstGeom xmlns:a="http://schemas.openxmlformats.org/drawingml/2006/main" prst="straightConnector1">
            <a:avLst/>
          </a:prstGeom>
          <a:ln xmlns:a="http://schemas.openxmlformats.org/drawingml/2006/main" w="9525">
            <a:solidFill>
              <a:srgbClr val="C7D0D9"/>
            </a:solidFill>
            <a:prstDash val="solid"/>
          </a:ln>
        </p:spPr>
      </p:cxnSp>
      <p:sp>
        <p:nvSpPr>
          <p:cNvPr id="3" name="slide-4-number">
            <a:extLst xmlns:a="http://schemas.openxmlformats.org/drawingml/2006/main">
              <a:ext uri="{FF2B5EF4-FFF2-40B4-BE49-F238E27FC236}">
                <a16:creationId xmlns:a16="http://schemas.microsoft.com/office/drawing/2014/main" id="{5956C617-7972-4DEE-B33D-A7427C862609}"/>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4/12</a:t>
            </a:r>
          </a:p>
        </p:txBody>
      </p:sp>
      <p:sp>
        <p:nvSpPr>
          <p:cNvPr id="4" name="slide-4-footer">
            <a:extLst xmlns:a="http://schemas.openxmlformats.org/drawingml/2006/main">
              <a:ext uri="{FF2B5EF4-FFF2-40B4-BE49-F238E27FC236}">
                <a16:creationId xmlns:a16="http://schemas.microsoft.com/office/drawing/2014/main" id="{C666F605-78B6-4634-9348-EECE8898A90D}"/>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
        <p:nvSpPr>
          <p:cNvPr id="5" name="">
            <a:extLst xmlns:a="http://schemas.openxmlformats.org/drawingml/2006/main">
              <a:ext uri="{FF2B5EF4-FFF2-40B4-BE49-F238E27FC236}">
                <a16:creationId xmlns:a16="http://schemas.microsoft.com/office/drawing/2014/main" id="{6C23B66B-89E9-4C35-8EBB-A28D72663B22}"/>
              </a:ext>
            </a:extLst>
          </p:cNvPr>
          <p:cNvSpPr>
            <a:spLocks xmlns:a="http://schemas.openxmlformats.org/drawingml/2006/main" noGrp="1"/>
          </p:cNvSpPr>
          <p:nvPr/>
        </p:nvSpPr>
        <p:spPr>
          <a:xfrm xmlns:a="http://schemas.openxmlformats.org/drawingml/2006/main">
            <a:off x="533400" y="1438275"/>
            <a:ext cx="723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0">
                <a:solidFill>
                  <a:srgbClr val="536273"/>
                </a:solidFill>
                <a:latin typeface="Arial"/>
                <a:ea typeface="Arial"/>
                <a:cs typeface="Arial"/>
              </a:defRPr>
            </a:pPr>
            <a:r>
              <a:rPr sz="1575" b="0">
                <a:solidFill>
                  <a:srgbClr val="536273"/>
                </a:solidFill>
                <a:latin typeface="Arial"/>
                <a:ea typeface="Arial"/>
                <a:cs typeface="Arial"/>
              </a:rPr>
              <a:t>Svako novo rešenje prolazi kroz četiri determinističke faze.</a:t>
            </a:r>
          </a:p>
        </p:txBody>
      </p:sp>
      <p:cxnSp>
        <p:nvCxnSpPr>
          <p:cNvPr id="112" name=""/>
          <p:cNvCxnSpPr/>
          <p:nvPr/>
        </p:nvCxnSpPr>
        <p:spPr>
          <a:xfrm xmlns:a="http://schemas.openxmlformats.org/drawingml/2006/main">
            <a:off x="2857500" y="3257550"/>
            <a:ext cx="476250" cy="0"/>
          </a:xfrm>
          <a:prstGeom xmlns:a="http://schemas.openxmlformats.org/drawingml/2006/main" prst="straightConnector1">
            <a:avLst/>
          </a:prstGeom>
          <a:ln xmlns:a="http://schemas.openxmlformats.org/drawingml/2006/main" w="19050">
            <a:solidFill>
              <a:srgbClr val="2E75B6"/>
            </a:solidFill>
            <a:prstDash val="solid"/>
          </a:ln>
        </p:spPr>
      </p:cxnSp>
      <p:sp>
        <p:nvSpPr>
          <p:cNvPr id="7" name="">
            <a:extLst xmlns:a="http://schemas.openxmlformats.org/drawingml/2006/main">
              <a:ext uri="{FF2B5EF4-FFF2-40B4-BE49-F238E27FC236}">
                <a16:creationId xmlns:a16="http://schemas.microsoft.com/office/drawing/2014/main" id="{0E84FB42-6AF2-48B9-94FA-910DAEE3E4E0}"/>
              </a:ext>
            </a:extLst>
          </p:cNvPr>
          <p:cNvSpPr>
            <a:spLocks xmlns:a="http://schemas.openxmlformats.org/drawingml/2006/main" noGrp="1"/>
          </p:cNvSpPr>
          <p:nvPr/>
        </p:nvSpPr>
        <p:spPr>
          <a:xfrm xmlns:a="http://schemas.openxmlformats.org/drawingml/2006/main">
            <a:off x="533400" y="2143125"/>
            <a:ext cx="2324100" cy="24765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8" name="">
            <a:extLst xmlns:a="http://schemas.openxmlformats.org/drawingml/2006/main">
              <a:ext uri="{FF2B5EF4-FFF2-40B4-BE49-F238E27FC236}">
                <a16:creationId xmlns:a16="http://schemas.microsoft.com/office/drawing/2014/main" id="{EA852A45-7019-4B95-AC9D-83E78AFAFE82}"/>
              </a:ext>
            </a:extLst>
          </p:cNvPr>
          <p:cNvSpPr>
            <a:spLocks xmlns:a="http://schemas.openxmlformats.org/drawingml/2006/main" noGrp="1"/>
          </p:cNvSpPr>
          <p:nvPr/>
        </p:nvSpPr>
        <p:spPr>
          <a:xfrm xmlns:a="http://schemas.openxmlformats.org/drawingml/2006/main">
            <a:off x="762000" y="2371725"/>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a:solidFill>
                  <a:srgbClr val="536273"/>
                </a:solidFill>
                <a:latin typeface="Arial"/>
                <a:ea typeface="Arial"/>
                <a:cs typeface="Arial"/>
              </a:defRPr>
            </a:pPr>
            <a:r>
              <a:rPr sz="1500" b="1">
                <a:solidFill>
                  <a:srgbClr val="536273"/>
                </a:solidFill>
                <a:latin typeface="Arial"/>
                <a:ea typeface="Arial"/>
                <a:cs typeface="Arial"/>
              </a:rPr>
              <a:t>01</a:t>
            </a:r>
          </a:p>
        </p:txBody>
      </p:sp>
      <p:sp>
        <p:nvSpPr>
          <p:cNvPr id="9" name="">
            <a:extLst xmlns:a="http://schemas.openxmlformats.org/drawingml/2006/main">
              <a:ext uri="{FF2B5EF4-FFF2-40B4-BE49-F238E27FC236}">
                <a16:creationId xmlns:a16="http://schemas.microsoft.com/office/drawing/2014/main" id="{4D69B333-ECEC-450A-9791-A51199BB12C5}"/>
              </a:ext>
            </a:extLst>
          </p:cNvPr>
          <p:cNvSpPr>
            <a:spLocks xmlns:a="http://schemas.openxmlformats.org/drawingml/2006/main" noGrp="1"/>
          </p:cNvSpPr>
          <p:nvPr/>
        </p:nvSpPr>
        <p:spPr>
          <a:xfrm xmlns:a="http://schemas.openxmlformats.org/drawingml/2006/main">
            <a:off x="762000" y="2952750"/>
            <a:ext cx="1866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a:solidFill>
                  <a:srgbClr val="111827"/>
                </a:solidFill>
                <a:latin typeface="Arial"/>
                <a:ea typeface="Arial"/>
                <a:cs typeface="Arial"/>
              </a:defRPr>
            </a:pPr>
            <a:r>
              <a:rPr sz="1800" b="1">
                <a:solidFill>
                  <a:srgbClr val="111827"/>
                </a:solidFill>
                <a:latin typeface="Arial"/>
                <a:ea typeface="Arial"/>
                <a:cs typeface="Arial"/>
              </a:rPr>
              <a:t>Odsecanje</a:t>
            </a:r>
          </a:p>
        </p:txBody>
      </p:sp>
      <p:sp>
        <p:nvSpPr>
          <p:cNvPr id="10" name="">
            <a:extLst xmlns:a="http://schemas.openxmlformats.org/drawingml/2006/main">
              <a:ext uri="{FF2B5EF4-FFF2-40B4-BE49-F238E27FC236}">
                <a16:creationId xmlns:a16="http://schemas.microsoft.com/office/drawing/2014/main" id="{092A3BD5-D494-437B-B3CD-9A9F49614EC6}"/>
              </a:ext>
            </a:extLst>
          </p:cNvPr>
          <p:cNvSpPr>
            <a:spLocks xmlns:a="http://schemas.openxmlformats.org/drawingml/2006/main" noGrp="1"/>
          </p:cNvSpPr>
          <p:nvPr/>
        </p:nvSpPr>
        <p:spPr>
          <a:xfrm xmlns:a="http://schemas.openxmlformats.org/drawingml/2006/main">
            <a:off x="762000" y="3705225"/>
            <a:ext cx="1866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0">
                <a:solidFill>
                  <a:srgbClr val="536273"/>
                </a:solidFill>
                <a:latin typeface="Arial"/>
                <a:ea typeface="Arial"/>
                <a:cs typeface="Arial"/>
              </a:defRPr>
            </a:pPr>
            <a:r>
              <a:rPr sz="1275" b="0">
                <a:solidFill>
                  <a:srgbClr val="536273"/>
                </a:solidFill>
                <a:latin typeface="Arial"/>
                <a:ea typeface="Arial"/>
                <a:cs typeface="Arial"/>
              </a:rPr>
              <a:t>Negativne vrednosti postaju nula.</a:t>
            </a:r>
          </a:p>
        </p:txBody>
      </p:sp>
      <p:cxnSp>
        <p:nvCxnSpPr>
          <p:cNvPr id="117" name=""/>
          <p:cNvCxnSpPr/>
          <p:nvPr/>
        </p:nvCxnSpPr>
        <p:spPr>
          <a:xfrm xmlns:a="http://schemas.openxmlformats.org/drawingml/2006/main">
            <a:off x="5657850" y="3257550"/>
            <a:ext cx="476250" cy="0"/>
          </a:xfrm>
          <a:prstGeom xmlns:a="http://schemas.openxmlformats.org/drawingml/2006/main" prst="straightConnector1">
            <a:avLst/>
          </a:prstGeom>
          <a:ln xmlns:a="http://schemas.openxmlformats.org/drawingml/2006/main" w="19050">
            <a:solidFill>
              <a:srgbClr val="2E75B6"/>
            </a:solidFill>
            <a:prstDash val="solid"/>
          </a:ln>
        </p:spPr>
      </p:cxnSp>
      <p:sp>
        <p:nvSpPr>
          <p:cNvPr id="12" name="">
            <a:extLst xmlns:a="http://schemas.openxmlformats.org/drawingml/2006/main">
              <a:ext uri="{FF2B5EF4-FFF2-40B4-BE49-F238E27FC236}">
                <a16:creationId xmlns:a16="http://schemas.microsoft.com/office/drawing/2014/main" id="{67F8B6E8-D12F-49C6-847B-A8F23704CA0A}"/>
              </a:ext>
            </a:extLst>
          </p:cNvPr>
          <p:cNvSpPr>
            <a:spLocks xmlns:a="http://schemas.openxmlformats.org/drawingml/2006/main" noGrp="1"/>
          </p:cNvSpPr>
          <p:nvPr/>
        </p:nvSpPr>
        <p:spPr>
          <a:xfrm xmlns:a="http://schemas.openxmlformats.org/drawingml/2006/main">
            <a:off x="3333750" y="2143125"/>
            <a:ext cx="2324100" cy="24765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3" name="">
            <a:extLst xmlns:a="http://schemas.openxmlformats.org/drawingml/2006/main">
              <a:ext uri="{FF2B5EF4-FFF2-40B4-BE49-F238E27FC236}">
                <a16:creationId xmlns:a16="http://schemas.microsoft.com/office/drawing/2014/main" id="{C0A741BB-B15D-4ED5-9CEA-A9ED43F20ABC}"/>
              </a:ext>
            </a:extLst>
          </p:cNvPr>
          <p:cNvSpPr>
            <a:spLocks xmlns:a="http://schemas.openxmlformats.org/drawingml/2006/main" noGrp="1"/>
          </p:cNvSpPr>
          <p:nvPr/>
        </p:nvSpPr>
        <p:spPr>
          <a:xfrm xmlns:a="http://schemas.openxmlformats.org/drawingml/2006/main">
            <a:off x="3562350" y="2371725"/>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a:solidFill>
                  <a:srgbClr val="536273"/>
                </a:solidFill>
                <a:latin typeface="Arial"/>
                <a:ea typeface="Arial"/>
                <a:cs typeface="Arial"/>
              </a:defRPr>
            </a:pPr>
            <a:r>
              <a:rPr sz="1500" b="1">
                <a:solidFill>
                  <a:srgbClr val="536273"/>
                </a:solidFill>
                <a:latin typeface="Arial"/>
                <a:ea typeface="Arial"/>
                <a:cs typeface="Arial"/>
              </a:rPr>
              <a:t>02</a:t>
            </a:r>
          </a:p>
        </p:txBody>
      </p:sp>
      <p:sp>
        <p:nvSpPr>
          <p:cNvPr id="14" name="">
            <a:extLst xmlns:a="http://schemas.openxmlformats.org/drawingml/2006/main">
              <a:ext uri="{FF2B5EF4-FFF2-40B4-BE49-F238E27FC236}">
                <a16:creationId xmlns:a16="http://schemas.microsoft.com/office/drawing/2014/main" id="{C0A268AC-9747-486D-A5CC-F59CA4F25483}"/>
              </a:ext>
            </a:extLst>
          </p:cNvPr>
          <p:cNvSpPr>
            <a:spLocks xmlns:a="http://schemas.openxmlformats.org/drawingml/2006/main" noGrp="1"/>
          </p:cNvSpPr>
          <p:nvPr/>
        </p:nvSpPr>
        <p:spPr>
          <a:xfrm xmlns:a="http://schemas.openxmlformats.org/drawingml/2006/main">
            <a:off x="3562350" y="2952750"/>
            <a:ext cx="1866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a:solidFill>
                  <a:srgbClr val="111827"/>
                </a:solidFill>
                <a:latin typeface="Arial"/>
                <a:ea typeface="Arial"/>
                <a:cs typeface="Arial"/>
              </a:defRPr>
            </a:pPr>
            <a:r>
              <a:rPr sz="1800" b="1">
                <a:solidFill>
                  <a:srgbClr val="111827"/>
                </a:solidFill>
                <a:latin typeface="Arial"/>
                <a:ea typeface="Arial"/>
                <a:cs typeface="Arial"/>
              </a:rPr>
              <a:t>Zahtev servisa</a:t>
            </a:r>
          </a:p>
        </p:txBody>
      </p:sp>
      <p:sp>
        <p:nvSpPr>
          <p:cNvPr id="15" name="">
            <a:extLst xmlns:a="http://schemas.openxmlformats.org/drawingml/2006/main">
              <a:ext uri="{FF2B5EF4-FFF2-40B4-BE49-F238E27FC236}">
                <a16:creationId xmlns:a16="http://schemas.microsoft.com/office/drawing/2014/main" id="{F831F6A9-6E06-4CC3-B653-05BA17F89F2F}"/>
              </a:ext>
            </a:extLst>
          </p:cNvPr>
          <p:cNvSpPr>
            <a:spLocks xmlns:a="http://schemas.openxmlformats.org/drawingml/2006/main" noGrp="1"/>
          </p:cNvSpPr>
          <p:nvPr/>
        </p:nvSpPr>
        <p:spPr>
          <a:xfrm xmlns:a="http://schemas.openxmlformats.org/drawingml/2006/main">
            <a:off x="3562350" y="3705225"/>
            <a:ext cx="1866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0">
                <a:solidFill>
                  <a:srgbClr val="536273"/>
                </a:solidFill>
                <a:latin typeface="Arial"/>
                <a:ea typeface="Arial"/>
                <a:cs typeface="Arial"/>
              </a:defRPr>
            </a:pPr>
            <a:r>
              <a:rPr sz="1275" b="0">
                <a:solidFill>
                  <a:srgbClr val="536273"/>
                </a:solidFill>
                <a:latin typeface="Arial"/>
                <a:ea typeface="Arial"/>
                <a:cs typeface="Arial"/>
              </a:rPr>
              <a:t>Prekoračeni redovi proporcionalno se smanjuju.</a:t>
            </a:r>
          </a:p>
        </p:txBody>
      </p:sp>
      <p:cxnSp>
        <p:nvCxnSpPr>
          <p:cNvPr id="122" name=""/>
          <p:cNvCxnSpPr/>
          <p:nvPr/>
        </p:nvCxnSpPr>
        <p:spPr>
          <a:xfrm xmlns:a="http://schemas.openxmlformats.org/drawingml/2006/main">
            <a:off x="8458200" y="3257550"/>
            <a:ext cx="476250" cy="0"/>
          </a:xfrm>
          <a:prstGeom xmlns:a="http://schemas.openxmlformats.org/drawingml/2006/main" prst="straightConnector1">
            <a:avLst/>
          </a:prstGeom>
          <a:ln xmlns:a="http://schemas.openxmlformats.org/drawingml/2006/main" w="19050">
            <a:solidFill>
              <a:srgbClr val="2E75B6"/>
            </a:solidFill>
            <a:prstDash val="solid"/>
          </a:ln>
        </p:spPr>
      </p:cxnSp>
      <p:sp>
        <p:nvSpPr>
          <p:cNvPr id="17" name="">
            <a:extLst xmlns:a="http://schemas.openxmlformats.org/drawingml/2006/main">
              <a:ext uri="{FF2B5EF4-FFF2-40B4-BE49-F238E27FC236}">
                <a16:creationId xmlns:a16="http://schemas.microsoft.com/office/drawing/2014/main" id="{FB9D86DD-07EC-47BA-AE35-B702876DAC7E}"/>
              </a:ext>
            </a:extLst>
          </p:cNvPr>
          <p:cNvSpPr>
            <a:spLocks xmlns:a="http://schemas.openxmlformats.org/drawingml/2006/main" noGrp="1"/>
          </p:cNvSpPr>
          <p:nvPr/>
        </p:nvSpPr>
        <p:spPr>
          <a:xfrm xmlns:a="http://schemas.openxmlformats.org/drawingml/2006/main">
            <a:off x="6134100" y="2143125"/>
            <a:ext cx="2324100" cy="24765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8" name="">
            <a:extLst xmlns:a="http://schemas.openxmlformats.org/drawingml/2006/main">
              <a:ext uri="{FF2B5EF4-FFF2-40B4-BE49-F238E27FC236}">
                <a16:creationId xmlns:a16="http://schemas.microsoft.com/office/drawing/2014/main" id="{4BD3E8A6-DD60-4C17-8340-0FF312AAF5D8}"/>
              </a:ext>
            </a:extLst>
          </p:cNvPr>
          <p:cNvSpPr>
            <a:spLocks xmlns:a="http://schemas.openxmlformats.org/drawingml/2006/main" noGrp="1"/>
          </p:cNvSpPr>
          <p:nvPr/>
        </p:nvSpPr>
        <p:spPr>
          <a:xfrm xmlns:a="http://schemas.openxmlformats.org/drawingml/2006/main">
            <a:off x="6362700" y="2371725"/>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a:solidFill>
                  <a:srgbClr val="536273"/>
                </a:solidFill>
                <a:latin typeface="Arial"/>
                <a:ea typeface="Arial"/>
                <a:cs typeface="Arial"/>
              </a:defRPr>
            </a:pPr>
            <a:r>
              <a:rPr sz="1500" b="1">
                <a:solidFill>
                  <a:srgbClr val="536273"/>
                </a:solidFill>
                <a:latin typeface="Arial"/>
                <a:ea typeface="Arial"/>
                <a:cs typeface="Arial"/>
              </a:rPr>
              <a:t>03</a:t>
            </a:r>
          </a:p>
        </p:txBody>
      </p:sp>
      <p:sp>
        <p:nvSpPr>
          <p:cNvPr id="19" name="">
            <a:extLst xmlns:a="http://schemas.openxmlformats.org/drawingml/2006/main">
              <a:ext uri="{FF2B5EF4-FFF2-40B4-BE49-F238E27FC236}">
                <a16:creationId xmlns:a16="http://schemas.microsoft.com/office/drawing/2014/main" id="{55745EE5-4BDC-4CC4-B973-DA95CFEB5754}"/>
              </a:ext>
            </a:extLst>
          </p:cNvPr>
          <p:cNvSpPr>
            <a:spLocks xmlns:a="http://schemas.openxmlformats.org/drawingml/2006/main" noGrp="1"/>
          </p:cNvSpPr>
          <p:nvPr/>
        </p:nvSpPr>
        <p:spPr>
          <a:xfrm xmlns:a="http://schemas.openxmlformats.org/drawingml/2006/main">
            <a:off x="6362700" y="2952750"/>
            <a:ext cx="1866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a:solidFill>
                  <a:srgbClr val="111827"/>
                </a:solidFill>
                <a:latin typeface="Arial"/>
                <a:ea typeface="Arial"/>
                <a:cs typeface="Arial"/>
              </a:defRPr>
            </a:pPr>
            <a:r>
              <a:rPr sz="1800" b="1">
                <a:solidFill>
                  <a:srgbClr val="111827"/>
                </a:solidFill>
                <a:latin typeface="Arial"/>
                <a:ea typeface="Arial"/>
                <a:cs typeface="Arial"/>
              </a:rPr>
              <a:t>Vreme računara</a:t>
            </a:r>
          </a:p>
        </p:txBody>
      </p:sp>
      <p:sp>
        <p:nvSpPr>
          <p:cNvPr id="20" name="">
            <a:extLst xmlns:a="http://schemas.openxmlformats.org/drawingml/2006/main">
              <a:ext uri="{FF2B5EF4-FFF2-40B4-BE49-F238E27FC236}">
                <a16:creationId xmlns:a16="http://schemas.microsoft.com/office/drawing/2014/main" id="{2E27F56A-93B6-4948-8EB3-06F8C67546B8}"/>
              </a:ext>
            </a:extLst>
          </p:cNvPr>
          <p:cNvSpPr>
            <a:spLocks xmlns:a="http://schemas.openxmlformats.org/drawingml/2006/main" noGrp="1"/>
          </p:cNvSpPr>
          <p:nvPr/>
        </p:nvSpPr>
        <p:spPr>
          <a:xfrm xmlns:a="http://schemas.openxmlformats.org/drawingml/2006/main">
            <a:off x="6362700" y="3705225"/>
            <a:ext cx="1866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0">
                <a:solidFill>
                  <a:srgbClr val="536273"/>
                </a:solidFill>
                <a:latin typeface="Arial"/>
                <a:ea typeface="Arial"/>
                <a:cs typeface="Arial"/>
              </a:defRPr>
            </a:pPr>
            <a:r>
              <a:rPr sz="1275" b="0">
                <a:solidFill>
                  <a:srgbClr val="536273"/>
                </a:solidFill>
                <a:latin typeface="Arial"/>
                <a:ea typeface="Arial"/>
                <a:cs typeface="Arial"/>
              </a:rPr>
              <a:t>Uklanjaju se najmanje profitabilne jedinice.</a:t>
            </a:r>
          </a:p>
        </p:txBody>
      </p:sp>
      <p:sp>
        <p:nvSpPr>
          <p:cNvPr id="21" name="">
            <a:extLst xmlns:a="http://schemas.openxmlformats.org/drawingml/2006/main">
              <a:ext uri="{FF2B5EF4-FFF2-40B4-BE49-F238E27FC236}">
                <a16:creationId xmlns:a16="http://schemas.microsoft.com/office/drawing/2014/main" id="{35C5DD86-F39F-4189-85AE-61BA1ED1408A}"/>
              </a:ext>
            </a:extLst>
          </p:cNvPr>
          <p:cNvSpPr>
            <a:spLocks xmlns:a="http://schemas.openxmlformats.org/drawingml/2006/main" noGrp="1"/>
          </p:cNvSpPr>
          <p:nvPr/>
        </p:nvSpPr>
        <p:spPr>
          <a:xfrm xmlns:a="http://schemas.openxmlformats.org/drawingml/2006/main">
            <a:off x="8934450" y="2143125"/>
            <a:ext cx="2324100" cy="2476500"/>
          </a:xfrm>
          <a:prstGeom xmlns:a="http://schemas.openxmlformats.org/drawingml/2006/main" prst="rect">
            <a:avLst/>
          </a:prstGeom>
          <a:solidFill xmlns:a="http://schemas.openxmlformats.org/drawingml/2006/main">
            <a:srgbClr val="EAF3F9"/>
          </a:solidFill>
          <a:ln xmlns:a="http://schemas.openxmlformats.org/drawingml/2006/main" w="9525">
            <a:solidFill>
              <a:srgbClr val="2E75B6"/>
            </a:solidFill>
            <a:prstDash val="solid"/>
          </a:ln>
        </p:spPr>
      </p:sp>
      <p:sp>
        <p:nvSpPr>
          <p:cNvPr id="22" name="">
            <a:extLst xmlns:a="http://schemas.openxmlformats.org/drawingml/2006/main">
              <a:ext uri="{FF2B5EF4-FFF2-40B4-BE49-F238E27FC236}">
                <a16:creationId xmlns:a16="http://schemas.microsoft.com/office/drawing/2014/main" id="{E3E2AD6E-DD46-411D-BE27-577C60958D42}"/>
              </a:ext>
            </a:extLst>
          </p:cNvPr>
          <p:cNvSpPr>
            <a:spLocks xmlns:a="http://schemas.openxmlformats.org/drawingml/2006/main" noGrp="1"/>
          </p:cNvSpPr>
          <p:nvPr/>
        </p:nvSpPr>
        <p:spPr>
          <a:xfrm xmlns:a="http://schemas.openxmlformats.org/drawingml/2006/main">
            <a:off x="9163050" y="2371725"/>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a:solidFill>
                  <a:srgbClr val="2E75B6"/>
                </a:solidFill>
                <a:latin typeface="Arial"/>
                <a:ea typeface="Arial"/>
                <a:cs typeface="Arial"/>
              </a:defRPr>
            </a:pPr>
            <a:r>
              <a:rPr sz="1500" b="1">
                <a:solidFill>
                  <a:srgbClr val="2E75B6"/>
                </a:solidFill>
                <a:latin typeface="Arial"/>
                <a:ea typeface="Arial"/>
                <a:cs typeface="Arial"/>
              </a:rPr>
              <a:t>04</a:t>
            </a:r>
          </a:p>
        </p:txBody>
      </p:sp>
      <p:sp>
        <p:nvSpPr>
          <p:cNvPr id="23" name="">
            <a:extLst xmlns:a="http://schemas.openxmlformats.org/drawingml/2006/main">
              <a:ext uri="{FF2B5EF4-FFF2-40B4-BE49-F238E27FC236}">
                <a16:creationId xmlns:a16="http://schemas.microsoft.com/office/drawing/2014/main" id="{2216FC79-AE43-4DC6-BC65-629A1DB918E4}"/>
              </a:ext>
            </a:extLst>
          </p:cNvPr>
          <p:cNvSpPr>
            <a:spLocks xmlns:a="http://schemas.openxmlformats.org/drawingml/2006/main" noGrp="1"/>
          </p:cNvSpPr>
          <p:nvPr/>
        </p:nvSpPr>
        <p:spPr>
          <a:xfrm xmlns:a="http://schemas.openxmlformats.org/drawingml/2006/main">
            <a:off x="9163050" y="2952750"/>
            <a:ext cx="1866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a:solidFill>
                  <a:srgbClr val="111827"/>
                </a:solidFill>
                <a:latin typeface="Arial"/>
                <a:ea typeface="Arial"/>
                <a:cs typeface="Arial"/>
              </a:defRPr>
            </a:pPr>
            <a:r>
              <a:rPr sz="1800" b="1">
                <a:solidFill>
                  <a:srgbClr val="111827"/>
                </a:solidFill>
                <a:latin typeface="Arial"/>
                <a:ea typeface="Arial"/>
                <a:cs typeface="Arial"/>
              </a:rPr>
              <a:t>Popunjavanje</a:t>
            </a:r>
          </a:p>
        </p:txBody>
      </p:sp>
      <p:sp>
        <p:nvSpPr>
          <p:cNvPr id="24" name="">
            <a:extLst xmlns:a="http://schemas.openxmlformats.org/drawingml/2006/main">
              <a:ext uri="{FF2B5EF4-FFF2-40B4-BE49-F238E27FC236}">
                <a16:creationId xmlns:a16="http://schemas.microsoft.com/office/drawing/2014/main" id="{43A19F70-B509-413A-9EE5-2BFA1385C265}"/>
              </a:ext>
            </a:extLst>
          </p:cNvPr>
          <p:cNvSpPr>
            <a:spLocks xmlns:a="http://schemas.openxmlformats.org/drawingml/2006/main" noGrp="1"/>
          </p:cNvSpPr>
          <p:nvPr/>
        </p:nvSpPr>
        <p:spPr>
          <a:xfrm xmlns:a="http://schemas.openxmlformats.org/drawingml/2006/main">
            <a:off x="9163050" y="3705225"/>
            <a:ext cx="1866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0">
                <a:solidFill>
                  <a:srgbClr val="536273"/>
                </a:solidFill>
                <a:latin typeface="Arial"/>
                <a:ea typeface="Arial"/>
                <a:cs typeface="Arial"/>
              </a:defRPr>
            </a:pPr>
            <a:r>
              <a:rPr sz="1275" b="0">
                <a:solidFill>
                  <a:srgbClr val="536273"/>
                </a:solidFill>
                <a:latin typeface="Arial"/>
                <a:ea typeface="Arial"/>
                <a:cs typeface="Arial"/>
              </a:rPr>
              <a:t>Dodaju se najprofitabilnije dopustive jedinice.</a:t>
            </a:r>
          </a:p>
        </p:txBody>
      </p:sp>
      <p:sp>
        <p:nvSpPr>
          <p:cNvPr id="25" name="">
            <a:extLst xmlns:a="http://schemas.openxmlformats.org/drawingml/2006/main">
              <a:ext uri="{FF2B5EF4-FFF2-40B4-BE49-F238E27FC236}">
                <a16:creationId xmlns:a16="http://schemas.microsoft.com/office/drawing/2014/main" id="{038736D4-BA68-4ACC-85CA-5FFCBE6AE7B5}"/>
              </a:ext>
            </a:extLst>
          </p:cNvPr>
          <p:cNvSpPr>
            <a:spLocks xmlns:a="http://schemas.openxmlformats.org/drawingml/2006/main" noGrp="1"/>
          </p:cNvSpPr>
          <p:nvPr/>
        </p:nvSpPr>
        <p:spPr>
          <a:xfrm xmlns:a="http://schemas.openxmlformats.org/drawingml/2006/main">
            <a:off x="2476500" y="5095875"/>
            <a:ext cx="7239000" cy="685800"/>
          </a:xfrm>
          <a:prstGeom xmlns:a="http://schemas.openxmlformats.org/drawingml/2006/main" prst="rect">
            <a:avLst/>
          </a:prstGeom>
          <a:solidFill xmlns:a="http://schemas.openxmlformats.org/drawingml/2006/main">
            <a:srgbClr val="123B63"/>
          </a:solidFill>
          <a:ln xmlns:a="http://schemas.openxmlformats.org/drawingml/2006/main" w="9525">
            <a:solidFill>
              <a:srgbClr val="123B63"/>
            </a:solidFill>
            <a:prstDash val="solid"/>
          </a:ln>
        </p:spPr>
      </p:sp>
      <p:sp>
        <p:nvSpPr>
          <p:cNvPr id="26" name="">
            <a:extLst xmlns:a="http://schemas.openxmlformats.org/drawingml/2006/main">
              <a:ext uri="{FF2B5EF4-FFF2-40B4-BE49-F238E27FC236}">
                <a16:creationId xmlns:a16="http://schemas.microsoft.com/office/drawing/2014/main" id="{57D1B1B6-DF56-460E-A02F-416BDF4807B8}"/>
              </a:ext>
            </a:extLst>
          </p:cNvPr>
          <p:cNvSpPr>
            <a:spLocks xmlns:a="http://schemas.openxmlformats.org/drawingml/2006/main" noGrp="1"/>
          </p:cNvSpPr>
          <p:nvPr/>
        </p:nvSpPr>
        <p:spPr>
          <a:xfrm xmlns:a="http://schemas.openxmlformats.org/drawingml/2006/main">
            <a:off x="2762250" y="5276850"/>
            <a:ext cx="666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725" b="1">
                <a:solidFill>
                  <a:srgbClr val="FFFFFF"/>
                </a:solidFill>
                <a:latin typeface="Arial"/>
                <a:ea typeface="Arial"/>
                <a:cs typeface="Arial"/>
              </a:defRPr>
            </a:pPr>
            <a:r>
              <a:rPr sz="1725" b="1">
                <a:solidFill>
                  <a:srgbClr val="FFFFFF"/>
                </a:solidFill>
                <a:latin typeface="Arial"/>
                <a:ea typeface="Arial"/>
                <a:cs typeface="Arial"/>
              </a:rPr>
              <a:t>Rezultat: dopustiv hromozom + pohlepno popunjavanje</a:t>
            </a:r>
          </a:p>
        </p:txBody>
      </p:sp>
    </p:spTree>
    <p:extLst>
      <p:ext uri="{BB962C8B-B14F-4D97-AF65-F5344CB8AC3E}">
        <p14:creationId xmlns:p14="http://schemas.microsoft.com/office/powerpoint/2010/main" val="144289134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slide-5-title">
            <a:extLst xmlns:a="http://schemas.openxmlformats.org/drawingml/2006/main">
              <a:ext uri="{FF2B5EF4-FFF2-40B4-BE49-F238E27FC236}">
                <a16:creationId xmlns:a16="http://schemas.microsoft.com/office/drawing/2014/main" id="{1628FC47-48B5-4F95-9E70-B5570C158672}"/>
              </a:ext>
            </a:extLst>
          </p:cNvPr>
          <p:cNvSpPr>
            <a:spLocks xmlns:a="http://schemas.openxmlformats.org/drawingml/2006/main" noGrp="1"/>
          </p:cNvSpPr>
          <p:nvPr/>
        </p:nvSpPr>
        <p:spPr>
          <a:xfrm xmlns:a="http://schemas.openxmlformats.org/drawingml/2006/main">
            <a:off x="533400" y="32385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850" b="1">
                <a:solidFill>
                  <a:srgbClr val="111827"/>
                </a:solidFill>
                <a:latin typeface="Arial"/>
                <a:ea typeface="Arial"/>
                <a:cs typeface="Arial"/>
              </a:defRPr>
            </a:pPr>
            <a:r>
              <a:rPr sz="2850" b="1">
                <a:solidFill>
                  <a:srgbClr val="111827"/>
                </a:solidFill>
                <a:latin typeface="Arial"/>
                <a:ea typeface="Arial"/>
                <a:cs typeface="Arial"/>
              </a:rPr>
              <a:t>Ista formulacija je ispitana na tri problema različite veličine</a:t>
            </a:r>
          </a:p>
        </p:txBody>
      </p:sp>
      <p:cxnSp>
        <p:nvCxnSpPr>
          <p:cNvPr id="36" name="slide-5-header-rule"/>
          <p:cNvCxnSpPr/>
          <p:nvPr/>
        </p:nvCxnSpPr>
        <p:spPr>
          <a:xfrm xmlns:a="http://schemas.openxmlformats.org/drawingml/2006/main">
            <a:off x="533400" y="1143000"/>
            <a:ext cx="11125200" cy="0"/>
          </a:xfrm>
          <a:prstGeom xmlns:a="http://schemas.openxmlformats.org/drawingml/2006/main" prst="straightConnector1">
            <a:avLst/>
          </a:prstGeom>
          <a:ln xmlns:a="http://schemas.openxmlformats.org/drawingml/2006/main" w="9525">
            <a:solidFill>
              <a:srgbClr val="C7D0D9"/>
            </a:solidFill>
            <a:prstDash val="solid"/>
          </a:ln>
        </p:spPr>
      </p:cxnSp>
      <p:sp>
        <p:nvSpPr>
          <p:cNvPr id="3" name="slide-5-number">
            <a:extLst xmlns:a="http://schemas.openxmlformats.org/drawingml/2006/main">
              <a:ext uri="{FF2B5EF4-FFF2-40B4-BE49-F238E27FC236}">
                <a16:creationId xmlns:a16="http://schemas.microsoft.com/office/drawing/2014/main" id="{B6CB7606-7DD8-4E70-B463-580924D2F588}"/>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5/12</a:t>
            </a:r>
          </a:p>
        </p:txBody>
      </p:sp>
      <p:sp>
        <p:nvSpPr>
          <p:cNvPr id="4" name="slide-5-footer">
            <a:extLst xmlns:a="http://schemas.openxmlformats.org/drawingml/2006/main">
              <a:ext uri="{FF2B5EF4-FFF2-40B4-BE49-F238E27FC236}">
                <a16:creationId xmlns:a16="http://schemas.microsoft.com/office/drawing/2014/main" id="{B73FCF1D-5E53-4487-87F4-9F78952553C2}"/>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
        <p:nvSpPr>
          <p:cNvPr id="5" name="">
            <a:extLst xmlns:a="http://schemas.openxmlformats.org/drawingml/2006/main">
              <a:ext uri="{FF2B5EF4-FFF2-40B4-BE49-F238E27FC236}">
                <a16:creationId xmlns:a16="http://schemas.microsoft.com/office/drawing/2014/main" id="{82F322F9-5BBF-4B9F-9B1D-69313C3224BF}"/>
              </a:ext>
            </a:extLst>
          </p:cNvPr>
          <p:cNvSpPr>
            <a:spLocks xmlns:a="http://schemas.openxmlformats.org/drawingml/2006/main" noGrp="1"/>
          </p:cNvSpPr>
          <p:nvPr/>
        </p:nvSpPr>
        <p:spPr>
          <a:xfrm xmlns:a="http://schemas.openxmlformats.org/drawingml/2006/main">
            <a:off x="533400" y="1428750"/>
            <a:ext cx="723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0">
                <a:solidFill>
                  <a:srgbClr val="536273"/>
                </a:solidFill>
                <a:latin typeface="Arial"/>
                <a:ea typeface="Arial"/>
                <a:cs typeface="Arial"/>
              </a:defRPr>
            </a:pPr>
            <a:r>
              <a:rPr sz="1575" b="0">
                <a:solidFill>
                  <a:srgbClr val="536273"/>
                </a:solidFill>
                <a:latin typeface="Arial"/>
                <a:ea typeface="Arial"/>
                <a:cs typeface="Arial"/>
              </a:rPr>
              <a:t>Tri problema · ista funkcija cilja · isti hardver</a:t>
            </a:r>
          </a:p>
        </p:txBody>
      </p:sp>
      <p:sp>
        <p:nvSpPr>
          <p:cNvPr id="6" name="">
            <a:extLst xmlns:a="http://schemas.openxmlformats.org/drawingml/2006/main">
              <a:ext uri="{FF2B5EF4-FFF2-40B4-BE49-F238E27FC236}">
                <a16:creationId xmlns:a16="http://schemas.microsoft.com/office/drawing/2014/main" id="{51A5CF18-D518-4C5D-8FC7-9A63E595E2AD}"/>
              </a:ext>
            </a:extLst>
          </p:cNvPr>
          <p:cNvSpPr>
            <a:spLocks xmlns:a="http://schemas.openxmlformats.org/drawingml/2006/main" noGrp="1"/>
          </p:cNvSpPr>
          <p:nvPr/>
        </p:nvSpPr>
        <p:spPr>
          <a:xfrm xmlns:a="http://schemas.openxmlformats.org/drawingml/2006/main">
            <a:off x="533400" y="2038350"/>
            <a:ext cx="3333750" cy="23812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7" name="">
            <a:extLst xmlns:a="http://schemas.openxmlformats.org/drawingml/2006/main">
              <a:ext uri="{FF2B5EF4-FFF2-40B4-BE49-F238E27FC236}">
                <a16:creationId xmlns:a16="http://schemas.microsoft.com/office/drawing/2014/main" id="{36DF6A39-D746-4720-B365-8ADF8A77A21B}"/>
              </a:ext>
            </a:extLst>
          </p:cNvPr>
          <p:cNvSpPr>
            <a:spLocks xmlns:a="http://schemas.openxmlformats.org/drawingml/2006/main" noGrp="1"/>
          </p:cNvSpPr>
          <p:nvPr/>
        </p:nvSpPr>
        <p:spPr>
          <a:xfrm xmlns:a="http://schemas.openxmlformats.org/drawingml/2006/main">
            <a:off x="762000" y="2266950"/>
            <a:ext cx="2876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2E7D5B"/>
                </a:solidFill>
                <a:latin typeface="Arial"/>
                <a:ea typeface="Arial"/>
                <a:cs typeface="Arial"/>
              </a:defRPr>
            </a:pPr>
            <a:r>
              <a:rPr sz="3150" b="1">
                <a:solidFill>
                  <a:srgbClr val="2E7D5B"/>
                </a:solidFill>
                <a:latin typeface="Arial"/>
                <a:ea typeface="Arial"/>
                <a:cs typeface="Arial"/>
              </a:rPr>
              <a:t>10 × 10</a:t>
            </a:r>
          </a:p>
        </p:txBody>
      </p:sp>
      <p:sp>
        <p:nvSpPr>
          <p:cNvPr id="8" name="">
            <a:extLst xmlns:a="http://schemas.openxmlformats.org/drawingml/2006/main">
              <a:ext uri="{FF2B5EF4-FFF2-40B4-BE49-F238E27FC236}">
                <a16:creationId xmlns:a16="http://schemas.microsoft.com/office/drawing/2014/main" id="{A0F7419C-0B9C-4E43-A5B0-02E3A938090B}"/>
              </a:ext>
            </a:extLst>
          </p:cNvPr>
          <p:cNvSpPr>
            <a:spLocks xmlns:a="http://schemas.openxmlformats.org/drawingml/2006/main" noGrp="1"/>
          </p:cNvSpPr>
          <p:nvPr/>
        </p:nvSpPr>
        <p:spPr>
          <a:xfrm xmlns:a="http://schemas.openxmlformats.org/drawingml/2006/main">
            <a:off x="762000" y="3028950"/>
            <a:ext cx="28765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100 promenljivih</a:t>
            </a:r>
          </a:p>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verifikaciona instanca</a:t>
            </a:r>
          </a:p>
        </p:txBody>
      </p:sp>
      <p:sp>
        <p:nvSpPr>
          <p:cNvPr id="9" name="">
            <a:extLst xmlns:a="http://schemas.openxmlformats.org/drawingml/2006/main">
              <a:ext uri="{FF2B5EF4-FFF2-40B4-BE49-F238E27FC236}">
                <a16:creationId xmlns:a16="http://schemas.microsoft.com/office/drawing/2014/main" id="{DF955726-44C1-44B5-8119-501694ED3CC8}"/>
              </a:ext>
            </a:extLst>
          </p:cNvPr>
          <p:cNvSpPr>
            <a:spLocks xmlns:a="http://schemas.openxmlformats.org/drawingml/2006/main" noGrp="1"/>
          </p:cNvSpPr>
          <p:nvPr/>
        </p:nvSpPr>
        <p:spPr>
          <a:xfrm xmlns:a="http://schemas.openxmlformats.org/drawingml/2006/main">
            <a:off x="4429125" y="2038350"/>
            <a:ext cx="3333750" cy="23812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0" name="">
            <a:extLst xmlns:a="http://schemas.openxmlformats.org/drawingml/2006/main">
              <a:ext uri="{FF2B5EF4-FFF2-40B4-BE49-F238E27FC236}">
                <a16:creationId xmlns:a16="http://schemas.microsoft.com/office/drawing/2014/main" id="{C78C729A-DF4A-4690-A6E6-A43838C9C44B}"/>
              </a:ext>
            </a:extLst>
          </p:cNvPr>
          <p:cNvSpPr>
            <a:spLocks xmlns:a="http://schemas.openxmlformats.org/drawingml/2006/main" noGrp="1"/>
          </p:cNvSpPr>
          <p:nvPr/>
        </p:nvSpPr>
        <p:spPr>
          <a:xfrm xmlns:a="http://schemas.openxmlformats.org/drawingml/2006/main">
            <a:off x="4657725" y="2266950"/>
            <a:ext cx="2876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2E75B6"/>
                </a:solidFill>
                <a:latin typeface="Arial"/>
                <a:ea typeface="Arial"/>
                <a:cs typeface="Arial"/>
              </a:defRPr>
            </a:pPr>
            <a:r>
              <a:rPr sz="3150" b="1">
                <a:solidFill>
                  <a:srgbClr val="2E75B6"/>
                </a:solidFill>
                <a:latin typeface="Arial"/>
                <a:ea typeface="Arial"/>
                <a:cs typeface="Arial"/>
              </a:rPr>
              <a:t>100 × 100</a:t>
            </a:r>
          </a:p>
        </p:txBody>
      </p:sp>
      <p:sp>
        <p:nvSpPr>
          <p:cNvPr id="11" name="">
            <a:extLst xmlns:a="http://schemas.openxmlformats.org/drawingml/2006/main">
              <a:ext uri="{FF2B5EF4-FFF2-40B4-BE49-F238E27FC236}">
                <a16:creationId xmlns:a16="http://schemas.microsoft.com/office/drawing/2014/main" id="{576DBEF6-0BD3-4241-BDA7-286CB4F26D40}"/>
              </a:ext>
            </a:extLst>
          </p:cNvPr>
          <p:cNvSpPr>
            <a:spLocks xmlns:a="http://schemas.openxmlformats.org/drawingml/2006/main" noGrp="1"/>
          </p:cNvSpPr>
          <p:nvPr/>
        </p:nvSpPr>
        <p:spPr>
          <a:xfrm xmlns:a="http://schemas.openxmlformats.org/drawingml/2006/main">
            <a:off x="4657725" y="3028950"/>
            <a:ext cx="28765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10.000 promenljivih</a:t>
            </a:r>
          </a:p>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referentna instanca</a:t>
            </a:r>
          </a:p>
        </p:txBody>
      </p:sp>
      <p:sp>
        <p:nvSpPr>
          <p:cNvPr id="12" name="">
            <a:extLst xmlns:a="http://schemas.openxmlformats.org/drawingml/2006/main">
              <a:ext uri="{FF2B5EF4-FFF2-40B4-BE49-F238E27FC236}">
                <a16:creationId xmlns:a16="http://schemas.microsoft.com/office/drawing/2014/main" id="{F6D28DC5-4C6A-45EE-B956-95302CF001B2}"/>
              </a:ext>
            </a:extLst>
          </p:cNvPr>
          <p:cNvSpPr>
            <a:spLocks xmlns:a="http://schemas.openxmlformats.org/drawingml/2006/main" noGrp="1"/>
          </p:cNvSpPr>
          <p:nvPr/>
        </p:nvSpPr>
        <p:spPr>
          <a:xfrm xmlns:a="http://schemas.openxmlformats.org/drawingml/2006/main">
            <a:off x="8324850" y="2038350"/>
            <a:ext cx="3333750" cy="23812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3" name="">
            <a:extLst xmlns:a="http://schemas.openxmlformats.org/drawingml/2006/main">
              <a:ext uri="{FF2B5EF4-FFF2-40B4-BE49-F238E27FC236}">
                <a16:creationId xmlns:a16="http://schemas.microsoft.com/office/drawing/2014/main" id="{23F42530-D9AE-4307-B872-512152E120BD}"/>
              </a:ext>
            </a:extLst>
          </p:cNvPr>
          <p:cNvSpPr>
            <a:spLocks xmlns:a="http://schemas.openxmlformats.org/drawingml/2006/main" noGrp="1"/>
          </p:cNvSpPr>
          <p:nvPr/>
        </p:nvSpPr>
        <p:spPr>
          <a:xfrm xmlns:a="http://schemas.openxmlformats.org/drawingml/2006/main">
            <a:off x="8553450" y="2266950"/>
            <a:ext cx="2876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123B63"/>
                </a:solidFill>
                <a:latin typeface="Arial"/>
                <a:ea typeface="Arial"/>
                <a:cs typeface="Arial"/>
              </a:defRPr>
            </a:pPr>
            <a:r>
              <a:rPr sz="3150" b="1">
                <a:solidFill>
                  <a:srgbClr val="123B63"/>
                </a:solidFill>
                <a:latin typeface="Arial"/>
                <a:ea typeface="Arial"/>
                <a:cs typeface="Arial"/>
              </a:rPr>
              <a:t>1000 × 1000</a:t>
            </a:r>
          </a:p>
        </p:txBody>
      </p:sp>
      <p:sp>
        <p:nvSpPr>
          <p:cNvPr id="14" name="">
            <a:extLst xmlns:a="http://schemas.openxmlformats.org/drawingml/2006/main">
              <a:ext uri="{FF2B5EF4-FFF2-40B4-BE49-F238E27FC236}">
                <a16:creationId xmlns:a16="http://schemas.microsoft.com/office/drawing/2014/main" id="{FECEC887-45F5-452B-9B8B-774F85FD8104}"/>
              </a:ext>
            </a:extLst>
          </p:cNvPr>
          <p:cNvSpPr>
            <a:spLocks xmlns:a="http://schemas.openxmlformats.org/drawingml/2006/main" noGrp="1"/>
          </p:cNvSpPr>
          <p:nvPr/>
        </p:nvSpPr>
        <p:spPr>
          <a:xfrm xmlns:a="http://schemas.openxmlformats.org/drawingml/2006/main">
            <a:off x="8553450" y="3028950"/>
            <a:ext cx="28765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1.000.000 promenljivih</a:t>
            </a:r>
          </a:p>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granica resursa</a:t>
            </a:r>
          </a:p>
        </p:txBody>
      </p:sp>
      <p:sp>
        <p:nvSpPr>
          <p:cNvPr id="15" name="">
            <a:extLst xmlns:a="http://schemas.openxmlformats.org/drawingml/2006/main">
              <a:ext uri="{FF2B5EF4-FFF2-40B4-BE49-F238E27FC236}">
                <a16:creationId xmlns:a16="http://schemas.microsoft.com/office/drawing/2014/main" id="{61DEE111-D8D7-49A3-98A0-6EFD954B7F0B}"/>
              </a:ext>
            </a:extLst>
          </p:cNvPr>
          <p:cNvSpPr>
            <a:spLocks xmlns:a="http://schemas.openxmlformats.org/drawingml/2006/main" noGrp="1"/>
          </p:cNvSpPr>
          <p:nvPr/>
        </p:nvSpPr>
        <p:spPr>
          <a:xfrm xmlns:a="http://schemas.openxmlformats.org/drawingml/2006/main">
            <a:off x="666750" y="49053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123B63"/>
                </a:solidFill>
                <a:latin typeface="Arial"/>
                <a:ea typeface="Arial"/>
                <a:cs typeface="Arial"/>
              </a:defRPr>
            </a:pPr>
            <a:r>
              <a:rPr sz="1425" b="1">
                <a:solidFill>
                  <a:srgbClr val="123B63"/>
                </a:solidFill>
                <a:latin typeface="Arial"/>
                <a:ea typeface="Arial"/>
                <a:cs typeface="Arial"/>
              </a:rPr>
              <a:t>HiGHS</a:t>
            </a:r>
          </a:p>
        </p:txBody>
      </p:sp>
      <p:sp>
        <p:nvSpPr>
          <p:cNvPr id="16" name="">
            <a:extLst xmlns:a="http://schemas.openxmlformats.org/drawingml/2006/main">
              <a:ext uri="{FF2B5EF4-FFF2-40B4-BE49-F238E27FC236}">
                <a16:creationId xmlns:a16="http://schemas.microsoft.com/office/drawing/2014/main" id="{AB501715-88FE-4D09-A709-990EE223DBAA}"/>
              </a:ext>
            </a:extLst>
          </p:cNvPr>
          <p:cNvSpPr>
            <a:spLocks xmlns:a="http://schemas.openxmlformats.org/drawingml/2006/main" noGrp="1"/>
          </p:cNvSpPr>
          <p:nvPr/>
        </p:nvSpPr>
        <p:spPr>
          <a:xfrm xmlns:a="http://schemas.openxmlformats.org/drawingml/2006/main">
            <a:off x="666750" y="5248275"/>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0">
                <a:solidFill>
                  <a:srgbClr val="536273"/>
                </a:solidFill>
                <a:latin typeface="Arial"/>
                <a:ea typeface="Arial"/>
                <a:cs typeface="Arial"/>
              </a:defRPr>
            </a:pPr>
            <a:r>
              <a:rPr sz="1200" b="0">
                <a:solidFill>
                  <a:srgbClr val="536273"/>
                </a:solidFill>
                <a:latin typeface="Arial"/>
                <a:ea typeface="Arial"/>
                <a:cs typeface="Arial"/>
              </a:rPr>
              <a:t>referentni rezultat</a:t>
            </a:r>
          </a:p>
        </p:txBody>
      </p:sp>
      <p:sp>
        <p:nvSpPr>
          <p:cNvPr id="17" name="">
            <a:extLst xmlns:a="http://schemas.openxmlformats.org/drawingml/2006/main">
              <a:ext uri="{FF2B5EF4-FFF2-40B4-BE49-F238E27FC236}">
                <a16:creationId xmlns:a16="http://schemas.microsoft.com/office/drawing/2014/main" id="{41C8FFA6-D31C-4A4C-955A-DAD655AC4DAC}"/>
              </a:ext>
            </a:extLst>
          </p:cNvPr>
          <p:cNvSpPr>
            <a:spLocks xmlns:a="http://schemas.openxmlformats.org/drawingml/2006/main" noGrp="1"/>
          </p:cNvSpPr>
          <p:nvPr/>
        </p:nvSpPr>
        <p:spPr>
          <a:xfrm xmlns:a="http://schemas.openxmlformats.org/drawingml/2006/main">
            <a:off x="3524250" y="49053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123B63"/>
                </a:solidFill>
                <a:latin typeface="Arial"/>
                <a:ea typeface="Arial"/>
                <a:cs typeface="Arial"/>
              </a:defRPr>
            </a:pPr>
            <a:r>
              <a:rPr sz="1425" b="1">
                <a:solidFill>
                  <a:srgbClr val="123B63"/>
                </a:solidFill>
                <a:latin typeface="Arial"/>
                <a:ea typeface="Arial"/>
                <a:cs typeface="Arial"/>
              </a:rPr>
              <a:t>Slučajna pretraga</a:t>
            </a:r>
          </a:p>
        </p:txBody>
      </p:sp>
      <p:sp>
        <p:nvSpPr>
          <p:cNvPr id="18" name="">
            <a:extLst xmlns:a="http://schemas.openxmlformats.org/drawingml/2006/main">
              <a:ext uri="{FF2B5EF4-FFF2-40B4-BE49-F238E27FC236}">
                <a16:creationId xmlns:a16="http://schemas.microsoft.com/office/drawing/2014/main" id="{AE3A1996-92D4-43DB-8CEC-6DC600104CEA}"/>
              </a:ext>
            </a:extLst>
          </p:cNvPr>
          <p:cNvSpPr>
            <a:spLocks xmlns:a="http://schemas.openxmlformats.org/drawingml/2006/main" noGrp="1"/>
          </p:cNvSpPr>
          <p:nvPr/>
        </p:nvSpPr>
        <p:spPr>
          <a:xfrm xmlns:a="http://schemas.openxmlformats.org/drawingml/2006/main">
            <a:off x="3524250" y="5248275"/>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0">
                <a:solidFill>
                  <a:srgbClr val="536273"/>
                </a:solidFill>
                <a:latin typeface="Arial"/>
                <a:ea typeface="Arial"/>
                <a:cs typeface="Arial"/>
              </a:defRPr>
            </a:pPr>
            <a:r>
              <a:rPr sz="1200" b="0">
                <a:solidFill>
                  <a:srgbClr val="536273"/>
                </a:solidFill>
                <a:latin typeface="Arial"/>
                <a:ea typeface="Arial"/>
                <a:cs typeface="Arial"/>
              </a:rPr>
              <a:t>kontrolna metoda</a:t>
            </a:r>
          </a:p>
        </p:txBody>
      </p:sp>
      <p:sp>
        <p:nvSpPr>
          <p:cNvPr id="19" name="">
            <a:extLst xmlns:a="http://schemas.openxmlformats.org/drawingml/2006/main">
              <a:ext uri="{FF2B5EF4-FFF2-40B4-BE49-F238E27FC236}">
                <a16:creationId xmlns:a16="http://schemas.microsoft.com/office/drawing/2014/main" id="{A10D80B6-7FBB-4784-AC30-C0EBB2700D45}"/>
              </a:ext>
            </a:extLst>
          </p:cNvPr>
          <p:cNvSpPr>
            <a:spLocks xmlns:a="http://schemas.openxmlformats.org/drawingml/2006/main" noGrp="1"/>
          </p:cNvSpPr>
          <p:nvPr/>
        </p:nvSpPr>
        <p:spPr>
          <a:xfrm xmlns:a="http://schemas.openxmlformats.org/drawingml/2006/main">
            <a:off x="6381750" y="49053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123B63"/>
                </a:solidFill>
                <a:latin typeface="Arial"/>
                <a:ea typeface="Arial"/>
                <a:cs typeface="Arial"/>
              </a:defRPr>
            </a:pPr>
            <a:r>
              <a:rPr sz="1425" b="1">
                <a:solidFill>
                  <a:srgbClr val="123B63"/>
                </a:solidFill>
                <a:latin typeface="Arial"/>
                <a:ea typeface="Arial"/>
                <a:cs typeface="Arial"/>
              </a:rPr>
              <a:t>Više pokretanja</a:t>
            </a:r>
          </a:p>
        </p:txBody>
      </p:sp>
      <p:sp>
        <p:nvSpPr>
          <p:cNvPr id="20" name="">
            <a:extLst xmlns:a="http://schemas.openxmlformats.org/drawingml/2006/main">
              <a:ext uri="{FF2B5EF4-FFF2-40B4-BE49-F238E27FC236}">
                <a16:creationId xmlns:a16="http://schemas.microsoft.com/office/drawing/2014/main" id="{9C3DB3F0-427E-4117-BFB9-F5CBDECAC855}"/>
              </a:ext>
            </a:extLst>
          </p:cNvPr>
          <p:cNvSpPr>
            <a:spLocks xmlns:a="http://schemas.openxmlformats.org/drawingml/2006/main" noGrp="1"/>
          </p:cNvSpPr>
          <p:nvPr/>
        </p:nvSpPr>
        <p:spPr>
          <a:xfrm xmlns:a="http://schemas.openxmlformats.org/drawingml/2006/main">
            <a:off x="6381750" y="5248275"/>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0">
                <a:solidFill>
                  <a:srgbClr val="536273"/>
                </a:solidFill>
                <a:latin typeface="Arial"/>
                <a:ea typeface="Arial"/>
                <a:cs typeface="Arial"/>
              </a:defRPr>
            </a:pPr>
            <a:r>
              <a:rPr sz="1200" b="0">
                <a:solidFill>
                  <a:srgbClr val="536273"/>
                </a:solidFill>
                <a:latin typeface="Arial"/>
                <a:ea typeface="Arial"/>
                <a:cs typeface="Arial"/>
              </a:rPr>
              <a:t>stabilnost rezultata</a:t>
            </a:r>
          </a:p>
        </p:txBody>
      </p:sp>
      <p:sp>
        <p:nvSpPr>
          <p:cNvPr id="21" name="">
            <a:extLst xmlns:a="http://schemas.openxmlformats.org/drawingml/2006/main">
              <a:ext uri="{FF2B5EF4-FFF2-40B4-BE49-F238E27FC236}">
                <a16:creationId xmlns:a16="http://schemas.microsoft.com/office/drawing/2014/main" id="{6B70B27F-9034-49EA-854F-43EB26B12B6B}"/>
              </a:ext>
            </a:extLst>
          </p:cNvPr>
          <p:cNvSpPr>
            <a:spLocks xmlns:a="http://schemas.openxmlformats.org/drawingml/2006/main" noGrp="1"/>
          </p:cNvSpPr>
          <p:nvPr/>
        </p:nvSpPr>
        <p:spPr>
          <a:xfrm xmlns:a="http://schemas.openxmlformats.org/drawingml/2006/main">
            <a:off x="9239250" y="49053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123B63"/>
                </a:solidFill>
                <a:latin typeface="Arial"/>
                <a:ea typeface="Arial"/>
                <a:cs typeface="Arial"/>
              </a:defRPr>
            </a:pPr>
            <a:r>
              <a:rPr sz="1425" b="1">
                <a:solidFill>
                  <a:srgbClr val="123B63"/>
                </a:solidFill>
                <a:latin typeface="Arial"/>
                <a:ea typeface="Arial"/>
                <a:cs typeface="Arial"/>
              </a:rPr>
              <a:t>Isti hardver</a:t>
            </a:r>
          </a:p>
        </p:txBody>
      </p:sp>
      <p:sp>
        <p:nvSpPr>
          <p:cNvPr id="22" name="">
            <a:extLst xmlns:a="http://schemas.openxmlformats.org/drawingml/2006/main">
              <a:ext uri="{FF2B5EF4-FFF2-40B4-BE49-F238E27FC236}">
                <a16:creationId xmlns:a16="http://schemas.microsoft.com/office/drawing/2014/main" id="{84171E27-A286-4BBF-970A-C0E8930906ED}"/>
              </a:ext>
            </a:extLst>
          </p:cNvPr>
          <p:cNvSpPr>
            <a:spLocks xmlns:a="http://schemas.openxmlformats.org/drawingml/2006/main" noGrp="1"/>
          </p:cNvSpPr>
          <p:nvPr/>
        </p:nvSpPr>
        <p:spPr>
          <a:xfrm xmlns:a="http://schemas.openxmlformats.org/drawingml/2006/main">
            <a:off x="9239250" y="5248275"/>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0">
                <a:solidFill>
                  <a:srgbClr val="536273"/>
                </a:solidFill>
                <a:latin typeface="Arial"/>
                <a:ea typeface="Arial"/>
                <a:cs typeface="Arial"/>
              </a:defRPr>
            </a:pPr>
            <a:r>
              <a:rPr sz="1200" b="0">
                <a:solidFill>
                  <a:srgbClr val="536273"/>
                </a:solidFill>
                <a:latin typeface="Arial"/>
                <a:ea typeface="Arial"/>
                <a:cs typeface="Arial"/>
              </a:rPr>
              <a:t>M1 Pro · 16 GB RAM</a:t>
            </a:r>
          </a:p>
        </p:txBody>
      </p:sp>
      <p:sp>
        <p:nvSpPr>
          <p:cNvPr id="23" name="">
            <a:extLst xmlns:a="http://schemas.openxmlformats.org/drawingml/2006/main">
              <a:ext uri="{FF2B5EF4-FFF2-40B4-BE49-F238E27FC236}">
                <a16:creationId xmlns:a16="http://schemas.microsoft.com/office/drawing/2014/main" id="{B37C2323-A9DA-4E3E-9F58-79B30C250275}"/>
              </a:ext>
            </a:extLst>
          </p:cNvPr>
          <p:cNvSpPr>
            <a:spLocks xmlns:a="http://schemas.openxmlformats.org/drawingml/2006/main" noGrp="1"/>
          </p:cNvSpPr>
          <p:nvPr/>
        </p:nvSpPr>
        <p:spPr>
          <a:xfrm xmlns:a="http://schemas.openxmlformats.org/drawingml/2006/main">
            <a:off x="533400" y="5734050"/>
            <a:ext cx="11125200" cy="342900"/>
          </a:xfrm>
          <a:prstGeom xmlns:a="http://schemas.openxmlformats.org/drawingml/2006/main" prst="rect">
            <a:avLst/>
          </a:prstGeom>
          <a:solidFill xmlns:a="http://schemas.openxmlformats.org/drawingml/2006/main">
            <a:srgbClr val="EAF3F9"/>
          </a:solidFill>
          <a:ln xmlns:a="http://schemas.openxmlformats.org/drawingml/2006/main" w="9525">
            <a:solidFill>
              <a:srgbClr val="EAF3F9"/>
            </a:solidFill>
            <a:prstDash val="solid"/>
          </a:ln>
        </p:spPr>
      </p:sp>
      <p:sp>
        <p:nvSpPr>
          <p:cNvPr id="24" name="">
            <a:extLst xmlns:a="http://schemas.openxmlformats.org/drawingml/2006/main">
              <a:ext uri="{FF2B5EF4-FFF2-40B4-BE49-F238E27FC236}">
                <a16:creationId xmlns:a16="http://schemas.microsoft.com/office/drawing/2014/main" id="{3CAD6B92-C8B6-40D3-B65C-AF02301CF4EF}"/>
              </a:ext>
            </a:extLst>
          </p:cNvPr>
          <p:cNvSpPr>
            <a:spLocks xmlns:a="http://schemas.openxmlformats.org/drawingml/2006/main" noGrp="1"/>
          </p:cNvSpPr>
          <p:nvPr/>
        </p:nvSpPr>
        <p:spPr>
          <a:xfrm xmlns:a="http://schemas.openxmlformats.org/drawingml/2006/main">
            <a:off x="723900" y="5810250"/>
            <a:ext cx="10744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b="1">
                <a:solidFill>
                  <a:srgbClr val="123B63"/>
                </a:solidFill>
                <a:latin typeface="Arial"/>
                <a:ea typeface="Arial"/>
                <a:cs typeface="Arial"/>
              </a:defRPr>
            </a:pPr>
            <a:r>
              <a:rPr sz="1200" b="1">
                <a:solidFill>
                  <a:srgbClr val="123B63"/>
                </a:solidFill>
                <a:latin typeface="Arial"/>
                <a:ea typeface="Arial"/>
                <a:cs typeface="Arial"/>
              </a:rPr>
              <a:t>Online provera: NEOS + Gurobi rešili su 10×10 i 100×100; problem sa 1.000.000 promenljivih nije mogao da se reši tim putem.</a:t>
            </a:r>
          </a:p>
        </p:txBody>
      </p:sp>
    </p:spTree>
    <p:extLst>
      <p:ext uri="{BB962C8B-B14F-4D97-AF65-F5344CB8AC3E}">
        <p14:creationId xmlns:p14="http://schemas.microsoft.com/office/powerpoint/2010/main" val="10621711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lide-6-title">
            <a:extLst xmlns:a="http://schemas.openxmlformats.org/drawingml/2006/main">
              <a:ext uri="{FF2B5EF4-FFF2-40B4-BE49-F238E27FC236}">
                <a16:creationId xmlns:a16="http://schemas.microsoft.com/office/drawing/2014/main" id="{4BE21A62-2B41-40BC-9F97-F8BFD8FB9826}"/>
              </a:ext>
            </a:extLst>
          </p:cNvPr>
          <p:cNvSpPr>
            <a:spLocks xmlns:a="http://schemas.openxmlformats.org/drawingml/2006/main" noGrp="1"/>
          </p:cNvSpPr>
          <p:nvPr/>
        </p:nvSpPr>
        <p:spPr>
          <a:xfrm xmlns:a="http://schemas.openxmlformats.org/drawingml/2006/main">
            <a:off x="533400" y="32385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850" b="1">
                <a:solidFill>
                  <a:srgbClr val="111827"/>
                </a:solidFill>
                <a:latin typeface="Arial"/>
                <a:ea typeface="Arial"/>
                <a:cs typeface="Arial"/>
              </a:defRPr>
            </a:pPr>
            <a:r>
              <a:rPr sz="2850" b="1">
                <a:solidFill>
                  <a:srgbClr val="111827"/>
                </a:solidFill>
                <a:latin typeface="Arial"/>
                <a:ea typeface="Arial"/>
                <a:cs typeface="Arial"/>
              </a:rPr>
              <a:t>GA dostiže 97–99% optimuma, ali HiGHS ostaje najefikasniji</a:t>
            </a:r>
          </a:p>
        </p:txBody>
      </p:sp>
      <p:cxnSp>
        <p:nvCxnSpPr>
          <p:cNvPr id="32" name="slide-6-header-rule"/>
          <p:cNvCxnSpPr/>
          <p:nvPr/>
        </p:nvCxnSpPr>
        <p:spPr>
          <a:xfrm xmlns:a="http://schemas.openxmlformats.org/drawingml/2006/main">
            <a:off x="533400" y="1143000"/>
            <a:ext cx="11125200" cy="0"/>
          </a:xfrm>
          <a:prstGeom xmlns:a="http://schemas.openxmlformats.org/drawingml/2006/main" prst="straightConnector1">
            <a:avLst/>
          </a:prstGeom>
          <a:ln xmlns:a="http://schemas.openxmlformats.org/drawingml/2006/main" w="9525">
            <a:solidFill>
              <a:srgbClr val="C7D0D9"/>
            </a:solidFill>
            <a:prstDash val="solid"/>
          </a:ln>
        </p:spPr>
      </p:cxnSp>
      <p:sp>
        <p:nvSpPr>
          <p:cNvPr id="3" name="slide-6-number">
            <a:extLst xmlns:a="http://schemas.openxmlformats.org/drawingml/2006/main">
              <a:ext uri="{FF2B5EF4-FFF2-40B4-BE49-F238E27FC236}">
                <a16:creationId xmlns:a16="http://schemas.microsoft.com/office/drawing/2014/main" id="{E0953594-67FA-4FBA-AF75-17189761A782}"/>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6/12</a:t>
            </a:r>
          </a:p>
        </p:txBody>
      </p:sp>
      <p:sp>
        <p:nvSpPr>
          <p:cNvPr id="4" name="slide-6-footer">
            <a:extLst xmlns:a="http://schemas.openxmlformats.org/drawingml/2006/main">
              <a:ext uri="{FF2B5EF4-FFF2-40B4-BE49-F238E27FC236}">
                <a16:creationId xmlns:a16="http://schemas.microsoft.com/office/drawing/2014/main" id="{03AAB534-58C0-4A98-9122-0B3F7A9CCE0C}"/>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
        <p:nvSpPr>
          <p:cNvPr id="5" name="">
            <a:extLst xmlns:a="http://schemas.openxmlformats.org/drawingml/2006/main">
              <a:ext uri="{FF2B5EF4-FFF2-40B4-BE49-F238E27FC236}">
                <a16:creationId xmlns:a16="http://schemas.microsoft.com/office/drawing/2014/main" id="{FDF10B23-641F-4A1B-917D-DB79DBF2B5C0}"/>
              </a:ext>
            </a:extLst>
          </p:cNvPr>
          <p:cNvSpPr>
            <a:spLocks xmlns:a="http://schemas.openxmlformats.org/drawingml/2006/main" noGrp="1"/>
          </p:cNvSpPr>
          <p:nvPr/>
        </p:nvSpPr>
        <p:spPr>
          <a:xfrm xmlns:a="http://schemas.openxmlformats.org/drawingml/2006/main">
            <a:off x="533400" y="13335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536273"/>
                </a:solidFill>
                <a:latin typeface="Arial"/>
                <a:ea typeface="Arial"/>
                <a:cs typeface="Arial"/>
              </a:defRPr>
            </a:pPr>
            <a:r>
              <a:rPr sz="1050" b="1">
                <a:solidFill>
                  <a:srgbClr val="536273"/>
                </a:solidFill>
                <a:latin typeface="Arial"/>
                <a:ea typeface="Arial"/>
                <a:cs typeface="Arial"/>
              </a:rPr>
              <a:t>Kvalitet rešenja (% optimuma)</a:t>
            </a:r>
          </a:p>
        </p:txBody>
      </p:sp>
      <p:graphicFrame>
        <p:nvGraphicFramePr>
          <p:cNvPr id="36" name="Chart"/>
          <p:cNvGraphicFramePr/>
          <p:nvPr/>
        </p:nvGraphicFramePr>
        <p:xfrm>
          <a:off xmlns:a="http://schemas.openxmlformats.org/drawingml/2006/main" x="533400" y="1562100"/>
          <a:ext xmlns:a="http://schemas.openxmlformats.org/drawingml/2006/main" cx="7239000" cy="4324350"/>
        </p:xfrm>
        <a:graphic xmlns:a="http://schemas.openxmlformats.org/drawingml/2006/main">
          <a:graphicData uri="http://schemas.openxmlformats.org/drawingml/2006/chart">
            <c:chart xmlns:r="http://schemas.openxmlformats.org/officeDocument/2006/relationships" xmlns:c="http://schemas.openxmlformats.org/drawingml/2006/chart" r:id="R73a8dff73ee64ca3"/>
          </a:graphicData>
        </a:graphic>
      </p:graphicFrame>
      <p:sp>
        <p:nvSpPr>
          <p:cNvPr id="7" name="">
            <a:extLst xmlns:a="http://schemas.openxmlformats.org/drawingml/2006/main">
              <a:ext uri="{FF2B5EF4-FFF2-40B4-BE49-F238E27FC236}">
                <a16:creationId xmlns:a16="http://schemas.microsoft.com/office/drawing/2014/main" id="{02ADD5C5-5992-4729-BA76-7CF30645FCB0}"/>
              </a:ext>
            </a:extLst>
          </p:cNvPr>
          <p:cNvSpPr>
            <a:spLocks xmlns:a="http://schemas.openxmlformats.org/drawingml/2006/main" noGrp="1"/>
          </p:cNvSpPr>
          <p:nvPr/>
        </p:nvSpPr>
        <p:spPr>
          <a:xfrm xmlns:a="http://schemas.openxmlformats.org/drawingml/2006/main">
            <a:off x="8153400" y="1562100"/>
            <a:ext cx="3505200" cy="12192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8" name="">
            <a:extLst xmlns:a="http://schemas.openxmlformats.org/drawingml/2006/main">
              <a:ext uri="{FF2B5EF4-FFF2-40B4-BE49-F238E27FC236}">
                <a16:creationId xmlns:a16="http://schemas.microsoft.com/office/drawing/2014/main" id="{223C4E3B-0DA3-4B50-8B8E-2970AE37FD18}"/>
              </a:ext>
            </a:extLst>
          </p:cNvPr>
          <p:cNvSpPr>
            <a:spLocks xmlns:a="http://schemas.openxmlformats.org/drawingml/2006/main" noGrp="1"/>
          </p:cNvSpPr>
          <p:nvPr/>
        </p:nvSpPr>
        <p:spPr>
          <a:xfrm xmlns:a="http://schemas.openxmlformats.org/drawingml/2006/main">
            <a:off x="8420100" y="1790700"/>
            <a:ext cx="2971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123B63"/>
                </a:solidFill>
                <a:latin typeface="Arial"/>
                <a:ea typeface="Arial"/>
                <a:cs typeface="Arial"/>
              </a:defRPr>
            </a:pPr>
            <a:r>
              <a:rPr sz="1425" b="1">
                <a:solidFill>
                  <a:srgbClr val="123B63"/>
                </a:solidFill>
                <a:latin typeface="Arial"/>
                <a:ea typeface="Arial"/>
                <a:cs typeface="Arial"/>
              </a:rPr>
              <a:t>HiGHS vreme</a:t>
            </a:r>
          </a:p>
        </p:txBody>
      </p:sp>
      <p:sp>
        <p:nvSpPr>
          <p:cNvPr id="9" name="">
            <a:extLst xmlns:a="http://schemas.openxmlformats.org/drawingml/2006/main">
              <a:ext uri="{FF2B5EF4-FFF2-40B4-BE49-F238E27FC236}">
                <a16:creationId xmlns:a16="http://schemas.microsoft.com/office/drawing/2014/main" id="{DDB5DE24-E403-40EC-A07F-A3A7F67BC6D6}"/>
              </a:ext>
            </a:extLst>
          </p:cNvPr>
          <p:cNvSpPr>
            <a:spLocks xmlns:a="http://schemas.openxmlformats.org/drawingml/2006/main" noGrp="1"/>
          </p:cNvSpPr>
          <p:nvPr/>
        </p:nvSpPr>
        <p:spPr>
          <a:xfrm xmlns:a="http://schemas.openxmlformats.org/drawingml/2006/main">
            <a:off x="8420100" y="2105025"/>
            <a:ext cx="2971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656"/>
          </a:bodyPr>
          <a:lstStyle xmlns:a="http://schemas.openxmlformats.org/drawingml/2006/main"/>
          <a:p xmlns:a="http://schemas.openxmlformats.org/drawingml/2006/main">
            <a:pPr algn="l">
              <a:buNone/>
              <a:defRPr sz="1575" b="1">
                <a:solidFill>
                  <a:srgbClr val="111827"/>
                </a:solidFill>
                <a:latin typeface="Arial"/>
                <a:ea typeface="Arial"/>
                <a:cs typeface="Arial"/>
              </a:defRPr>
            </a:pPr>
            <a:r>
              <a:rPr sz="1575" b="1">
                <a:solidFill>
                  <a:srgbClr val="111827"/>
                </a:solidFill>
                <a:latin typeface="Arial"/>
                <a:ea typeface="Arial"/>
                <a:cs typeface="Arial"/>
              </a:rPr>
              <a:t>10×10  &lt;1 s
100×100  7,7 s
1000×1000  185 s</a:t>
            </a:r>
          </a:p>
        </p:txBody>
      </p:sp>
      <p:sp>
        <p:nvSpPr>
          <p:cNvPr id="10" name="">
            <a:extLst xmlns:a="http://schemas.openxmlformats.org/drawingml/2006/main">
              <a:ext uri="{FF2B5EF4-FFF2-40B4-BE49-F238E27FC236}">
                <a16:creationId xmlns:a16="http://schemas.microsoft.com/office/drawing/2014/main" id="{B0997F7F-CE57-4328-B4F2-5CB2F6DABF67}"/>
              </a:ext>
            </a:extLst>
          </p:cNvPr>
          <p:cNvSpPr>
            <a:spLocks xmlns:a="http://schemas.openxmlformats.org/drawingml/2006/main" noGrp="1"/>
          </p:cNvSpPr>
          <p:nvPr/>
        </p:nvSpPr>
        <p:spPr>
          <a:xfrm xmlns:a="http://schemas.openxmlformats.org/drawingml/2006/main">
            <a:off x="8153400" y="3009900"/>
            <a:ext cx="3505200" cy="12192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1" name="">
            <a:extLst xmlns:a="http://schemas.openxmlformats.org/drawingml/2006/main">
              <a:ext uri="{FF2B5EF4-FFF2-40B4-BE49-F238E27FC236}">
                <a16:creationId xmlns:a16="http://schemas.microsoft.com/office/drawing/2014/main" id="{D8CBB47A-E6DD-4508-9C68-B4E10917E096}"/>
              </a:ext>
            </a:extLst>
          </p:cNvPr>
          <p:cNvSpPr>
            <a:spLocks xmlns:a="http://schemas.openxmlformats.org/drawingml/2006/main" noGrp="1"/>
          </p:cNvSpPr>
          <p:nvPr/>
        </p:nvSpPr>
        <p:spPr>
          <a:xfrm xmlns:a="http://schemas.openxmlformats.org/drawingml/2006/main">
            <a:off x="8420100" y="3238500"/>
            <a:ext cx="2971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a:solidFill>
                  <a:srgbClr val="123B63"/>
                </a:solidFill>
                <a:latin typeface="Arial"/>
                <a:ea typeface="Arial"/>
                <a:cs typeface="Arial"/>
              </a:defRPr>
            </a:pPr>
            <a:r>
              <a:rPr sz="1425" b="1">
                <a:solidFill>
                  <a:srgbClr val="123B63"/>
                </a:solidFill>
                <a:latin typeface="Arial"/>
                <a:ea typeface="Arial"/>
                <a:cs typeface="Arial"/>
              </a:rPr>
              <a:t>GA vreme</a:t>
            </a:r>
          </a:p>
        </p:txBody>
      </p:sp>
      <p:sp>
        <p:nvSpPr>
          <p:cNvPr id="12" name="">
            <a:extLst xmlns:a="http://schemas.openxmlformats.org/drawingml/2006/main">
              <a:ext uri="{FF2B5EF4-FFF2-40B4-BE49-F238E27FC236}">
                <a16:creationId xmlns:a16="http://schemas.microsoft.com/office/drawing/2014/main" id="{34551533-90FA-4069-BF21-8568182A2780}"/>
              </a:ext>
            </a:extLst>
          </p:cNvPr>
          <p:cNvSpPr>
            <a:spLocks xmlns:a="http://schemas.openxmlformats.org/drawingml/2006/main" noGrp="1"/>
          </p:cNvSpPr>
          <p:nvPr/>
        </p:nvSpPr>
        <p:spPr>
          <a:xfrm xmlns:a="http://schemas.openxmlformats.org/drawingml/2006/main">
            <a:off x="8420100" y="3552825"/>
            <a:ext cx="2971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89"/>
          </a:bodyPr>
          <a:lstStyle xmlns:a="http://schemas.openxmlformats.org/drawingml/2006/main"/>
          <a:p xmlns:a="http://schemas.openxmlformats.org/drawingml/2006/main">
            <a:pPr algn="l">
              <a:buNone/>
              <a:defRPr sz="1500" b="1">
                <a:solidFill>
                  <a:srgbClr val="111827"/>
                </a:solidFill>
                <a:latin typeface="Arial"/>
                <a:ea typeface="Arial"/>
                <a:cs typeface="Arial"/>
              </a:defRPr>
            </a:pPr>
            <a:r>
              <a:rPr sz="1500" b="1">
                <a:solidFill>
                  <a:srgbClr val="111827"/>
                </a:solidFill>
                <a:latin typeface="Arial"/>
                <a:ea typeface="Arial"/>
                <a:cs typeface="Arial"/>
              </a:rPr>
              <a:t>10×10  &lt;1 s
100×100  do 30 min
1000×1000  do 4,3 h</a:t>
            </a:r>
          </a:p>
        </p:txBody>
      </p:sp>
      <p:sp>
        <p:nvSpPr>
          <p:cNvPr id="13" name="">
            <a:extLst xmlns:a="http://schemas.openxmlformats.org/drawingml/2006/main">
              <a:ext uri="{FF2B5EF4-FFF2-40B4-BE49-F238E27FC236}">
                <a16:creationId xmlns:a16="http://schemas.microsoft.com/office/drawing/2014/main" id="{CA78554B-82DF-410E-AFBB-882D62FCF465}"/>
              </a:ext>
            </a:extLst>
          </p:cNvPr>
          <p:cNvSpPr>
            <a:spLocks xmlns:a="http://schemas.openxmlformats.org/drawingml/2006/main" noGrp="1"/>
          </p:cNvSpPr>
          <p:nvPr/>
        </p:nvSpPr>
        <p:spPr>
          <a:xfrm xmlns:a="http://schemas.openxmlformats.org/drawingml/2006/main">
            <a:off x="8153400" y="4457700"/>
            <a:ext cx="3505200" cy="1428750"/>
          </a:xfrm>
          <a:prstGeom xmlns:a="http://schemas.openxmlformats.org/drawingml/2006/main" prst="rect">
            <a:avLst/>
          </a:prstGeom>
          <a:solidFill xmlns:a="http://schemas.openxmlformats.org/drawingml/2006/main">
            <a:srgbClr val="123B63"/>
          </a:solidFill>
          <a:ln xmlns:a="http://schemas.openxmlformats.org/drawingml/2006/main" w="9525">
            <a:solidFill>
              <a:srgbClr val="123B63"/>
            </a:solidFill>
            <a:prstDash val="solid"/>
          </a:ln>
        </p:spPr>
      </p:sp>
      <p:sp>
        <p:nvSpPr>
          <p:cNvPr id="14" name="">
            <a:extLst xmlns:a="http://schemas.openxmlformats.org/drawingml/2006/main">
              <a:ext uri="{FF2B5EF4-FFF2-40B4-BE49-F238E27FC236}">
                <a16:creationId xmlns:a16="http://schemas.microsoft.com/office/drawing/2014/main" id="{194A0B0F-81AE-4268-9E2F-784E2F5F2A4B}"/>
              </a:ext>
            </a:extLst>
          </p:cNvPr>
          <p:cNvSpPr>
            <a:spLocks xmlns:a="http://schemas.openxmlformats.org/drawingml/2006/main" noGrp="1"/>
          </p:cNvSpPr>
          <p:nvPr/>
        </p:nvSpPr>
        <p:spPr>
          <a:xfrm xmlns:a="http://schemas.openxmlformats.org/drawingml/2006/main">
            <a:off x="8420100" y="4686300"/>
            <a:ext cx="2971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73B9E6"/>
                </a:solidFill>
                <a:latin typeface="Arial"/>
                <a:ea typeface="Arial"/>
                <a:cs typeface="Arial"/>
              </a:defRPr>
            </a:pPr>
            <a:r>
              <a:rPr sz="1350" b="1">
                <a:solidFill>
                  <a:srgbClr val="73B9E6"/>
                </a:solidFill>
                <a:latin typeface="Arial"/>
                <a:ea typeface="Arial"/>
                <a:cs typeface="Arial"/>
              </a:rPr>
              <a:t>Zaključak</a:t>
            </a:r>
          </a:p>
        </p:txBody>
      </p:sp>
      <p:sp>
        <p:nvSpPr>
          <p:cNvPr id="15" name="">
            <a:extLst xmlns:a="http://schemas.openxmlformats.org/drawingml/2006/main">
              <a:ext uri="{FF2B5EF4-FFF2-40B4-BE49-F238E27FC236}">
                <a16:creationId xmlns:a16="http://schemas.microsoft.com/office/drawing/2014/main" id="{1B9FD503-7E49-49B3-88F3-6B51C7008A12}"/>
              </a:ext>
            </a:extLst>
          </p:cNvPr>
          <p:cNvSpPr>
            <a:spLocks xmlns:a="http://schemas.openxmlformats.org/drawingml/2006/main" noGrp="1"/>
          </p:cNvSpPr>
          <p:nvPr/>
        </p:nvSpPr>
        <p:spPr>
          <a:xfrm xmlns:a="http://schemas.openxmlformats.org/drawingml/2006/main">
            <a:off x="8420100" y="5076825"/>
            <a:ext cx="2971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64"/>
          </a:bodyPr>
          <a:lstStyle xmlns:a="http://schemas.openxmlformats.org/drawingml/2006/main"/>
          <a:p xmlns:a="http://schemas.openxmlformats.org/drawingml/2006/main">
            <a:pPr algn="l">
              <a:buNone/>
              <a:defRPr sz="1575" b="1">
                <a:solidFill>
                  <a:srgbClr val="FFFFFF"/>
                </a:solidFill>
                <a:latin typeface="Arial"/>
                <a:ea typeface="Arial"/>
                <a:cs typeface="Arial"/>
              </a:defRPr>
            </a:pPr>
            <a:r>
              <a:rPr sz="1575" b="1">
                <a:solidFill>
                  <a:srgbClr val="FFFFFF"/>
                </a:solidFill>
                <a:latin typeface="Arial"/>
                <a:ea typeface="Arial"/>
                <a:cs typeface="Arial"/>
              </a:rPr>
              <a:t>Na ispitanim linearnim instancama HiGHS je i bolji i brži.</a:t>
            </a:r>
          </a:p>
        </p:txBody>
      </p:sp>
    </p:spTree>
    <p:extLst>
      <p:ext uri="{BB962C8B-B14F-4D97-AF65-F5344CB8AC3E}">
        <p14:creationId xmlns:p14="http://schemas.microsoft.com/office/powerpoint/2010/main" val="158981617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7-title">
            <a:extLst xmlns:a="http://schemas.openxmlformats.org/drawingml/2006/main">
              <a:ext uri="{FF2B5EF4-FFF2-40B4-BE49-F238E27FC236}">
                <a16:creationId xmlns:a16="http://schemas.microsoft.com/office/drawing/2014/main" id="{B3DFE990-66C3-44EE-A827-02D91803C77C}"/>
              </a:ext>
            </a:extLst>
          </p:cNvPr>
          <p:cNvSpPr>
            <a:spLocks xmlns:a="http://schemas.openxmlformats.org/drawingml/2006/main" noGrp="1"/>
          </p:cNvSpPr>
          <p:nvPr/>
        </p:nvSpPr>
        <p:spPr>
          <a:xfrm xmlns:a="http://schemas.openxmlformats.org/drawingml/2006/main">
            <a:off x="533400" y="32385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678"/>
          </a:bodyPr>
          <a:lstStyle xmlns:a="http://schemas.openxmlformats.org/drawingml/2006/main"/>
          <a:p xmlns:a="http://schemas.openxmlformats.org/drawingml/2006/main">
            <a:pPr algn="l">
              <a:buNone/>
              <a:defRPr sz="2850" b="1">
                <a:solidFill>
                  <a:srgbClr val="111827"/>
                </a:solidFill>
                <a:latin typeface="Arial"/>
                <a:ea typeface="Arial"/>
                <a:cs typeface="Arial"/>
              </a:defRPr>
            </a:pPr>
            <a:r>
              <a:rPr sz="2850" b="1">
                <a:solidFill>
                  <a:srgbClr val="111827"/>
                </a:solidFill>
                <a:latin typeface="Arial"/>
                <a:ea typeface="Arial"/>
                <a:cs typeface="Arial"/>
              </a:rPr>
              <a:t>Evolutivni operatori donose veliki dobitak u odnosu na slučajnu pretragu</a:t>
            </a:r>
          </a:p>
        </p:txBody>
      </p:sp>
      <p:cxnSp>
        <p:nvCxnSpPr>
          <p:cNvPr id="28" name="slide-7-header-rule"/>
          <p:cNvCxnSpPr/>
          <p:nvPr/>
        </p:nvCxnSpPr>
        <p:spPr>
          <a:xfrm xmlns:a="http://schemas.openxmlformats.org/drawingml/2006/main">
            <a:off x="533400" y="1143000"/>
            <a:ext cx="11125200" cy="0"/>
          </a:xfrm>
          <a:prstGeom xmlns:a="http://schemas.openxmlformats.org/drawingml/2006/main" prst="straightConnector1">
            <a:avLst/>
          </a:prstGeom>
          <a:ln xmlns:a="http://schemas.openxmlformats.org/drawingml/2006/main" w="9525">
            <a:solidFill>
              <a:srgbClr val="C7D0D9"/>
            </a:solidFill>
            <a:prstDash val="solid"/>
          </a:ln>
        </p:spPr>
      </p:cxnSp>
      <p:sp>
        <p:nvSpPr>
          <p:cNvPr id="3" name="slide-7-number">
            <a:extLst xmlns:a="http://schemas.openxmlformats.org/drawingml/2006/main">
              <a:ext uri="{FF2B5EF4-FFF2-40B4-BE49-F238E27FC236}">
                <a16:creationId xmlns:a16="http://schemas.microsoft.com/office/drawing/2014/main" id="{C8125DE6-2224-4A48-8E82-3789D42CEEB8}"/>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7/12</a:t>
            </a:r>
          </a:p>
        </p:txBody>
      </p:sp>
      <p:sp>
        <p:nvSpPr>
          <p:cNvPr id="4" name="slide-7-footer">
            <a:extLst xmlns:a="http://schemas.openxmlformats.org/drawingml/2006/main">
              <a:ext uri="{FF2B5EF4-FFF2-40B4-BE49-F238E27FC236}">
                <a16:creationId xmlns:a16="http://schemas.microsoft.com/office/drawing/2014/main" id="{6AC1280E-ABC7-49E0-A851-34D19743FEAE}"/>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graphicFrame>
        <p:nvGraphicFramePr>
          <p:cNvPr id="31" name="Chart"/>
          <p:cNvGraphicFramePr/>
          <p:nvPr/>
        </p:nvGraphicFramePr>
        <p:xfrm>
          <a:off xmlns:a="http://schemas.openxmlformats.org/drawingml/2006/main" x="533400" y="1562100"/>
          <a:ext xmlns:a="http://schemas.openxmlformats.org/drawingml/2006/main" cx="7239000" cy="4324350"/>
        </p:xfrm>
        <a:graphic xmlns:a="http://schemas.openxmlformats.org/drawingml/2006/main">
          <a:graphicData uri="http://schemas.openxmlformats.org/drawingml/2006/chart">
            <c:chart xmlns:r="http://schemas.openxmlformats.org/officeDocument/2006/relationships" xmlns:c="http://schemas.openxmlformats.org/drawingml/2006/chart" r:id="Ra2262971577e401f"/>
          </a:graphicData>
        </a:graphic>
      </p:graphicFrame>
      <p:sp>
        <p:nvSpPr>
          <p:cNvPr id="6" name="">
            <a:extLst xmlns:a="http://schemas.openxmlformats.org/drawingml/2006/main">
              <a:ext uri="{FF2B5EF4-FFF2-40B4-BE49-F238E27FC236}">
                <a16:creationId xmlns:a16="http://schemas.microsoft.com/office/drawing/2014/main" id="{0A6179E7-49E2-4ADF-826F-A5B665521F00}"/>
              </a:ext>
            </a:extLst>
          </p:cNvPr>
          <p:cNvSpPr>
            <a:spLocks xmlns:a="http://schemas.openxmlformats.org/drawingml/2006/main" noGrp="1"/>
          </p:cNvSpPr>
          <p:nvPr/>
        </p:nvSpPr>
        <p:spPr>
          <a:xfrm xmlns:a="http://schemas.openxmlformats.org/drawingml/2006/main">
            <a:off x="8153400" y="1562100"/>
            <a:ext cx="3505200" cy="1581150"/>
          </a:xfrm>
          <a:prstGeom xmlns:a="http://schemas.openxmlformats.org/drawingml/2006/main" prst="rect">
            <a:avLst/>
          </a:prstGeom>
          <a:solidFill xmlns:a="http://schemas.openxmlformats.org/drawingml/2006/main">
            <a:srgbClr val="EAF3F9"/>
          </a:solidFill>
          <a:ln xmlns:a="http://schemas.openxmlformats.org/drawingml/2006/main" w="9525">
            <a:solidFill>
              <a:srgbClr val="EAF3F9"/>
            </a:solidFill>
            <a:prstDash val="solid"/>
          </a:ln>
        </p:spPr>
      </p:sp>
      <p:sp>
        <p:nvSpPr>
          <p:cNvPr id="7" name="">
            <a:extLst xmlns:a="http://schemas.openxmlformats.org/drawingml/2006/main">
              <a:ext uri="{FF2B5EF4-FFF2-40B4-BE49-F238E27FC236}">
                <a16:creationId xmlns:a16="http://schemas.microsoft.com/office/drawing/2014/main" id="{B0F98967-0FA5-4FC4-913F-EFB2273B24AC}"/>
              </a:ext>
            </a:extLst>
          </p:cNvPr>
          <p:cNvSpPr>
            <a:spLocks xmlns:a="http://schemas.openxmlformats.org/drawingml/2006/main" noGrp="1"/>
          </p:cNvSpPr>
          <p:nvPr/>
        </p:nvSpPr>
        <p:spPr>
          <a:xfrm xmlns:a="http://schemas.openxmlformats.org/drawingml/2006/main">
            <a:off x="8382000" y="1704975"/>
            <a:ext cx="30480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0">
                <a:solidFill>
                  <a:srgbClr val="111827"/>
                </a:solidFill>
                <a:latin typeface="Arial"/>
                <a:ea typeface="Arial"/>
                <a:cs typeface="Arial"/>
              </a:defRPr>
            </a:pPr>
            <a:r>
              <a:rPr sz="1200" b="0">
                <a:solidFill>
                  <a:srgbClr val="111827"/>
                </a:solidFill>
                <a:latin typeface="Arial"/>
                <a:ea typeface="Arial"/>
                <a:cs typeface="Arial"/>
              </a:rPr>
              <a:t>Velika razlika nije posledica broja evaluacija. Najverovatnije, inicijalizacija i popravka na ovoj instanci često vode do slabijih rešenja, dok GA selekcijom i evolutivnim operatorima usmerava pretragu ka kvalitetnijim raspodelama.</a:t>
            </a:r>
          </a:p>
        </p:txBody>
      </p:sp>
      <p:sp>
        <p:nvSpPr>
          <p:cNvPr id="8" name="">
            <a:extLst xmlns:a="http://schemas.openxmlformats.org/drawingml/2006/main">
              <a:ext uri="{FF2B5EF4-FFF2-40B4-BE49-F238E27FC236}">
                <a16:creationId xmlns:a16="http://schemas.microsoft.com/office/drawing/2014/main" id="{BD3A86EC-8E8E-418E-A1A6-F2D9D89D06FF}"/>
              </a:ext>
            </a:extLst>
          </p:cNvPr>
          <p:cNvSpPr>
            <a:spLocks xmlns:a="http://schemas.openxmlformats.org/drawingml/2006/main" noGrp="1"/>
          </p:cNvSpPr>
          <p:nvPr/>
        </p:nvSpPr>
        <p:spPr>
          <a:xfrm xmlns:a="http://schemas.openxmlformats.org/drawingml/2006/main">
            <a:off x="8153400" y="3276600"/>
            <a:ext cx="3505200" cy="26098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9" name="">
            <a:extLst xmlns:a="http://schemas.openxmlformats.org/drawingml/2006/main">
              <a:ext uri="{FF2B5EF4-FFF2-40B4-BE49-F238E27FC236}">
                <a16:creationId xmlns:a16="http://schemas.microsoft.com/office/drawing/2014/main" id="{D868B4C9-00C3-490A-92F9-4377B58845F9}"/>
              </a:ext>
            </a:extLst>
          </p:cNvPr>
          <p:cNvSpPr>
            <a:spLocks xmlns:a="http://schemas.openxmlformats.org/drawingml/2006/main" noGrp="1"/>
          </p:cNvSpPr>
          <p:nvPr/>
        </p:nvSpPr>
        <p:spPr>
          <a:xfrm xmlns:a="http://schemas.openxmlformats.org/drawingml/2006/main">
            <a:off x="8382000" y="352425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a:solidFill>
                  <a:srgbClr val="2E7D5B"/>
                </a:solidFill>
                <a:latin typeface="Arial"/>
                <a:ea typeface="Arial"/>
                <a:cs typeface="Arial"/>
              </a:defRPr>
            </a:pPr>
            <a:r>
              <a:rPr sz="1575" b="1">
                <a:solidFill>
                  <a:srgbClr val="2E7D5B"/>
                </a:solidFill>
                <a:latin typeface="Arial"/>
                <a:ea typeface="Arial"/>
                <a:cs typeface="Arial"/>
              </a:rPr>
              <a:t>Ista početna procedura</a:t>
            </a:r>
          </a:p>
        </p:txBody>
      </p:sp>
      <p:sp>
        <p:nvSpPr>
          <p:cNvPr id="10" name="">
            <a:extLst xmlns:a="http://schemas.openxmlformats.org/drawingml/2006/main">
              <a:ext uri="{FF2B5EF4-FFF2-40B4-BE49-F238E27FC236}">
                <a16:creationId xmlns:a16="http://schemas.microsoft.com/office/drawing/2014/main" id="{892AAE9C-9F7B-4DC9-991C-E5AD784D3650}"/>
              </a:ext>
            </a:extLst>
          </p:cNvPr>
          <p:cNvSpPr>
            <a:spLocks xmlns:a="http://schemas.openxmlformats.org/drawingml/2006/main" noGrp="1"/>
          </p:cNvSpPr>
          <p:nvPr/>
        </p:nvSpPr>
        <p:spPr>
          <a:xfrm xmlns:a="http://schemas.openxmlformats.org/drawingml/2006/main">
            <a:off x="8382000" y="4000500"/>
            <a:ext cx="304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0">
                <a:solidFill>
                  <a:srgbClr val="536273"/>
                </a:solidFill>
                <a:latin typeface="Arial"/>
                <a:ea typeface="Arial"/>
                <a:cs typeface="Arial"/>
              </a:defRPr>
            </a:pPr>
            <a:r>
              <a:rPr sz="1350" b="0">
                <a:solidFill>
                  <a:srgbClr val="536273"/>
                </a:solidFill>
                <a:latin typeface="Arial"/>
                <a:ea typeface="Arial"/>
                <a:cs typeface="Arial"/>
              </a:rPr>
              <a:t>Slučajna pretraga i GA koriste isto generisanje rešenja i istu popravku.</a:t>
            </a:r>
          </a:p>
        </p:txBody>
      </p:sp>
      <p:sp>
        <p:nvSpPr>
          <p:cNvPr id="11" name="">
            <a:extLst xmlns:a="http://schemas.openxmlformats.org/drawingml/2006/main">
              <a:ext uri="{FF2B5EF4-FFF2-40B4-BE49-F238E27FC236}">
                <a16:creationId xmlns:a16="http://schemas.microsoft.com/office/drawing/2014/main" id="{D3F22EB3-9C94-4070-AEF1-0515C3CD6F52}"/>
              </a:ext>
            </a:extLst>
          </p:cNvPr>
          <p:cNvSpPr>
            <a:spLocks xmlns:a="http://schemas.openxmlformats.org/drawingml/2006/main" noGrp="1"/>
          </p:cNvSpPr>
          <p:nvPr/>
        </p:nvSpPr>
        <p:spPr>
          <a:xfrm xmlns:a="http://schemas.openxmlformats.org/drawingml/2006/main">
            <a:off x="8382000" y="4895850"/>
            <a:ext cx="304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111827"/>
                </a:solidFill>
                <a:latin typeface="Arial"/>
                <a:ea typeface="Arial"/>
                <a:cs typeface="Arial"/>
              </a:defRPr>
            </a:pPr>
            <a:r>
              <a:rPr sz="1350" b="1">
                <a:solidFill>
                  <a:srgbClr val="111827"/>
                </a:solidFill>
                <a:latin typeface="Arial"/>
                <a:ea typeface="Arial"/>
                <a:cs typeface="Arial"/>
              </a:rPr>
              <a:t>Razlika meri doprinos selekcije, ukrštanja, mutacije i elitizma.</a:t>
            </a:r>
          </a:p>
        </p:txBody>
      </p:sp>
    </p:spTree>
    <p:extLst>
      <p:ext uri="{BB962C8B-B14F-4D97-AF65-F5344CB8AC3E}">
        <p14:creationId xmlns:p14="http://schemas.microsoft.com/office/powerpoint/2010/main" val="10925793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lide-8-title">
            <a:extLst xmlns:a="http://schemas.openxmlformats.org/drawingml/2006/main">
              <a:ext uri="{FF2B5EF4-FFF2-40B4-BE49-F238E27FC236}">
                <a16:creationId xmlns:a16="http://schemas.microsoft.com/office/drawing/2014/main" id="{80E0FBC9-B013-4DB2-B6DB-A92FE797A98E}"/>
              </a:ext>
            </a:extLst>
          </p:cNvPr>
          <p:cNvSpPr>
            <a:spLocks xmlns:a="http://schemas.openxmlformats.org/drawingml/2006/main" noGrp="1"/>
          </p:cNvSpPr>
          <p:nvPr/>
        </p:nvSpPr>
        <p:spPr>
          <a:xfrm xmlns:a="http://schemas.openxmlformats.org/drawingml/2006/main">
            <a:off x="533400" y="32385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14"/>
          </a:bodyPr>
          <a:lstStyle xmlns:a="http://schemas.openxmlformats.org/drawingml/2006/main"/>
          <a:p xmlns:a="http://schemas.openxmlformats.org/drawingml/2006/main">
            <a:pPr algn="l">
              <a:buNone/>
              <a:defRPr sz="2850" b="1">
                <a:solidFill>
                  <a:srgbClr val="111827"/>
                </a:solidFill>
                <a:latin typeface="Arial"/>
                <a:ea typeface="Arial"/>
                <a:cs typeface="Arial"/>
              </a:defRPr>
            </a:pPr>
            <a:r>
              <a:rPr sz="2850" b="1">
                <a:solidFill>
                  <a:srgbClr val="111827"/>
                </a:solidFill>
                <a:latin typeface="Arial"/>
                <a:ea typeface="Arial"/>
                <a:cs typeface="Arial"/>
              </a:rPr>
              <a:t>Uticaj veličine populacije na konvergenciju pri istom broju evaluacija</a:t>
            </a:r>
          </a:p>
        </p:txBody>
      </p:sp>
      <p:cxnSp>
        <p:nvCxnSpPr>
          <p:cNvPr id="30" name="slide-8-header-rule"/>
          <p:cNvCxnSpPr/>
          <p:nvPr/>
        </p:nvCxnSpPr>
        <p:spPr>
          <a:xfrm xmlns:a="http://schemas.openxmlformats.org/drawingml/2006/main">
            <a:off x="533400" y="1143000"/>
            <a:ext cx="11125200" cy="0"/>
          </a:xfrm>
          <a:prstGeom xmlns:a="http://schemas.openxmlformats.org/drawingml/2006/main" prst="straightConnector1">
            <a:avLst/>
          </a:prstGeom>
          <a:ln xmlns:a="http://schemas.openxmlformats.org/drawingml/2006/main" w="9525">
            <a:solidFill>
              <a:srgbClr val="C7D0D9"/>
            </a:solidFill>
            <a:prstDash val="solid"/>
          </a:ln>
        </p:spPr>
      </p:cxnSp>
      <p:sp>
        <p:nvSpPr>
          <p:cNvPr id="3" name="slide-8-number">
            <a:extLst xmlns:a="http://schemas.openxmlformats.org/drawingml/2006/main">
              <a:ext uri="{FF2B5EF4-FFF2-40B4-BE49-F238E27FC236}">
                <a16:creationId xmlns:a16="http://schemas.microsoft.com/office/drawing/2014/main" id="{7BD16CE7-BBA5-4362-8DB1-40409205359F}"/>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8/12</a:t>
            </a:r>
          </a:p>
        </p:txBody>
      </p:sp>
      <p:sp>
        <p:nvSpPr>
          <p:cNvPr id="4" name="slide-8-footer">
            <a:extLst xmlns:a="http://schemas.openxmlformats.org/drawingml/2006/main">
              <a:ext uri="{FF2B5EF4-FFF2-40B4-BE49-F238E27FC236}">
                <a16:creationId xmlns:a16="http://schemas.microsoft.com/office/drawing/2014/main" id="{9FDF00FA-6D37-4F63-BDD0-773D4FD45ADD}"/>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
        <p:nvSpPr>
          <p:cNvPr id="5" name="">
            <a:extLst xmlns:a="http://schemas.openxmlformats.org/drawingml/2006/main">
              <a:ext uri="{FF2B5EF4-FFF2-40B4-BE49-F238E27FC236}">
                <a16:creationId xmlns:a16="http://schemas.microsoft.com/office/drawing/2014/main" id="{4F47D459-C023-40C7-916D-75FF36DB03E1}"/>
              </a:ext>
            </a:extLst>
          </p:cNvPr>
          <p:cNvSpPr>
            <a:spLocks xmlns:a="http://schemas.openxmlformats.org/drawingml/2006/main" noGrp="1"/>
          </p:cNvSpPr>
          <p:nvPr/>
        </p:nvSpPr>
        <p:spPr>
          <a:xfrm xmlns:a="http://schemas.openxmlformats.org/drawingml/2006/main">
            <a:off x="533400" y="1485900"/>
            <a:ext cx="7429500" cy="43815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a60e1d838d814aef"/>
          <a:stretch xmlns:a="http://schemas.openxmlformats.org/drawingml/2006/main"/>
        </p:blipFill>
        <p:spPr>
          <a:xfrm xmlns:a="http://schemas.openxmlformats.org/drawingml/2006/main">
            <a:off x="1135831" y="1676400"/>
            <a:ext cx="6224638" cy="3905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12B60C9-BE7D-477C-B7E2-DB9D22D0F584}"/>
              </a:ext>
            </a:extLst>
          </p:cNvPr>
          <p:cNvSpPr>
            <a:spLocks xmlns:a="http://schemas.openxmlformats.org/drawingml/2006/main" noGrp="1"/>
          </p:cNvSpPr>
          <p:nvPr/>
        </p:nvSpPr>
        <p:spPr>
          <a:xfrm xmlns:a="http://schemas.openxmlformats.org/drawingml/2006/main">
            <a:off x="8324850" y="1485900"/>
            <a:ext cx="3333750" cy="18669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8" name="">
            <a:extLst xmlns:a="http://schemas.openxmlformats.org/drawingml/2006/main">
              <a:ext uri="{FF2B5EF4-FFF2-40B4-BE49-F238E27FC236}">
                <a16:creationId xmlns:a16="http://schemas.microsoft.com/office/drawing/2014/main" id="{DA99CA84-782C-4434-8D87-3226334D8AFC}"/>
              </a:ext>
            </a:extLst>
          </p:cNvPr>
          <p:cNvSpPr>
            <a:spLocks xmlns:a="http://schemas.openxmlformats.org/drawingml/2006/main" noGrp="1"/>
          </p:cNvSpPr>
          <p:nvPr/>
        </p:nvSpPr>
        <p:spPr>
          <a:xfrm xmlns:a="http://schemas.openxmlformats.org/drawingml/2006/main">
            <a:off x="8553450" y="1743075"/>
            <a:ext cx="2876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550" b="1">
                <a:solidFill>
                  <a:srgbClr val="2E75B6"/>
                </a:solidFill>
                <a:latin typeface="Arial"/>
                <a:ea typeface="Arial"/>
                <a:cs typeface="Arial"/>
              </a:defRPr>
            </a:pPr>
            <a:r>
              <a:rPr sz="2550" b="1">
                <a:solidFill>
                  <a:srgbClr val="2E75B6"/>
                </a:solidFill>
                <a:latin typeface="Arial"/>
                <a:ea typeface="Arial"/>
                <a:cs typeface="Arial"/>
              </a:rPr>
              <a:t>P = 1000</a:t>
            </a:r>
          </a:p>
        </p:txBody>
      </p:sp>
      <p:sp>
        <p:nvSpPr>
          <p:cNvPr id="9" name="">
            <a:extLst xmlns:a="http://schemas.openxmlformats.org/drawingml/2006/main">
              <a:ext uri="{FF2B5EF4-FFF2-40B4-BE49-F238E27FC236}">
                <a16:creationId xmlns:a16="http://schemas.microsoft.com/office/drawing/2014/main" id="{4AC59997-50B0-472B-A82D-01805EE3F351}"/>
              </a:ext>
            </a:extLst>
          </p:cNvPr>
          <p:cNvSpPr>
            <a:spLocks xmlns:a="http://schemas.openxmlformats.org/drawingml/2006/main" noGrp="1"/>
          </p:cNvSpPr>
          <p:nvPr/>
        </p:nvSpPr>
        <p:spPr>
          <a:xfrm xmlns:a="http://schemas.openxmlformats.org/drawingml/2006/main">
            <a:off x="8553450" y="2419350"/>
            <a:ext cx="28765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0">
                <a:solidFill>
                  <a:srgbClr val="536273"/>
                </a:solidFill>
                <a:latin typeface="Arial"/>
                <a:ea typeface="Arial"/>
                <a:cs typeface="Arial"/>
              </a:defRPr>
            </a:pPr>
            <a:r>
              <a:rPr sz="1350" b="0">
                <a:solidFill>
                  <a:srgbClr val="536273"/>
                </a:solidFill>
                <a:latin typeface="Arial"/>
                <a:ea typeface="Arial"/>
                <a:cs typeface="Arial"/>
              </a:rPr>
              <a:t>Brže napreduje u početku jer prolazi kroz više generacija.</a:t>
            </a:r>
          </a:p>
        </p:txBody>
      </p:sp>
      <p:sp>
        <p:nvSpPr>
          <p:cNvPr id="10" name="">
            <a:extLst xmlns:a="http://schemas.openxmlformats.org/drawingml/2006/main">
              <a:ext uri="{FF2B5EF4-FFF2-40B4-BE49-F238E27FC236}">
                <a16:creationId xmlns:a16="http://schemas.microsoft.com/office/drawing/2014/main" id="{AF6EE686-0CA6-4722-9908-5F55E43F953E}"/>
              </a:ext>
            </a:extLst>
          </p:cNvPr>
          <p:cNvSpPr>
            <a:spLocks xmlns:a="http://schemas.openxmlformats.org/drawingml/2006/main" noGrp="1"/>
          </p:cNvSpPr>
          <p:nvPr/>
        </p:nvSpPr>
        <p:spPr>
          <a:xfrm xmlns:a="http://schemas.openxmlformats.org/drawingml/2006/main">
            <a:off x="8324850" y="3733800"/>
            <a:ext cx="3333750" cy="21336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1" name="">
            <a:extLst xmlns:a="http://schemas.openxmlformats.org/drawingml/2006/main">
              <a:ext uri="{FF2B5EF4-FFF2-40B4-BE49-F238E27FC236}">
                <a16:creationId xmlns:a16="http://schemas.microsoft.com/office/drawing/2014/main" id="{22CB8325-AB26-450E-8E3C-8A7C048B5510}"/>
              </a:ext>
            </a:extLst>
          </p:cNvPr>
          <p:cNvSpPr>
            <a:spLocks xmlns:a="http://schemas.openxmlformats.org/drawingml/2006/main" noGrp="1"/>
          </p:cNvSpPr>
          <p:nvPr/>
        </p:nvSpPr>
        <p:spPr>
          <a:xfrm xmlns:a="http://schemas.openxmlformats.org/drawingml/2006/main">
            <a:off x="8553450" y="4000500"/>
            <a:ext cx="2876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550" b="1">
                <a:solidFill>
                  <a:srgbClr val="2E7D5B"/>
                </a:solidFill>
                <a:latin typeface="Arial"/>
                <a:ea typeface="Arial"/>
                <a:cs typeface="Arial"/>
              </a:defRPr>
            </a:pPr>
            <a:r>
              <a:rPr sz="2550" b="1">
                <a:solidFill>
                  <a:srgbClr val="2E7D5B"/>
                </a:solidFill>
                <a:latin typeface="Arial"/>
                <a:ea typeface="Arial"/>
                <a:cs typeface="Arial"/>
              </a:rPr>
              <a:t>P = 2000</a:t>
            </a:r>
          </a:p>
        </p:txBody>
      </p:sp>
      <p:sp>
        <p:nvSpPr>
          <p:cNvPr id="12" name="">
            <a:extLst xmlns:a="http://schemas.openxmlformats.org/drawingml/2006/main">
              <a:ext uri="{FF2B5EF4-FFF2-40B4-BE49-F238E27FC236}">
                <a16:creationId xmlns:a16="http://schemas.microsoft.com/office/drawing/2014/main" id="{6ECA9871-B5C3-42F9-A480-FC1F5E195377}"/>
              </a:ext>
            </a:extLst>
          </p:cNvPr>
          <p:cNvSpPr>
            <a:spLocks xmlns:a="http://schemas.openxmlformats.org/drawingml/2006/main" noGrp="1"/>
          </p:cNvSpPr>
          <p:nvPr/>
        </p:nvSpPr>
        <p:spPr>
          <a:xfrm xmlns:a="http://schemas.openxmlformats.org/drawingml/2006/main">
            <a:off x="8553450" y="4686300"/>
            <a:ext cx="2876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0">
                <a:solidFill>
                  <a:srgbClr val="536273"/>
                </a:solidFill>
                <a:latin typeface="Arial"/>
                <a:ea typeface="Arial"/>
                <a:cs typeface="Arial"/>
              </a:defRPr>
            </a:pPr>
            <a:r>
              <a:rPr sz="1350" b="0">
                <a:solidFill>
                  <a:srgbClr val="536273"/>
                </a:solidFill>
                <a:latin typeface="Arial"/>
                <a:ea typeface="Arial"/>
                <a:cs typeface="Arial"/>
              </a:rPr>
              <a:t>Veća raznovrsnost daje bolji konačni prosek: 88.817 prema 88.657 dinara.</a:t>
            </a:r>
          </a:p>
        </p:txBody>
      </p:sp>
      <p:sp>
        <p:nvSpPr>
          <p:cNvPr id="13" name="">
            <a:extLst xmlns:a="http://schemas.openxmlformats.org/drawingml/2006/main">
              <a:ext uri="{FF2B5EF4-FFF2-40B4-BE49-F238E27FC236}">
                <a16:creationId xmlns:a16="http://schemas.microsoft.com/office/drawing/2014/main" id="{F1D86939-8452-482E-9564-054FA88BA35F}"/>
              </a:ext>
            </a:extLst>
          </p:cNvPr>
          <p:cNvSpPr>
            <a:spLocks xmlns:a="http://schemas.openxmlformats.org/drawingml/2006/main" noGrp="1"/>
          </p:cNvSpPr>
          <p:nvPr/>
        </p:nvSpPr>
        <p:spPr>
          <a:xfrm xmlns:a="http://schemas.openxmlformats.org/drawingml/2006/main">
            <a:off x="8553450" y="5543550"/>
            <a:ext cx="287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23B63"/>
                </a:solidFill>
                <a:latin typeface="Arial"/>
                <a:ea typeface="Arial"/>
                <a:cs typeface="Arial"/>
              </a:defRPr>
            </a:pPr>
            <a:r>
              <a:rPr sz="1125" b="1">
                <a:solidFill>
                  <a:srgbClr val="123B63"/>
                </a:solidFill>
                <a:latin typeface="Arial"/>
                <a:ea typeface="Arial"/>
                <a:cs typeface="Arial"/>
              </a:rPr>
              <a:t>Za obe konfiguracije: 1.000.000 evaluacija</a:t>
            </a:r>
          </a:p>
        </p:txBody>
      </p:sp>
    </p:spTree>
    <p:extLst>
      <p:ext uri="{BB962C8B-B14F-4D97-AF65-F5344CB8AC3E}">
        <p14:creationId xmlns:p14="http://schemas.microsoft.com/office/powerpoint/2010/main" val="14372609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9-title">
            <a:extLst xmlns:a="http://schemas.openxmlformats.org/drawingml/2006/main">
              <a:ext uri="{FF2B5EF4-FFF2-40B4-BE49-F238E27FC236}">
                <a16:creationId xmlns:a16="http://schemas.microsoft.com/office/drawing/2014/main" id="{DBC9B87D-127D-48AC-B227-1851C7A966B0}"/>
              </a:ext>
            </a:extLst>
          </p:cNvPr>
          <p:cNvSpPr>
            <a:spLocks xmlns:a="http://schemas.openxmlformats.org/drawingml/2006/main" noGrp="1"/>
          </p:cNvSpPr>
          <p:nvPr/>
        </p:nvSpPr>
        <p:spPr>
          <a:xfrm xmlns:a="http://schemas.openxmlformats.org/drawingml/2006/main">
            <a:off x="533400" y="32385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850" b="1">
                <a:solidFill>
                  <a:srgbClr val="111827"/>
                </a:solidFill>
                <a:latin typeface="Arial"/>
                <a:ea typeface="Arial"/>
                <a:cs typeface="Arial"/>
              </a:defRPr>
            </a:pPr>
            <a:r>
              <a:rPr sz="2850" b="1">
                <a:solidFill>
                  <a:srgbClr val="111827"/>
                </a:solidFill>
                <a:latin typeface="Arial"/>
                <a:ea typeface="Arial"/>
                <a:cs typeface="Arial"/>
              </a:rPr>
              <a:t>Veća populacija sve manje povećava vrednost funkcije cilja</a:t>
            </a:r>
          </a:p>
        </p:txBody>
      </p:sp>
      <p:cxnSp>
        <p:nvCxnSpPr>
          <p:cNvPr id="33" name="slide-9-header-rule"/>
          <p:cNvCxnSpPr/>
          <p:nvPr/>
        </p:nvCxnSpPr>
        <p:spPr>
          <a:xfrm xmlns:a="http://schemas.openxmlformats.org/drawingml/2006/main">
            <a:off x="533400" y="1143000"/>
            <a:ext cx="11125200" cy="0"/>
          </a:xfrm>
          <a:prstGeom xmlns:a="http://schemas.openxmlformats.org/drawingml/2006/main" prst="straightConnector1">
            <a:avLst/>
          </a:prstGeom>
          <a:ln xmlns:a="http://schemas.openxmlformats.org/drawingml/2006/main" w="9525">
            <a:solidFill>
              <a:srgbClr val="C7D0D9"/>
            </a:solidFill>
            <a:prstDash val="solid"/>
          </a:ln>
        </p:spPr>
      </p:cxnSp>
      <p:sp>
        <p:nvSpPr>
          <p:cNvPr id="3" name="slide-9-number">
            <a:extLst xmlns:a="http://schemas.openxmlformats.org/drawingml/2006/main">
              <a:ext uri="{FF2B5EF4-FFF2-40B4-BE49-F238E27FC236}">
                <a16:creationId xmlns:a16="http://schemas.microsoft.com/office/drawing/2014/main" id="{6416B135-1A11-415F-AFD8-B9D6AC381F8C}"/>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9/12</a:t>
            </a:r>
          </a:p>
        </p:txBody>
      </p:sp>
      <p:sp>
        <p:nvSpPr>
          <p:cNvPr id="4" name="slide-9-footer">
            <a:extLst xmlns:a="http://schemas.openxmlformats.org/drawingml/2006/main">
              <a:ext uri="{FF2B5EF4-FFF2-40B4-BE49-F238E27FC236}">
                <a16:creationId xmlns:a16="http://schemas.microsoft.com/office/drawing/2014/main" id="{0320427B-64EB-4835-8493-C0757DDDB35C}"/>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
        <p:nvSpPr>
          <p:cNvPr id="5" name="">
            <a:extLst xmlns:a="http://schemas.openxmlformats.org/drawingml/2006/main">
              <a:ext uri="{FF2B5EF4-FFF2-40B4-BE49-F238E27FC236}">
                <a16:creationId xmlns:a16="http://schemas.microsoft.com/office/drawing/2014/main" id="{480F1226-B7FA-4504-A0C2-7EFAE7594885}"/>
              </a:ext>
            </a:extLst>
          </p:cNvPr>
          <p:cNvSpPr>
            <a:spLocks xmlns:a="http://schemas.openxmlformats.org/drawingml/2006/main" noGrp="1"/>
          </p:cNvSpPr>
          <p:nvPr/>
        </p:nvSpPr>
        <p:spPr>
          <a:xfrm xmlns:a="http://schemas.openxmlformats.org/drawingml/2006/main">
            <a:off x="533400" y="1381125"/>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2E75B6"/>
                </a:solidFill>
                <a:latin typeface="Arial"/>
                <a:ea typeface="Arial"/>
                <a:cs typeface="Arial"/>
              </a:defRPr>
            </a:pPr>
            <a:r>
              <a:rPr sz="1275" b="1">
                <a:solidFill>
                  <a:srgbClr val="2E75B6"/>
                </a:solidFill>
                <a:latin typeface="Arial"/>
                <a:ea typeface="Arial"/>
                <a:cs typeface="Arial"/>
              </a:rPr>
              <a:t>Instanca 100×100</a:t>
            </a:r>
          </a:p>
        </p:txBody>
      </p:sp>
      <p:graphicFrame>
        <p:nvGraphicFramePr>
          <p:cNvPr id="37" name="Chart"/>
          <p:cNvGraphicFramePr/>
          <p:nvPr/>
        </p:nvGraphicFramePr>
        <p:xfrm>
          <a:off xmlns:a="http://schemas.openxmlformats.org/drawingml/2006/main" x="533400" y="1790700"/>
          <a:ext xmlns:a="http://schemas.openxmlformats.org/drawingml/2006/main" cx="5334000" cy="3276600"/>
        </p:xfrm>
        <a:graphic xmlns:a="http://schemas.openxmlformats.org/drawingml/2006/main">
          <a:graphicData uri="http://schemas.openxmlformats.org/drawingml/2006/chart">
            <c:chart xmlns:r="http://schemas.openxmlformats.org/officeDocument/2006/relationships" xmlns:c="http://schemas.openxmlformats.org/drawingml/2006/chart" r:id="R5407d28115aa42b7"/>
          </a:graphicData>
        </a:graphic>
      </p:graphicFrame>
      <p:sp>
        <p:nvSpPr>
          <p:cNvPr id="7" name="">
            <a:extLst xmlns:a="http://schemas.openxmlformats.org/drawingml/2006/main">
              <a:ext uri="{FF2B5EF4-FFF2-40B4-BE49-F238E27FC236}">
                <a16:creationId xmlns:a16="http://schemas.microsoft.com/office/drawing/2014/main" id="{C3FC14D6-7858-49D1-B4ED-A49F64D630CE}"/>
              </a:ext>
            </a:extLst>
          </p:cNvPr>
          <p:cNvSpPr>
            <a:spLocks xmlns:a="http://schemas.openxmlformats.org/drawingml/2006/main" noGrp="1"/>
          </p:cNvSpPr>
          <p:nvPr/>
        </p:nvSpPr>
        <p:spPr>
          <a:xfrm xmlns:a="http://schemas.openxmlformats.org/drawingml/2006/main">
            <a:off x="723900" y="1666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536273"/>
                </a:solidFill>
                <a:latin typeface="Arial"/>
                <a:ea typeface="Arial"/>
                <a:cs typeface="Arial"/>
              </a:defRPr>
            </a:pPr>
            <a:r>
              <a:rPr sz="1050" b="1">
                <a:solidFill>
                  <a:srgbClr val="536273"/>
                </a:solidFill>
                <a:latin typeface="Arial"/>
                <a:ea typeface="Arial"/>
                <a:cs typeface="Arial"/>
              </a:rPr>
              <a:t>Kvalitet (% optimuma)</a:t>
            </a:r>
          </a:p>
        </p:txBody>
      </p:sp>
      <p:graphicFrame>
        <p:nvGraphicFramePr>
          <p:cNvPr id="39" name="Chart"/>
          <p:cNvGraphicFramePr/>
          <p:nvPr/>
        </p:nvGraphicFramePr>
        <p:xfrm>
          <a:off xmlns:a="http://schemas.openxmlformats.org/drawingml/2006/main" x="6324600" y="1790700"/>
          <a:ext xmlns:a="http://schemas.openxmlformats.org/drawingml/2006/main" cx="5334000" cy="3276600"/>
        </p:xfrm>
        <a:graphic xmlns:a="http://schemas.openxmlformats.org/drawingml/2006/main">
          <a:graphicData uri="http://schemas.openxmlformats.org/drawingml/2006/chart">
            <c:chart xmlns:r="http://schemas.openxmlformats.org/officeDocument/2006/relationships" xmlns:c="http://schemas.openxmlformats.org/drawingml/2006/chart" r:id="R593713b662c645b1"/>
          </a:graphicData>
        </a:graphic>
      </p:graphicFrame>
      <p:sp>
        <p:nvSpPr>
          <p:cNvPr id="9" name="">
            <a:extLst xmlns:a="http://schemas.openxmlformats.org/drawingml/2006/main">
              <a:ext uri="{FF2B5EF4-FFF2-40B4-BE49-F238E27FC236}">
                <a16:creationId xmlns:a16="http://schemas.microsoft.com/office/drawing/2014/main" id="{3345177E-50AC-4371-852D-A35E58F58DF0}"/>
              </a:ext>
            </a:extLst>
          </p:cNvPr>
          <p:cNvSpPr>
            <a:spLocks xmlns:a="http://schemas.openxmlformats.org/drawingml/2006/main" noGrp="1"/>
          </p:cNvSpPr>
          <p:nvPr/>
        </p:nvSpPr>
        <p:spPr>
          <a:xfrm xmlns:a="http://schemas.openxmlformats.org/drawingml/2006/main">
            <a:off x="6515100" y="1666875"/>
            <a:ext cx="295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536273"/>
                </a:solidFill>
                <a:latin typeface="Arial"/>
                <a:ea typeface="Arial"/>
                <a:cs typeface="Arial"/>
              </a:defRPr>
            </a:pPr>
            <a:r>
              <a:rPr sz="1050" b="1">
                <a:solidFill>
                  <a:srgbClr val="536273"/>
                </a:solidFill>
                <a:latin typeface="Arial"/>
                <a:ea typeface="Arial"/>
                <a:cs typeface="Arial"/>
              </a:rPr>
              <a:t>Prosečno vreme jednog pokretanja</a:t>
            </a:r>
          </a:p>
        </p:txBody>
      </p:sp>
      <p:sp>
        <p:nvSpPr>
          <p:cNvPr id="10" name="">
            <a:extLst xmlns:a="http://schemas.openxmlformats.org/drawingml/2006/main">
              <a:ext uri="{FF2B5EF4-FFF2-40B4-BE49-F238E27FC236}">
                <a16:creationId xmlns:a16="http://schemas.microsoft.com/office/drawing/2014/main" id="{06D13255-D356-4151-A8F3-14593E85DD63}"/>
              </a:ext>
            </a:extLst>
          </p:cNvPr>
          <p:cNvSpPr>
            <a:spLocks xmlns:a="http://schemas.openxmlformats.org/drawingml/2006/main" noGrp="1"/>
          </p:cNvSpPr>
          <p:nvPr/>
        </p:nvSpPr>
        <p:spPr>
          <a:xfrm xmlns:a="http://schemas.openxmlformats.org/drawingml/2006/main">
            <a:off x="1524000" y="5314950"/>
            <a:ext cx="9144000" cy="647700"/>
          </a:xfrm>
          <a:prstGeom xmlns:a="http://schemas.openxmlformats.org/drawingml/2006/main" prst="rect">
            <a:avLst/>
          </a:prstGeom>
          <a:solidFill xmlns:a="http://schemas.openxmlformats.org/drawingml/2006/main">
            <a:srgbClr val="123B63"/>
          </a:solidFill>
          <a:ln xmlns:a="http://schemas.openxmlformats.org/drawingml/2006/main" w="9525">
            <a:solidFill>
              <a:srgbClr val="123B63"/>
            </a:solidFill>
            <a:prstDash val="solid"/>
          </a:ln>
        </p:spPr>
      </p:sp>
      <p:sp>
        <p:nvSpPr>
          <p:cNvPr id="11" name="">
            <a:extLst xmlns:a="http://schemas.openxmlformats.org/drawingml/2006/main">
              <a:ext uri="{FF2B5EF4-FFF2-40B4-BE49-F238E27FC236}">
                <a16:creationId xmlns:a16="http://schemas.microsoft.com/office/drawing/2014/main" id="{43AB5B06-35B8-4F4E-A19F-241141D970C9}"/>
              </a:ext>
            </a:extLst>
          </p:cNvPr>
          <p:cNvSpPr>
            <a:spLocks xmlns:a="http://schemas.openxmlformats.org/drawingml/2006/main" noGrp="1"/>
          </p:cNvSpPr>
          <p:nvPr/>
        </p:nvSpPr>
        <p:spPr>
          <a:xfrm xmlns:a="http://schemas.openxmlformats.org/drawingml/2006/main">
            <a:off x="1809750" y="54864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650" b="1">
                <a:solidFill>
                  <a:srgbClr val="FFFFFF"/>
                </a:solidFill>
                <a:latin typeface="Arial"/>
                <a:ea typeface="Arial"/>
                <a:cs typeface="Arial"/>
              </a:defRPr>
            </a:pPr>
            <a:r>
              <a:rPr sz="1650" b="1">
                <a:solidFill>
                  <a:srgbClr val="FFFFFF"/>
                </a:solidFill>
                <a:latin typeface="Arial"/>
                <a:ea typeface="Arial"/>
                <a:cs typeface="Arial"/>
              </a:rPr>
              <a:t>100k → 200k: funkcija cilja +≈0,15%, vreme izvršavanja ≈3,5× duže</a:t>
            </a:r>
          </a:p>
        </p:txBody>
      </p:sp>
    </p:spTree>
    <p:extLst>
      <p:ext uri="{BB962C8B-B14F-4D97-AF65-F5344CB8AC3E}">
        <p14:creationId xmlns:p14="http://schemas.microsoft.com/office/powerpoint/2010/main" val="192463098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lide-10-title">
            <a:extLst xmlns:a="http://schemas.openxmlformats.org/drawingml/2006/main">
              <a:ext uri="{FF2B5EF4-FFF2-40B4-BE49-F238E27FC236}">
                <a16:creationId xmlns:a16="http://schemas.microsoft.com/office/drawing/2014/main" id="{809B489D-DE1A-4F28-8C0E-9AB797A2E48F}"/>
              </a:ext>
            </a:extLst>
          </p:cNvPr>
          <p:cNvSpPr>
            <a:spLocks xmlns:a="http://schemas.openxmlformats.org/drawingml/2006/main" noGrp="1"/>
          </p:cNvSpPr>
          <p:nvPr/>
        </p:nvSpPr>
        <p:spPr>
          <a:xfrm xmlns:a="http://schemas.openxmlformats.org/drawingml/2006/main">
            <a:off x="533400" y="32385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850" b="1">
                <a:solidFill>
                  <a:srgbClr val="111827"/>
                </a:solidFill>
                <a:latin typeface="Arial"/>
                <a:ea typeface="Arial"/>
                <a:cs typeface="Arial"/>
              </a:defRPr>
            </a:pPr>
            <a:r>
              <a:rPr sz="2850" b="1">
                <a:solidFill>
                  <a:srgbClr val="111827"/>
                </a:solidFill>
                <a:latin typeface="Arial"/>
                <a:ea typeface="Arial"/>
                <a:cs typeface="Arial"/>
              </a:rPr>
              <a:t>Ispitane linearne instance favorizuju HiGHS</a:t>
            </a:r>
          </a:p>
        </p:txBody>
      </p:sp>
      <p:cxnSp>
        <p:nvCxnSpPr>
          <p:cNvPr id="33" name="slide-10-header-rule"/>
          <p:cNvCxnSpPr/>
          <p:nvPr/>
        </p:nvCxnSpPr>
        <p:spPr>
          <a:xfrm xmlns:a="http://schemas.openxmlformats.org/drawingml/2006/main">
            <a:off x="533400" y="1143000"/>
            <a:ext cx="11125200" cy="0"/>
          </a:xfrm>
          <a:prstGeom xmlns:a="http://schemas.openxmlformats.org/drawingml/2006/main" prst="straightConnector1">
            <a:avLst/>
          </a:prstGeom>
          <a:ln xmlns:a="http://schemas.openxmlformats.org/drawingml/2006/main" w="9525">
            <a:solidFill>
              <a:srgbClr val="C7D0D9"/>
            </a:solidFill>
            <a:prstDash val="solid"/>
          </a:ln>
        </p:spPr>
      </p:cxnSp>
      <p:sp>
        <p:nvSpPr>
          <p:cNvPr id="3" name="slide-10-number">
            <a:extLst xmlns:a="http://schemas.openxmlformats.org/drawingml/2006/main">
              <a:ext uri="{FF2B5EF4-FFF2-40B4-BE49-F238E27FC236}">
                <a16:creationId xmlns:a16="http://schemas.microsoft.com/office/drawing/2014/main" id="{B56E4AAE-924F-4047-9A0C-B2FC4DF3BBE6}"/>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10/12</a:t>
            </a:r>
          </a:p>
        </p:txBody>
      </p:sp>
      <p:sp>
        <p:nvSpPr>
          <p:cNvPr id="4" name="slide-10-footer">
            <a:extLst xmlns:a="http://schemas.openxmlformats.org/drawingml/2006/main">
              <a:ext uri="{FF2B5EF4-FFF2-40B4-BE49-F238E27FC236}">
                <a16:creationId xmlns:a16="http://schemas.microsoft.com/office/drawing/2014/main" id="{7A31792B-454D-4DDB-88B9-802CBBB31997}"/>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
        <p:nvSpPr>
          <p:cNvPr id="5" name="">
            <a:extLst xmlns:a="http://schemas.openxmlformats.org/drawingml/2006/main">
              <a:ext uri="{FF2B5EF4-FFF2-40B4-BE49-F238E27FC236}">
                <a16:creationId xmlns:a16="http://schemas.microsoft.com/office/drawing/2014/main" id="{70D7876B-B10F-42EF-94D4-3763E0FB816E}"/>
              </a:ext>
            </a:extLst>
          </p:cNvPr>
          <p:cNvSpPr>
            <a:spLocks xmlns:a="http://schemas.openxmlformats.org/drawingml/2006/main" noGrp="1"/>
          </p:cNvSpPr>
          <p:nvPr/>
        </p:nvSpPr>
        <p:spPr>
          <a:xfrm xmlns:a="http://schemas.openxmlformats.org/drawingml/2006/main">
            <a:off x="533400" y="1504950"/>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a:solidFill>
                  <a:srgbClr val="2E75B6"/>
                </a:solidFill>
                <a:latin typeface="Arial"/>
                <a:ea typeface="Arial"/>
                <a:cs typeface="Arial"/>
              </a:defRPr>
            </a:pPr>
            <a:r>
              <a:rPr sz="1500" b="1">
                <a:solidFill>
                  <a:srgbClr val="2E75B6"/>
                </a:solidFill>
                <a:latin typeface="Arial"/>
                <a:ea typeface="Arial"/>
                <a:cs typeface="Arial"/>
              </a:rPr>
              <a:t>Preporuka</a:t>
            </a:r>
          </a:p>
        </p:txBody>
      </p:sp>
      <p:sp>
        <p:nvSpPr>
          <p:cNvPr id="6" name="">
            <a:extLst xmlns:a="http://schemas.openxmlformats.org/drawingml/2006/main">
              <a:ext uri="{FF2B5EF4-FFF2-40B4-BE49-F238E27FC236}">
                <a16:creationId xmlns:a16="http://schemas.microsoft.com/office/drawing/2014/main" id="{B1C150BC-B1B2-45A8-8A1F-325D03861725}"/>
              </a:ext>
            </a:extLst>
          </p:cNvPr>
          <p:cNvSpPr>
            <a:spLocks xmlns:a="http://schemas.openxmlformats.org/drawingml/2006/main" noGrp="1"/>
          </p:cNvSpPr>
          <p:nvPr/>
        </p:nvSpPr>
        <p:spPr>
          <a:xfrm xmlns:a="http://schemas.openxmlformats.org/drawingml/2006/main">
            <a:off x="533400" y="1952625"/>
            <a:ext cx="400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850" b="1">
                <a:solidFill>
                  <a:srgbClr val="123B63"/>
                </a:solidFill>
                <a:latin typeface="Arial"/>
                <a:ea typeface="Arial"/>
                <a:cs typeface="Arial"/>
              </a:defRPr>
            </a:pPr>
            <a:r>
              <a:rPr sz="2850" b="1">
                <a:solidFill>
                  <a:srgbClr val="123B63"/>
                </a:solidFill>
                <a:latin typeface="Arial"/>
                <a:ea typeface="Arial"/>
                <a:cs typeface="Arial"/>
              </a:rPr>
              <a:t>HiGHS prvo</a:t>
            </a:r>
          </a:p>
        </p:txBody>
      </p:sp>
      <p:sp>
        <p:nvSpPr>
          <p:cNvPr id="7" name="">
            <a:extLst xmlns:a="http://schemas.openxmlformats.org/drawingml/2006/main">
              <a:ext uri="{FF2B5EF4-FFF2-40B4-BE49-F238E27FC236}">
                <a16:creationId xmlns:a16="http://schemas.microsoft.com/office/drawing/2014/main" id="{365183AE-8881-44BD-9F45-2343AEBE518B}"/>
              </a:ext>
            </a:extLst>
          </p:cNvPr>
          <p:cNvSpPr>
            <a:spLocks xmlns:a="http://schemas.openxmlformats.org/drawingml/2006/main" noGrp="1"/>
          </p:cNvSpPr>
          <p:nvPr/>
        </p:nvSpPr>
        <p:spPr>
          <a:xfrm xmlns:a="http://schemas.openxmlformats.org/drawingml/2006/main">
            <a:off x="533400" y="2647950"/>
            <a:ext cx="4572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0">
                <a:solidFill>
                  <a:srgbClr val="536273"/>
                </a:solidFill>
                <a:latin typeface="Arial"/>
                <a:ea typeface="Arial"/>
                <a:cs typeface="Arial"/>
              </a:defRPr>
            </a:pPr>
            <a:r>
              <a:rPr sz="1575" b="0">
                <a:solidFill>
                  <a:srgbClr val="536273"/>
                </a:solidFill>
                <a:latin typeface="Arial"/>
                <a:ea typeface="Arial"/>
                <a:cs typeface="Arial"/>
              </a:rPr>
              <a:t>Za statičke linearne instance ovog tipa HiGHS je dao najbolji referentni rezultat uz najmanje vreme.</a:t>
            </a:r>
          </a:p>
        </p:txBody>
      </p:sp>
      <p:sp>
        <p:nvSpPr>
          <p:cNvPr id="8" name="">
            <a:extLst xmlns:a="http://schemas.openxmlformats.org/drawingml/2006/main">
              <a:ext uri="{FF2B5EF4-FFF2-40B4-BE49-F238E27FC236}">
                <a16:creationId xmlns:a16="http://schemas.microsoft.com/office/drawing/2014/main" id="{2F31A720-7912-407E-8D1A-6F347E19B236}"/>
              </a:ext>
            </a:extLst>
          </p:cNvPr>
          <p:cNvSpPr>
            <a:spLocks xmlns:a="http://schemas.openxmlformats.org/drawingml/2006/main" noGrp="1"/>
          </p:cNvSpPr>
          <p:nvPr/>
        </p:nvSpPr>
        <p:spPr>
          <a:xfrm xmlns:a="http://schemas.openxmlformats.org/drawingml/2006/main">
            <a:off x="533400" y="4010025"/>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111827"/>
                </a:solidFill>
                <a:latin typeface="Arial"/>
                <a:ea typeface="Arial"/>
                <a:cs typeface="Arial"/>
              </a:defRPr>
            </a:pPr>
            <a:r>
              <a:rPr sz="1875" b="1">
                <a:solidFill>
                  <a:srgbClr val="111827"/>
                </a:solidFill>
                <a:latin typeface="Arial"/>
                <a:ea typeface="Arial"/>
                <a:cs typeface="Arial"/>
              </a:rPr>
              <a:t>Moguća proširenja matematičkog modela</a:t>
            </a:r>
          </a:p>
        </p:txBody>
      </p:sp>
      <p:sp>
        <p:nvSpPr>
          <p:cNvPr id="9" name="">
            <a:extLst xmlns:a="http://schemas.openxmlformats.org/drawingml/2006/main">
              <a:ext uri="{FF2B5EF4-FFF2-40B4-BE49-F238E27FC236}">
                <a16:creationId xmlns:a16="http://schemas.microsoft.com/office/drawing/2014/main" id="{DCF6BFA2-D4A0-46C7-A7EA-60DD30040975}"/>
              </a:ext>
            </a:extLst>
          </p:cNvPr>
          <p:cNvSpPr>
            <a:spLocks xmlns:a="http://schemas.openxmlformats.org/drawingml/2006/main" noGrp="1"/>
          </p:cNvSpPr>
          <p:nvPr/>
        </p:nvSpPr>
        <p:spPr>
          <a:xfrm xmlns:a="http://schemas.openxmlformats.org/drawingml/2006/main">
            <a:off x="533400" y="4648200"/>
            <a:ext cx="4762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0">
                <a:solidFill>
                  <a:srgbClr val="536273"/>
                </a:solidFill>
                <a:latin typeface="Arial"/>
                <a:ea typeface="Arial"/>
                <a:cs typeface="Arial"/>
              </a:defRPr>
            </a:pPr>
            <a:r>
              <a:rPr sz="1350" b="0">
                <a:solidFill>
                  <a:srgbClr val="536273"/>
                </a:solidFill>
                <a:latin typeface="Arial"/>
                <a:ea typeface="Arial"/>
                <a:cs typeface="Arial"/>
              </a:rPr>
              <a:t>Nisu ispitana u ovom radu: nelinearnosti, dinamičke promene, više ciljeva i ograničenja koja se teško izražavaju linearnom formulacijom.</a:t>
            </a:r>
          </a:p>
        </p:txBody>
      </p:sp>
      <p:sp>
        <p:nvSpPr>
          <p:cNvPr id="10" name="">
            <a:extLst xmlns:a="http://schemas.openxmlformats.org/drawingml/2006/main">
              <a:ext uri="{FF2B5EF4-FFF2-40B4-BE49-F238E27FC236}">
                <a16:creationId xmlns:a16="http://schemas.microsoft.com/office/drawing/2014/main" id="{B4007C85-AB95-4F10-8056-5FC686C5FA29}"/>
              </a:ext>
            </a:extLst>
          </p:cNvPr>
          <p:cNvSpPr>
            <a:spLocks xmlns:a="http://schemas.openxmlformats.org/drawingml/2006/main" noGrp="1"/>
          </p:cNvSpPr>
          <p:nvPr/>
        </p:nvSpPr>
        <p:spPr>
          <a:xfrm xmlns:a="http://schemas.openxmlformats.org/drawingml/2006/main">
            <a:off x="533400" y="5619750"/>
            <a:ext cx="4762500" cy="457200"/>
          </a:xfrm>
          <a:prstGeom xmlns:a="http://schemas.openxmlformats.org/drawingml/2006/main" prst="rect">
            <a:avLst/>
          </a:prstGeom>
          <a:solidFill xmlns:a="http://schemas.openxmlformats.org/drawingml/2006/main">
            <a:srgbClr val="EAF3F9"/>
          </a:solidFill>
          <a:ln xmlns:a="http://schemas.openxmlformats.org/drawingml/2006/main" w="9525">
            <a:solidFill>
              <a:srgbClr val="EAF3F9"/>
            </a:solidFill>
            <a:prstDash val="solid"/>
          </a:ln>
        </p:spPr>
      </p:sp>
      <p:sp>
        <p:nvSpPr>
          <p:cNvPr id="11" name="">
            <a:extLst xmlns:a="http://schemas.openxmlformats.org/drawingml/2006/main">
              <a:ext uri="{FF2B5EF4-FFF2-40B4-BE49-F238E27FC236}">
                <a16:creationId xmlns:a16="http://schemas.microsoft.com/office/drawing/2014/main" id="{41321975-BBF2-4E08-ABFF-A4C8B264497B}"/>
              </a:ext>
            </a:extLst>
          </p:cNvPr>
          <p:cNvSpPr>
            <a:spLocks xmlns:a="http://schemas.openxmlformats.org/drawingml/2006/main" noGrp="1"/>
          </p:cNvSpPr>
          <p:nvPr/>
        </p:nvSpPr>
        <p:spPr>
          <a:xfrm xmlns:a="http://schemas.openxmlformats.org/drawingml/2006/main">
            <a:off x="685800" y="5743575"/>
            <a:ext cx="445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123B63"/>
                </a:solidFill>
                <a:latin typeface="Arial"/>
                <a:ea typeface="Arial"/>
                <a:cs typeface="Arial"/>
              </a:defRPr>
            </a:pPr>
            <a:r>
              <a:rPr sz="1200" b="1">
                <a:solidFill>
                  <a:srgbClr val="123B63"/>
                </a:solidFill>
                <a:latin typeface="Arial"/>
                <a:ea typeface="Arial"/>
                <a:cs typeface="Arial"/>
              </a:rPr>
              <a:t>Ograničenje: jedna instanca po veličini.</a:t>
            </a:r>
          </a:p>
        </p:txBody>
      </p:sp>
      <p:sp>
        <p:nvSpPr>
          <p:cNvPr id="12" name="">
            <a:extLst xmlns:a="http://schemas.openxmlformats.org/drawingml/2006/main">
              <a:ext uri="{FF2B5EF4-FFF2-40B4-BE49-F238E27FC236}">
                <a16:creationId xmlns:a16="http://schemas.microsoft.com/office/drawing/2014/main" id="{0C7CCACA-4FC5-4FF8-A25D-4D5B137A4896}"/>
              </a:ext>
            </a:extLst>
          </p:cNvPr>
          <p:cNvSpPr>
            <a:spLocks xmlns:a="http://schemas.openxmlformats.org/drawingml/2006/main" noGrp="1"/>
          </p:cNvSpPr>
          <p:nvPr/>
        </p:nvSpPr>
        <p:spPr>
          <a:xfrm xmlns:a="http://schemas.openxmlformats.org/drawingml/2006/main">
            <a:off x="5715000" y="1504950"/>
            <a:ext cx="5943600" cy="457200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ef41ab772dc0487a"/>
          <a:stretch xmlns:a="http://schemas.openxmlformats.org/drawingml/2006/main"/>
        </p:blipFill>
        <p:spPr>
          <a:xfrm xmlns:a="http://schemas.openxmlformats.org/drawingml/2006/main">
            <a:off x="5943600" y="1952625"/>
            <a:ext cx="5486400" cy="274320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D2D0AD5B-E406-4700-AC3A-8707F8774AE8}"/>
              </a:ext>
            </a:extLst>
          </p:cNvPr>
          <p:cNvSpPr>
            <a:spLocks xmlns:a="http://schemas.openxmlformats.org/drawingml/2006/main" noGrp="1"/>
          </p:cNvSpPr>
          <p:nvPr/>
        </p:nvSpPr>
        <p:spPr>
          <a:xfrm xmlns:a="http://schemas.openxmlformats.org/drawingml/2006/main">
            <a:off x="6096000" y="5010150"/>
            <a:ext cx="514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a:solidFill>
                  <a:srgbClr val="123B63"/>
                </a:solidFill>
                <a:latin typeface="Arial"/>
                <a:ea typeface="Arial"/>
                <a:cs typeface="Arial"/>
              </a:defRPr>
            </a:pPr>
            <a:r>
              <a:rPr sz="1500" b="1">
                <a:solidFill>
                  <a:srgbClr val="123B63"/>
                </a:solidFill>
                <a:latin typeface="Arial"/>
                <a:ea typeface="Arial"/>
                <a:cs typeface="Arial"/>
              </a:rPr>
              <a:t>Zaključci</a:t>
            </a:r>
          </a:p>
        </p:txBody>
      </p:sp>
      <p:sp>
        <p:nvSpPr>
          <p:cNvPr id="15" name="">
            <a:extLst xmlns:a="http://schemas.openxmlformats.org/drawingml/2006/main">
              <a:ext uri="{FF2B5EF4-FFF2-40B4-BE49-F238E27FC236}">
                <a16:creationId xmlns:a16="http://schemas.microsoft.com/office/drawing/2014/main" id="{533CC7BD-4604-4CF5-9341-B3EAB2FB638E}"/>
              </a:ext>
            </a:extLst>
          </p:cNvPr>
          <p:cNvSpPr>
            <a:spLocks xmlns:a="http://schemas.openxmlformats.org/drawingml/2006/main" noGrp="1"/>
          </p:cNvSpPr>
          <p:nvPr/>
        </p:nvSpPr>
        <p:spPr>
          <a:xfrm xmlns:a="http://schemas.openxmlformats.org/drawingml/2006/main">
            <a:off x="6096000" y="5353050"/>
            <a:ext cx="514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0">
                <a:solidFill>
                  <a:srgbClr val="536273"/>
                </a:solidFill>
                <a:latin typeface="Arial"/>
                <a:ea typeface="Arial"/>
                <a:cs typeface="Arial"/>
              </a:defRPr>
            </a:pPr>
            <a:r>
              <a:rPr sz="1275" b="0">
                <a:solidFill>
                  <a:srgbClr val="536273"/>
                </a:solidFill>
                <a:latin typeface="Arial"/>
                <a:ea typeface="Arial"/>
                <a:cs typeface="Arial"/>
              </a:rPr>
              <a:t>•  Rezultati su stabilni kroz šest pokretanja.</a:t>
            </a:r>
          </a:p>
        </p:txBody>
      </p:sp>
      <p:sp>
        <p:nvSpPr>
          <p:cNvPr id="16" name="">
            <a:extLst xmlns:a="http://schemas.openxmlformats.org/drawingml/2006/main">
              <a:ext uri="{FF2B5EF4-FFF2-40B4-BE49-F238E27FC236}">
                <a16:creationId xmlns:a16="http://schemas.microsoft.com/office/drawing/2014/main" id="{C17659BC-F1EB-4882-BF27-157114E6847B}"/>
              </a:ext>
            </a:extLst>
          </p:cNvPr>
          <p:cNvSpPr>
            <a:spLocks xmlns:a="http://schemas.openxmlformats.org/drawingml/2006/main" noGrp="1"/>
          </p:cNvSpPr>
          <p:nvPr/>
        </p:nvSpPr>
        <p:spPr>
          <a:xfrm xmlns:a="http://schemas.openxmlformats.org/drawingml/2006/main">
            <a:off x="6096000" y="5657850"/>
            <a:ext cx="514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0">
                <a:solidFill>
                  <a:srgbClr val="536273"/>
                </a:solidFill>
                <a:latin typeface="Arial"/>
                <a:ea typeface="Arial"/>
                <a:cs typeface="Arial"/>
              </a:defRPr>
            </a:pPr>
            <a:r>
              <a:rPr sz="1275" b="0">
                <a:solidFill>
                  <a:srgbClr val="536273"/>
                </a:solidFill>
                <a:latin typeface="Arial"/>
                <a:ea typeface="Arial"/>
                <a:cs typeface="Arial"/>
              </a:rPr>
              <a:t>•  Jedno pokretanje velike instance traje oko 3,4 sata.</a:t>
            </a:r>
          </a:p>
        </p:txBody>
      </p:sp>
    </p:spTree>
    <p:extLst>
      <p:ext uri="{BB962C8B-B14F-4D97-AF65-F5344CB8AC3E}">
        <p14:creationId xmlns:p14="http://schemas.microsoft.com/office/powerpoint/2010/main" val="18791688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lide-11-title">
            <a:extLst xmlns:a="http://schemas.openxmlformats.org/drawingml/2006/main">
              <a:ext uri="{FF2B5EF4-FFF2-40B4-BE49-F238E27FC236}">
                <a16:creationId xmlns:a16="http://schemas.microsoft.com/office/drawing/2014/main" id="{E9A6F1FE-A10A-4234-9BC4-F4D8896E332F}"/>
              </a:ext>
            </a:extLst>
          </p:cNvPr>
          <p:cNvSpPr>
            <a:spLocks xmlns:a="http://schemas.openxmlformats.org/drawingml/2006/main" noGrp="1"/>
          </p:cNvSpPr>
          <p:nvPr/>
        </p:nvSpPr>
        <p:spPr>
          <a:xfrm xmlns:a="http://schemas.openxmlformats.org/drawingml/2006/main">
            <a:off x="533400" y="323850"/>
            <a:ext cx="11125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850" b="1">
                <a:solidFill>
                  <a:srgbClr val="111827"/>
                </a:solidFill>
                <a:latin typeface="Arial"/>
                <a:ea typeface="Arial"/>
                <a:cs typeface="Arial"/>
              </a:defRPr>
            </a:pPr>
            <a:r>
              <a:rPr sz="2850" b="1">
                <a:solidFill>
                  <a:srgbClr val="111827"/>
                </a:solidFill>
                <a:latin typeface="Arial"/>
                <a:ea typeface="Arial"/>
                <a:cs typeface="Arial"/>
              </a:rPr>
              <a:t>Tri nalaza opisuju performanse genetičkog algoritma</a:t>
            </a:r>
          </a:p>
        </p:txBody>
      </p:sp>
      <p:cxnSp>
        <p:nvCxnSpPr>
          <p:cNvPr id="27" name="slide-11-header-rule"/>
          <p:cNvCxnSpPr/>
          <p:nvPr/>
        </p:nvCxnSpPr>
        <p:spPr>
          <a:xfrm xmlns:a="http://schemas.openxmlformats.org/drawingml/2006/main">
            <a:off x="533400" y="1143000"/>
            <a:ext cx="11125200" cy="0"/>
          </a:xfrm>
          <a:prstGeom xmlns:a="http://schemas.openxmlformats.org/drawingml/2006/main" prst="straightConnector1">
            <a:avLst/>
          </a:prstGeom>
          <a:ln xmlns:a="http://schemas.openxmlformats.org/drawingml/2006/main" w="9525">
            <a:solidFill>
              <a:srgbClr val="C7D0D9"/>
            </a:solidFill>
            <a:prstDash val="solid"/>
          </a:ln>
        </p:spPr>
      </p:cxnSp>
      <p:sp>
        <p:nvSpPr>
          <p:cNvPr id="3" name="slide-11-number">
            <a:extLst xmlns:a="http://schemas.openxmlformats.org/drawingml/2006/main">
              <a:ext uri="{FF2B5EF4-FFF2-40B4-BE49-F238E27FC236}">
                <a16:creationId xmlns:a16="http://schemas.microsoft.com/office/drawing/2014/main" id="{5520D0A8-4098-4032-A4CC-1BD2A9FA0F9B}"/>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11/12</a:t>
            </a:r>
          </a:p>
        </p:txBody>
      </p:sp>
      <p:sp>
        <p:nvSpPr>
          <p:cNvPr id="4" name="slide-11-footer">
            <a:extLst xmlns:a="http://schemas.openxmlformats.org/drawingml/2006/main">
              <a:ext uri="{FF2B5EF4-FFF2-40B4-BE49-F238E27FC236}">
                <a16:creationId xmlns:a16="http://schemas.microsoft.com/office/drawing/2014/main" id="{8AC500ED-CDEF-470C-BF66-A226F184DFFB}"/>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
        <p:nvSpPr>
          <p:cNvPr id="5" name="">
            <a:extLst xmlns:a="http://schemas.openxmlformats.org/drawingml/2006/main">
              <a:ext uri="{FF2B5EF4-FFF2-40B4-BE49-F238E27FC236}">
                <a16:creationId xmlns:a16="http://schemas.microsoft.com/office/drawing/2014/main" id="{E91894FE-616B-4DDB-9F12-C27DB079CF47}"/>
              </a:ext>
            </a:extLst>
          </p:cNvPr>
          <p:cNvSpPr>
            <a:spLocks xmlns:a="http://schemas.openxmlformats.org/drawingml/2006/main" noGrp="1"/>
          </p:cNvSpPr>
          <p:nvPr/>
        </p:nvSpPr>
        <p:spPr>
          <a:xfrm xmlns:a="http://schemas.openxmlformats.org/drawingml/2006/main">
            <a:off x="533400" y="1809750"/>
            <a:ext cx="3333750" cy="31432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6" name="">
            <a:extLst xmlns:a="http://schemas.openxmlformats.org/drawingml/2006/main">
              <a:ext uri="{FF2B5EF4-FFF2-40B4-BE49-F238E27FC236}">
                <a16:creationId xmlns:a16="http://schemas.microsoft.com/office/drawing/2014/main" id="{057381C6-90AB-437B-9D12-878CCB5D0486}"/>
              </a:ext>
            </a:extLst>
          </p:cNvPr>
          <p:cNvSpPr>
            <a:spLocks xmlns:a="http://schemas.openxmlformats.org/drawingml/2006/main" noGrp="1"/>
          </p:cNvSpPr>
          <p:nvPr/>
        </p:nvSpPr>
        <p:spPr>
          <a:xfrm xmlns:a="http://schemas.openxmlformats.org/drawingml/2006/main">
            <a:off x="762000" y="2038350"/>
            <a:ext cx="2876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123B63"/>
                </a:solidFill>
                <a:latin typeface="Arial"/>
                <a:ea typeface="Arial"/>
                <a:cs typeface="Arial"/>
              </a:defRPr>
            </a:pPr>
            <a:r>
              <a:rPr sz="3150" b="1">
                <a:solidFill>
                  <a:srgbClr val="123B63"/>
                </a:solidFill>
                <a:latin typeface="Arial"/>
                <a:ea typeface="Arial"/>
                <a:cs typeface="Arial"/>
              </a:rPr>
              <a:t>97–99%</a:t>
            </a:r>
          </a:p>
        </p:txBody>
      </p:sp>
      <p:sp>
        <p:nvSpPr>
          <p:cNvPr id="7" name="">
            <a:extLst xmlns:a="http://schemas.openxmlformats.org/drawingml/2006/main">
              <a:ext uri="{FF2B5EF4-FFF2-40B4-BE49-F238E27FC236}">
                <a16:creationId xmlns:a16="http://schemas.microsoft.com/office/drawing/2014/main" id="{ED1BB1B8-47F0-45F6-871E-617869A9F53B}"/>
              </a:ext>
            </a:extLst>
          </p:cNvPr>
          <p:cNvSpPr>
            <a:spLocks xmlns:a="http://schemas.openxmlformats.org/drawingml/2006/main" noGrp="1"/>
          </p:cNvSpPr>
          <p:nvPr/>
        </p:nvSpPr>
        <p:spPr>
          <a:xfrm xmlns:a="http://schemas.openxmlformats.org/drawingml/2006/main">
            <a:off x="762000" y="2800350"/>
            <a:ext cx="2876550" cy="1962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KVALITET</a:t>
            </a:r>
          </a:p>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Stabilna rešenja bliska referentnom optimumu na sve tri instance.</a:t>
            </a:r>
          </a:p>
        </p:txBody>
      </p:sp>
      <p:sp>
        <p:nvSpPr>
          <p:cNvPr id="8" name="">
            <a:extLst xmlns:a="http://schemas.openxmlformats.org/drawingml/2006/main">
              <a:ext uri="{FF2B5EF4-FFF2-40B4-BE49-F238E27FC236}">
                <a16:creationId xmlns:a16="http://schemas.microsoft.com/office/drawing/2014/main" id="{1ED0F6E5-6F6B-4DAF-BECA-0FBF0AB5EC02}"/>
              </a:ext>
            </a:extLst>
          </p:cNvPr>
          <p:cNvSpPr>
            <a:spLocks xmlns:a="http://schemas.openxmlformats.org/drawingml/2006/main" noGrp="1"/>
          </p:cNvSpPr>
          <p:nvPr/>
        </p:nvSpPr>
        <p:spPr>
          <a:xfrm xmlns:a="http://schemas.openxmlformats.org/drawingml/2006/main">
            <a:off x="4429125" y="1809750"/>
            <a:ext cx="3333750" cy="31432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9" name="">
            <a:extLst xmlns:a="http://schemas.openxmlformats.org/drawingml/2006/main">
              <a:ext uri="{FF2B5EF4-FFF2-40B4-BE49-F238E27FC236}">
                <a16:creationId xmlns:a16="http://schemas.microsoft.com/office/drawing/2014/main" id="{C5B329FF-13DE-4BD6-9848-E69485E8DAEF}"/>
              </a:ext>
            </a:extLst>
          </p:cNvPr>
          <p:cNvSpPr>
            <a:spLocks xmlns:a="http://schemas.openxmlformats.org/drawingml/2006/main" noGrp="1"/>
          </p:cNvSpPr>
          <p:nvPr/>
        </p:nvSpPr>
        <p:spPr>
          <a:xfrm xmlns:a="http://schemas.openxmlformats.org/drawingml/2006/main">
            <a:off x="4657725" y="2038350"/>
            <a:ext cx="2876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2E75B6"/>
                </a:solidFill>
                <a:latin typeface="Arial"/>
                <a:ea typeface="Arial"/>
                <a:cs typeface="Arial"/>
              </a:defRPr>
            </a:pPr>
            <a:r>
              <a:rPr sz="3150" b="1">
                <a:solidFill>
                  <a:srgbClr val="2E75B6"/>
                </a:solidFill>
                <a:latin typeface="Arial"/>
                <a:ea typeface="Arial"/>
                <a:cs typeface="Arial"/>
              </a:rPr>
              <a:t>Varira</a:t>
            </a:r>
          </a:p>
        </p:txBody>
      </p:sp>
      <p:sp>
        <p:nvSpPr>
          <p:cNvPr id="10" name="">
            <a:extLst xmlns:a="http://schemas.openxmlformats.org/drawingml/2006/main">
              <a:ext uri="{FF2B5EF4-FFF2-40B4-BE49-F238E27FC236}">
                <a16:creationId xmlns:a16="http://schemas.microsoft.com/office/drawing/2014/main" id="{428B0B13-10BE-4314-8B29-0BE69CE1A18A}"/>
              </a:ext>
            </a:extLst>
          </p:cNvPr>
          <p:cNvSpPr>
            <a:spLocks xmlns:a="http://schemas.openxmlformats.org/drawingml/2006/main" noGrp="1"/>
          </p:cNvSpPr>
          <p:nvPr/>
        </p:nvSpPr>
        <p:spPr>
          <a:xfrm xmlns:a="http://schemas.openxmlformats.org/drawingml/2006/main">
            <a:off x="4657725" y="2800350"/>
            <a:ext cx="2876550" cy="1962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POREĐENJE</a:t>
            </a:r>
          </a:p>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GA je bolji od slučajne pretrage na sve tri instance, ali razlika zavisi od instance.</a:t>
            </a:r>
          </a:p>
        </p:txBody>
      </p:sp>
      <p:sp>
        <p:nvSpPr>
          <p:cNvPr id="11" name="">
            <a:extLst xmlns:a="http://schemas.openxmlformats.org/drawingml/2006/main">
              <a:ext uri="{FF2B5EF4-FFF2-40B4-BE49-F238E27FC236}">
                <a16:creationId xmlns:a16="http://schemas.microsoft.com/office/drawing/2014/main" id="{0524FAC7-0F21-4DB3-8DED-566C18119323}"/>
              </a:ext>
            </a:extLst>
          </p:cNvPr>
          <p:cNvSpPr>
            <a:spLocks xmlns:a="http://schemas.openxmlformats.org/drawingml/2006/main" noGrp="1"/>
          </p:cNvSpPr>
          <p:nvPr/>
        </p:nvSpPr>
        <p:spPr>
          <a:xfrm xmlns:a="http://schemas.openxmlformats.org/drawingml/2006/main">
            <a:off x="8324850" y="1809750"/>
            <a:ext cx="3333750" cy="31432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2" name="">
            <a:extLst xmlns:a="http://schemas.openxmlformats.org/drawingml/2006/main">
              <a:ext uri="{FF2B5EF4-FFF2-40B4-BE49-F238E27FC236}">
                <a16:creationId xmlns:a16="http://schemas.microsoft.com/office/drawing/2014/main" id="{73ED9E36-9158-475D-9AB1-B8C59CBD4089}"/>
              </a:ext>
            </a:extLst>
          </p:cNvPr>
          <p:cNvSpPr>
            <a:spLocks xmlns:a="http://schemas.openxmlformats.org/drawingml/2006/main" noGrp="1"/>
          </p:cNvSpPr>
          <p:nvPr/>
        </p:nvSpPr>
        <p:spPr>
          <a:xfrm xmlns:a="http://schemas.openxmlformats.org/drawingml/2006/main">
            <a:off x="8553450" y="2038350"/>
            <a:ext cx="2876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2E7D5B"/>
                </a:solidFill>
                <a:latin typeface="Arial"/>
                <a:ea typeface="Arial"/>
                <a:cs typeface="Arial"/>
              </a:defRPr>
            </a:pPr>
            <a:r>
              <a:rPr sz="3150" b="1">
                <a:solidFill>
                  <a:srgbClr val="2E7D5B"/>
                </a:solidFill>
                <a:latin typeface="Arial"/>
                <a:ea typeface="Arial"/>
                <a:cs typeface="Arial"/>
              </a:rPr>
              <a:t>≈3,5×</a:t>
            </a:r>
          </a:p>
        </p:txBody>
      </p:sp>
      <p:sp>
        <p:nvSpPr>
          <p:cNvPr id="13" name="">
            <a:extLst xmlns:a="http://schemas.openxmlformats.org/drawingml/2006/main">
              <a:ext uri="{FF2B5EF4-FFF2-40B4-BE49-F238E27FC236}">
                <a16:creationId xmlns:a16="http://schemas.microsoft.com/office/drawing/2014/main" id="{E45B6052-BC54-4740-A1DD-7CD1E09B8F7C}"/>
              </a:ext>
            </a:extLst>
          </p:cNvPr>
          <p:cNvSpPr>
            <a:spLocks xmlns:a="http://schemas.openxmlformats.org/drawingml/2006/main" noGrp="1"/>
          </p:cNvSpPr>
          <p:nvPr/>
        </p:nvSpPr>
        <p:spPr>
          <a:xfrm xmlns:a="http://schemas.openxmlformats.org/drawingml/2006/main">
            <a:off x="8553450" y="2800350"/>
            <a:ext cx="2876550" cy="1962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VREME IZVRŠAVANJA</a:t>
            </a:r>
          </a:p>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Oko 3,5× duže za približno 0,15% veću vrednost funkcije cilja pri 200k jedinki.</a:t>
            </a:r>
          </a:p>
        </p:txBody>
      </p:sp>
      <p:sp>
        <p:nvSpPr>
          <p:cNvPr id="14" name="">
            <a:extLst xmlns:a="http://schemas.openxmlformats.org/drawingml/2006/main">
              <a:ext uri="{FF2B5EF4-FFF2-40B4-BE49-F238E27FC236}">
                <a16:creationId xmlns:a16="http://schemas.microsoft.com/office/drawing/2014/main" id="{42C3AA0C-335E-466F-BF41-037FDB644E6D}"/>
              </a:ext>
            </a:extLst>
          </p:cNvPr>
          <p:cNvSpPr>
            <a:spLocks xmlns:a="http://schemas.openxmlformats.org/drawingml/2006/main" noGrp="1"/>
          </p:cNvSpPr>
          <p:nvPr/>
        </p:nvSpPr>
        <p:spPr>
          <a:xfrm xmlns:a="http://schemas.openxmlformats.org/drawingml/2006/main">
            <a:off x="2333625" y="5334000"/>
            <a:ext cx="7524750" cy="647700"/>
          </a:xfrm>
          <a:prstGeom xmlns:a="http://schemas.openxmlformats.org/drawingml/2006/main" prst="rect">
            <a:avLst/>
          </a:prstGeom>
          <a:solidFill xmlns:a="http://schemas.openxmlformats.org/drawingml/2006/main">
            <a:srgbClr val="EAF3F9"/>
          </a:solidFill>
          <a:ln xmlns:a="http://schemas.openxmlformats.org/drawingml/2006/main" w="9525">
            <a:solidFill>
              <a:srgbClr val="EAF3F9"/>
            </a:solidFill>
            <a:prstDash val="solid"/>
          </a:ln>
        </p:spPr>
      </p:sp>
      <p:sp>
        <p:nvSpPr>
          <p:cNvPr id="15" name="">
            <a:extLst xmlns:a="http://schemas.openxmlformats.org/drawingml/2006/main">
              <a:ext uri="{FF2B5EF4-FFF2-40B4-BE49-F238E27FC236}">
                <a16:creationId xmlns:a16="http://schemas.microsoft.com/office/drawing/2014/main" id="{B24F2184-CA2E-47CD-8047-C8080D498A76}"/>
              </a:ext>
            </a:extLst>
          </p:cNvPr>
          <p:cNvSpPr>
            <a:spLocks xmlns:a="http://schemas.openxmlformats.org/drawingml/2006/main" noGrp="1"/>
          </p:cNvSpPr>
          <p:nvPr/>
        </p:nvSpPr>
        <p:spPr>
          <a:xfrm xmlns:a="http://schemas.openxmlformats.org/drawingml/2006/main">
            <a:off x="2619375" y="5505450"/>
            <a:ext cx="695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6"/>
          </a:bodyPr>
          <a:lstStyle xmlns:a="http://schemas.openxmlformats.org/drawingml/2006/main"/>
          <a:p xmlns:a="http://schemas.openxmlformats.org/drawingml/2006/main">
            <a:pPr algn="ctr">
              <a:buNone/>
              <a:defRPr sz="1650" b="1">
                <a:solidFill>
                  <a:srgbClr val="123B63"/>
                </a:solidFill>
                <a:latin typeface="Arial"/>
                <a:ea typeface="Arial"/>
                <a:cs typeface="Arial"/>
              </a:defRPr>
            </a:pPr>
            <a:r>
              <a:rPr sz="1650" b="1">
                <a:solidFill>
                  <a:srgbClr val="123B63"/>
                </a:solidFill>
                <a:latin typeface="Arial"/>
                <a:ea typeface="Arial"/>
                <a:cs typeface="Arial"/>
              </a:rPr>
              <a:t>Praktični izbor je kompromis kvaliteta, vremena i fleksibilnosti modela.</a:t>
            </a:r>
          </a:p>
        </p:txBody>
      </p:sp>
    </p:spTree>
    <p:extLst>
      <p:ext uri="{BB962C8B-B14F-4D97-AF65-F5344CB8AC3E}">
        <p14:creationId xmlns:p14="http://schemas.microsoft.com/office/powerpoint/2010/main" val="20060720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2EE01E7-50B8-4A1E-8B16-937D65D89F73}"/>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23B63"/>
          </a:solidFill>
          <a:ln xmlns:a="http://schemas.openxmlformats.org/drawingml/2006/main" w="0">
            <a:solidFill>
              <a:srgbClr val="123B63"/>
            </a:solidFill>
            <a:prstDash val="solid"/>
          </a:ln>
        </p:spPr>
      </p:sp>
      <p:sp>
        <p:nvSpPr>
          <p:cNvPr id="2" name="">
            <a:extLst xmlns:a="http://schemas.openxmlformats.org/drawingml/2006/main">
              <a:ext uri="{FF2B5EF4-FFF2-40B4-BE49-F238E27FC236}">
                <a16:creationId xmlns:a16="http://schemas.microsoft.com/office/drawing/2014/main" id="{6432CFE7-0CA1-47E3-B8DD-331CC2EC3928}"/>
              </a:ext>
            </a:extLst>
          </p:cNvPr>
          <p:cNvSpPr>
            <a:spLocks xmlns:a="http://schemas.openxmlformats.org/drawingml/2006/main" noGrp="1"/>
          </p:cNvSpPr>
          <p:nvPr/>
        </p:nvSpPr>
        <p:spPr>
          <a:xfrm xmlns:a="http://schemas.openxmlformats.org/drawingml/2006/main">
            <a:off x="571500" y="5143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a:solidFill>
                  <a:srgbClr val="2E75B6"/>
                </a:solidFill>
                <a:latin typeface="Arial"/>
                <a:ea typeface="Arial"/>
                <a:cs typeface="Arial"/>
              </a:defRPr>
            </a:pPr>
            <a:r>
              <a:rPr sz="1500" b="1">
                <a:solidFill>
                  <a:srgbClr val="2E75B6"/>
                </a:solidFill>
                <a:latin typeface="Arial"/>
                <a:ea typeface="Arial"/>
                <a:cs typeface="Arial"/>
              </a:rPr>
              <a:t>ZAKLJUČAK</a:t>
            </a:r>
          </a:p>
        </p:txBody>
      </p:sp>
      <p:sp>
        <p:nvSpPr>
          <p:cNvPr id="3" name="">
            <a:extLst xmlns:a="http://schemas.openxmlformats.org/drawingml/2006/main">
              <a:ext uri="{FF2B5EF4-FFF2-40B4-BE49-F238E27FC236}">
                <a16:creationId xmlns:a16="http://schemas.microsoft.com/office/drawing/2014/main" id="{DF8F25ED-9E9E-4393-AD2C-32BFB637E13E}"/>
              </a:ext>
            </a:extLst>
          </p:cNvPr>
          <p:cNvSpPr>
            <a:spLocks xmlns:a="http://schemas.openxmlformats.org/drawingml/2006/main" noGrp="1"/>
          </p:cNvSpPr>
          <p:nvPr/>
        </p:nvSpPr>
        <p:spPr>
          <a:xfrm xmlns:a="http://schemas.openxmlformats.org/drawingml/2006/main">
            <a:off x="571500" y="1428750"/>
            <a:ext cx="10191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450" b="1">
                <a:solidFill>
                  <a:srgbClr val="111827"/>
                </a:solidFill>
                <a:latin typeface="Arial"/>
                <a:ea typeface="Arial"/>
                <a:cs typeface="Arial"/>
              </a:defRPr>
            </a:pPr>
            <a:r>
              <a:rPr sz="3450" b="1">
                <a:solidFill>
                  <a:srgbClr val="111827"/>
                </a:solidFill>
                <a:latin typeface="Arial"/>
                <a:ea typeface="Arial"/>
                <a:cs typeface="Arial"/>
              </a:rPr>
              <a:t>GA je kvalitetna dopuna, ne zamena za HiGHS</a:t>
            </a:r>
          </a:p>
        </p:txBody>
      </p:sp>
      <p:sp>
        <p:nvSpPr>
          <p:cNvPr id="4" name="">
            <a:extLst xmlns:a="http://schemas.openxmlformats.org/drawingml/2006/main">
              <a:ext uri="{FF2B5EF4-FFF2-40B4-BE49-F238E27FC236}">
                <a16:creationId xmlns:a16="http://schemas.microsoft.com/office/drawing/2014/main" id="{86D97E2D-A436-4B91-81FA-C449A514B54C}"/>
              </a:ext>
            </a:extLst>
          </p:cNvPr>
          <p:cNvSpPr>
            <a:spLocks xmlns:a="http://schemas.openxmlformats.org/drawingml/2006/main" noGrp="1"/>
          </p:cNvSpPr>
          <p:nvPr/>
        </p:nvSpPr>
        <p:spPr>
          <a:xfrm xmlns:a="http://schemas.openxmlformats.org/drawingml/2006/main">
            <a:off x="571500" y="2762250"/>
            <a:ext cx="3143250" cy="18097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5" name="">
            <a:extLst xmlns:a="http://schemas.openxmlformats.org/drawingml/2006/main">
              <a:ext uri="{FF2B5EF4-FFF2-40B4-BE49-F238E27FC236}">
                <a16:creationId xmlns:a16="http://schemas.microsoft.com/office/drawing/2014/main" id="{D76E8C8D-61D3-4844-A78C-BF7D6D282274}"/>
              </a:ext>
            </a:extLst>
          </p:cNvPr>
          <p:cNvSpPr>
            <a:spLocks xmlns:a="http://schemas.openxmlformats.org/drawingml/2006/main" noGrp="1"/>
          </p:cNvSpPr>
          <p:nvPr/>
        </p:nvSpPr>
        <p:spPr>
          <a:xfrm xmlns:a="http://schemas.openxmlformats.org/drawingml/2006/main">
            <a:off x="800100" y="2990850"/>
            <a:ext cx="26860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123B63"/>
                </a:solidFill>
                <a:latin typeface="Arial"/>
                <a:ea typeface="Arial"/>
                <a:cs typeface="Arial"/>
              </a:defRPr>
            </a:pPr>
            <a:r>
              <a:rPr sz="3150" b="1">
                <a:solidFill>
                  <a:srgbClr val="123B63"/>
                </a:solidFill>
                <a:latin typeface="Arial"/>
                <a:ea typeface="Arial"/>
                <a:cs typeface="Arial"/>
              </a:rPr>
              <a:t>97–99%</a:t>
            </a:r>
          </a:p>
        </p:txBody>
      </p:sp>
      <p:sp>
        <p:nvSpPr>
          <p:cNvPr id="6" name="">
            <a:extLst xmlns:a="http://schemas.openxmlformats.org/drawingml/2006/main">
              <a:ext uri="{FF2B5EF4-FFF2-40B4-BE49-F238E27FC236}">
                <a16:creationId xmlns:a16="http://schemas.microsoft.com/office/drawing/2014/main" id="{94A21108-8758-428B-848C-E3F058658EAA}"/>
              </a:ext>
            </a:extLst>
          </p:cNvPr>
          <p:cNvSpPr>
            <a:spLocks xmlns:a="http://schemas.openxmlformats.org/drawingml/2006/main" noGrp="1"/>
          </p:cNvSpPr>
          <p:nvPr/>
        </p:nvSpPr>
        <p:spPr>
          <a:xfrm xmlns:a="http://schemas.openxmlformats.org/drawingml/2006/main">
            <a:off x="800100" y="3752850"/>
            <a:ext cx="2686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kvalitet rešenja na ispitanim instancama</a:t>
            </a:r>
          </a:p>
        </p:txBody>
      </p:sp>
      <p:sp>
        <p:nvSpPr>
          <p:cNvPr id="7" name="">
            <a:extLst xmlns:a="http://schemas.openxmlformats.org/drawingml/2006/main">
              <a:ext uri="{FF2B5EF4-FFF2-40B4-BE49-F238E27FC236}">
                <a16:creationId xmlns:a16="http://schemas.microsoft.com/office/drawing/2014/main" id="{EA2DB837-709D-4170-A967-190B6988FA68}"/>
              </a:ext>
            </a:extLst>
          </p:cNvPr>
          <p:cNvSpPr>
            <a:spLocks xmlns:a="http://schemas.openxmlformats.org/drawingml/2006/main" noGrp="1"/>
          </p:cNvSpPr>
          <p:nvPr/>
        </p:nvSpPr>
        <p:spPr>
          <a:xfrm xmlns:a="http://schemas.openxmlformats.org/drawingml/2006/main">
            <a:off x="4286250" y="2762250"/>
            <a:ext cx="3143250" cy="18097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8" name="">
            <a:extLst xmlns:a="http://schemas.openxmlformats.org/drawingml/2006/main">
              <a:ext uri="{FF2B5EF4-FFF2-40B4-BE49-F238E27FC236}">
                <a16:creationId xmlns:a16="http://schemas.microsoft.com/office/drawing/2014/main" id="{6622223C-F82A-44C5-A4BD-F9C0B34A8882}"/>
              </a:ext>
            </a:extLst>
          </p:cNvPr>
          <p:cNvSpPr>
            <a:spLocks xmlns:a="http://schemas.openxmlformats.org/drawingml/2006/main" noGrp="1"/>
          </p:cNvSpPr>
          <p:nvPr/>
        </p:nvSpPr>
        <p:spPr>
          <a:xfrm xmlns:a="http://schemas.openxmlformats.org/drawingml/2006/main">
            <a:off x="4514850" y="2990850"/>
            <a:ext cx="26860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a:solidFill>
                  <a:srgbClr val="2E75B6"/>
                </a:solidFill>
                <a:latin typeface="Arial"/>
                <a:ea typeface="Arial"/>
                <a:cs typeface="Arial"/>
              </a:defRPr>
            </a:pPr>
            <a:r>
              <a:rPr sz="3150" b="1">
                <a:solidFill>
                  <a:srgbClr val="2E75B6"/>
                </a:solidFill>
                <a:latin typeface="Arial"/>
                <a:ea typeface="Arial"/>
                <a:cs typeface="Arial"/>
              </a:rPr>
              <a:t>HiGHS prvo</a:t>
            </a:r>
          </a:p>
        </p:txBody>
      </p:sp>
      <p:sp>
        <p:nvSpPr>
          <p:cNvPr id="9" name="">
            <a:extLst xmlns:a="http://schemas.openxmlformats.org/drawingml/2006/main">
              <a:ext uri="{FF2B5EF4-FFF2-40B4-BE49-F238E27FC236}">
                <a16:creationId xmlns:a16="http://schemas.microsoft.com/office/drawing/2014/main" id="{B7A80611-9279-4391-B9E0-D6306DFE1600}"/>
              </a:ext>
            </a:extLst>
          </p:cNvPr>
          <p:cNvSpPr>
            <a:spLocks xmlns:a="http://schemas.openxmlformats.org/drawingml/2006/main" noGrp="1"/>
          </p:cNvSpPr>
          <p:nvPr/>
        </p:nvSpPr>
        <p:spPr>
          <a:xfrm xmlns:a="http://schemas.openxmlformats.org/drawingml/2006/main">
            <a:off x="4514850" y="3752850"/>
            <a:ext cx="2686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za statičke linearne instance ovog rada</a:t>
            </a:r>
          </a:p>
        </p:txBody>
      </p:sp>
      <p:sp>
        <p:nvSpPr>
          <p:cNvPr id="10" name="">
            <a:extLst xmlns:a="http://schemas.openxmlformats.org/drawingml/2006/main">
              <a:ext uri="{FF2B5EF4-FFF2-40B4-BE49-F238E27FC236}">
                <a16:creationId xmlns:a16="http://schemas.microsoft.com/office/drawing/2014/main" id="{58A3C622-05F3-4AAE-B305-4261CE70100C}"/>
              </a:ext>
            </a:extLst>
          </p:cNvPr>
          <p:cNvSpPr>
            <a:spLocks xmlns:a="http://schemas.openxmlformats.org/drawingml/2006/main" noGrp="1"/>
          </p:cNvSpPr>
          <p:nvPr/>
        </p:nvSpPr>
        <p:spPr>
          <a:xfrm xmlns:a="http://schemas.openxmlformats.org/drawingml/2006/main">
            <a:off x="8001000" y="2762250"/>
            <a:ext cx="3143250" cy="1809750"/>
          </a:xfrm>
          <a:prstGeom xmlns:a="http://schemas.openxmlformats.org/drawingml/2006/main" prst="rect">
            <a:avLst/>
          </a:prstGeom>
          <a:solidFill xmlns:a="http://schemas.openxmlformats.org/drawingml/2006/main">
            <a:srgbClr val="F2F4F6"/>
          </a:solidFill>
          <a:ln xmlns:a="http://schemas.openxmlformats.org/drawingml/2006/main" w="9525">
            <a:solidFill>
              <a:srgbClr val="F2F4F6"/>
            </a:solidFill>
            <a:prstDash val="solid"/>
          </a:ln>
        </p:spPr>
      </p:sp>
      <p:sp>
        <p:nvSpPr>
          <p:cNvPr id="11" name="">
            <a:extLst xmlns:a="http://schemas.openxmlformats.org/drawingml/2006/main">
              <a:ext uri="{FF2B5EF4-FFF2-40B4-BE49-F238E27FC236}">
                <a16:creationId xmlns:a16="http://schemas.microsoft.com/office/drawing/2014/main" id="{F399FC8B-363D-4913-A8A3-C974C25348CA}"/>
              </a:ext>
            </a:extLst>
          </p:cNvPr>
          <p:cNvSpPr>
            <a:spLocks xmlns:a="http://schemas.openxmlformats.org/drawingml/2006/main" noGrp="1"/>
          </p:cNvSpPr>
          <p:nvPr/>
        </p:nvSpPr>
        <p:spPr>
          <a:xfrm xmlns:a="http://schemas.openxmlformats.org/drawingml/2006/main">
            <a:off x="8229600" y="2990850"/>
            <a:ext cx="26860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111"/>
          </a:bodyPr>
          <a:lstStyle xmlns:a="http://schemas.openxmlformats.org/drawingml/2006/main"/>
          <a:p xmlns:a="http://schemas.openxmlformats.org/drawingml/2006/main">
            <a:pPr algn="l">
              <a:buNone/>
              <a:defRPr sz="3150" b="1">
                <a:solidFill>
                  <a:srgbClr val="2E7D5B"/>
                </a:solidFill>
                <a:latin typeface="Arial"/>
                <a:ea typeface="Arial"/>
                <a:cs typeface="Arial"/>
              </a:defRPr>
            </a:pPr>
            <a:r>
              <a:rPr sz="3150" b="1">
                <a:solidFill>
                  <a:srgbClr val="2E7D5B"/>
                </a:solidFill>
                <a:latin typeface="Arial"/>
                <a:ea typeface="Arial"/>
                <a:cs typeface="Arial"/>
              </a:rPr>
              <a:t>GA fleksibilnost</a:t>
            </a:r>
          </a:p>
        </p:txBody>
      </p:sp>
      <p:sp>
        <p:nvSpPr>
          <p:cNvPr id="12" name="">
            <a:extLst xmlns:a="http://schemas.openxmlformats.org/drawingml/2006/main">
              <a:ext uri="{FF2B5EF4-FFF2-40B4-BE49-F238E27FC236}">
                <a16:creationId xmlns:a16="http://schemas.microsoft.com/office/drawing/2014/main" id="{C9BE9AE3-CF9E-46FA-A9B4-DF28CAF87062}"/>
              </a:ext>
            </a:extLst>
          </p:cNvPr>
          <p:cNvSpPr>
            <a:spLocks xmlns:a="http://schemas.openxmlformats.org/drawingml/2006/main" noGrp="1"/>
          </p:cNvSpPr>
          <p:nvPr/>
        </p:nvSpPr>
        <p:spPr>
          <a:xfrm xmlns:a="http://schemas.openxmlformats.org/drawingml/2006/main">
            <a:off x="8229600" y="3752850"/>
            <a:ext cx="2686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536273"/>
                </a:solidFill>
                <a:latin typeface="Arial"/>
                <a:ea typeface="Arial"/>
                <a:cs typeface="Arial"/>
              </a:defRPr>
            </a:pPr>
            <a:r>
              <a:rPr sz="1425" b="0">
                <a:solidFill>
                  <a:srgbClr val="536273"/>
                </a:solidFill>
                <a:latin typeface="Arial"/>
                <a:ea typeface="Arial"/>
                <a:cs typeface="Arial"/>
              </a:rPr>
              <a:t>za proširene, dinamičke i višekriterijumske modele</a:t>
            </a:r>
          </a:p>
        </p:txBody>
      </p:sp>
      <p:sp>
        <p:nvSpPr>
          <p:cNvPr id="13" name="">
            <a:extLst xmlns:a="http://schemas.openxmlformats.org/drawingml/2006/main">
              <a:ext uri="{FF2B5EF4-FFF2-40B4-BE49-F238E27FC236}">
                <a16:creationId xmlns:a16="http://schemas.microsoft.com/office/drawing/2014/main" id="{A57E01C3-7678-4EF3-8D69-EFBBACE36FB9}"/>
              </a:ext>
            </a:extLst>
          </p:cNvPr>
          <p:cNvSpPr>
            <a:spLocks xmlns:a="http://schemas.openxmlformats.org/drawingml/2006/main" noGrp="1"/>
          </p:cNvSpPr>
          <p:nvPr/>
        </p:nvSpPr>
        <p:spPr>
          <a:xfrm xmlns:a="http://schemas.openxmlformats.org/drawingml/2006/main">
            <a:off x="571500" y="5238750"/>
            <a:ext cx="1000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23B63"/>
                </a:solidFill>
                <a:latin typeface="Arial"/>
                <a:ea typeface="Arial"/>
                <a:cs typeface="Arial"/>
              </a:defRPr>
            </a:pPr>
            <a:r>
              <a:rPr sz="1425" b="0">
                <a:solidFill>
                  <a:srgbClr val="123B63"/>
                </a:solidFill>
                <a:latin typeface="Arial"/>
                <a:ea typeface="Arial"/>
                <a:cs typeface="Arial"/>
              </a:rPr>
              <a:t>Dalji rad: adaptivni operatori · lokalna pretraga · dinamičke instance · više ciljeva</a:t>
            </a:r>
          </a:p>
        </p:txBody>
      </p:sp>
      <p:sp>
        <p:nvSpPr>
          <p:cNvPr id="14" name="">
            <a:extLst xmlns:a="http://schemas.openxmlformats.org/drawingml/2006/main">
              <a:ext uri="{FF2B5EF4-FFF2-40B4-BE49-F238E27FC236}">
                <a16:creationId xmlns:a16="http://schemas.microsoft.com/office/drawing/2014/main" id="{07B6D951-205C-4CC2-9910-983F50D3FAE6}"/>
              </a:ext>
            </a:extLst>
          </p:cNvPr>
          <p:cNvSpPr>
            <a:spLocks xmlns:a="http://schemas.openxmlformats.org/drawingml/2006/main" noGrp="1"/>
          </p:cNvSpPr>
          <p:nvPr/>
        </p:nvSpPr>
        <p:spPr>
          <a:xfrm xmlns:a="http://schemas.openxmlformats.org/drawingml/2006/main">
            <a:off x="571500" y="590550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a:solidFill>
                  <a:srgbClr val="536273"/>
                </a:solidFill>
                <a:latin typeface="Arial"/>
                <a:ea typeface="Arial"/>
                <a:cs typeface="Arial"/>
              </a:defRPr>
            </a:pPr>
            <a:r>
              <a:rPr sz="1350" b="1">
                <a:solidFill>
                  <a:srgbClr val="536273"/>
                </a:solidFill>
                <a:latin typeface="Arial"/>
                <a:ea typeface="Arial"/>
                <a:cs typeface="Arial"/>
              </a:rPr>
              <a:t>Hvala na pažnji</a:t>
            </a:r>
          </a:p>
        </p:txBody>
      </p:sp>
      <p:sp>
        <p:nvSpPr>
          <p:cNvPr id="15" name="slide-12-number">
            <a:extLst xmlns:a="http://schemas.openxmlformats.org/drawingml/2006/main">
              <a:ext uri="{FF2B5EF4-FFF2-40B4-BE49-F238E27FC236}">
                <a16:creationId xmlns:a16="http://schemas.microsoft.com/office/drawing/2014/main" id="{80A4C6E4-60D3-4054-A6B7-E9881687C644}"/>
              </a:ext>
            </a:extLst>
          </p:cNvPr>
          <p:cNvSpPr>
            <a:spLocks xmlns:a="http://schemas.openxmlformats.org/drawingml/2006/main" noGrp="1"/>
          </p:cNvSpPr>
          <p:nvPr/>
        </p:nvSpPr>
        <p:spPr>
          <a:xfrm xmlns:a="http://schemas.openxmlformats.org/drawingml/2006/main">
            <a:off x="10134600" y="634365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0">
                <a:solidFill>
                  <a:srgbClr val="536273"/>
                </a:solidFill>
                <a:latin typeface="Arial"/>
                <a:ea typeface="Arial"/>
                <a:cs typeface="Arial"/>
              </a:defRPr>
            </a:pPr>
            <a:r>
              <a:rPr sz="975" b="0">
                <a:solidFill>
                  <a:srgbClr val="536273"/>
                </a:solidFill>
                <a:latin typeface="Arial"/>
                <a:ea typeface="Arial"/>
                <a:cs typeface="Arial"/>
              </a:rPr>
              <a:t>12/12</a:t>
            </a:r>
          </a:p>
        </p:txBody>
      </p:sp>
      <p:sp>
        <p:nvSpPr>
          <p:cNvPr id="16" name="slide-12-footer">
            <a:extLst xmlns:a="http://schemas.openxmlformats.org/drawingml/2006/main">
              <a:ext uri="{FF2B5EF4-FFF2-40B4-BE49-F238E27FC236}">
                <a16:creationId xmlns:a16="http://schemas.microsoft.com/office/drawing/2014/main" id="{59102BAF-91B0-44B2-BFE2-9D87C573E268}"/>
              </a:ext>
            </a:extLst>
          </p:cNvPr>
          <p:cNvSpPr>
            <a:spLocks xmlns:a="http://schemas.openxmlformats.org/drawingml/2006/main" noGrp="1"/>
          </p:cNvSpPr>
          <p:nvPr/>
        </p:nvSpPr>
        <p:spPr>
          <a:xfrm xmlns:a="http://schemas.openxmlformats.org/drawingml/2006/main">
            <a:off x="533400" y="6343650"/>
            <a:ext cx="495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0">
                <a:solidFill>
                  <a:srgbClr val="536273"/>
                </a:solidFill>
                <a:latin typeface="Arial"/>
                <a:ea typeface="Arial"/>
                <a:cs typeface="Arial"/>
              </a:defRPr>
            </a:pPr>
            <a:r>
              <a:rPr sz="825" b="0">
                <a:solidFill>
                  <a:srgbClr val="536273"/>
                </a:solidFill>
                <a:latin typeface="Arial"/>
                <a:ea typeface="Arial"/>
                <a:cs typeface="Arial"/>
              </a:rPr>
              <a:t>OPTIMALNA RASPODELA POSLOVA NA RAČUNARIMA</a:t>
            </a:r>
          </a:p>
        </p:txBody>
      </p:sp>
    </p:spTree>
    <p:extLst>
      <p:ext uri="{BB962C8B-B14F-4D97-AF65-F5344CB8AC3E}">
        <p14:creationId xmlns:p14="http://schemas.microsoft.com/office/powerpoint/2010/main" val="2565504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2026-08-28T10:11:35.9300000Z</dcterms:created>
  <dcterms:modified xsi:type="dcterms:W3CDTF">2026-08-28T10:11:35.9300000Z</dcterms:modified>
</coreProperties>
</file>