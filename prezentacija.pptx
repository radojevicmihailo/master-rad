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efddee6f9cf4772" Type="http://schemas.openxmlformats.org/officeDocument/2006/relationships/officeDocument" Target="ppt/presentation.xml"/><Relationship Id="Rc99a24aca9394a2e" Type="http://schemas.openxmlformats.org/package/2006/relationships/metadata/core-properties" Target="docProps/core.xml"/><Relationship Id="Rfc1d8dba948d4e60"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9c5a232ee754faa"/>
  </p:sldMasterIdLst>
  <p:notesMasterIdLst>
    <p:notesMasterId xmlns:r="http://schemas.openxmlformats.org/officeDocument/2006/relationships" r:id="R8238d6a9f433450e"/>
  </p:notesMasterIdLst>
  <p:sldIdLst>
    <p:sldId xmlns:r="http://schemas.openxmlformats.org/officeDocument/2006/relationships" id="256" r:id="Ra045a190b5314b2f"/>
    <p:sldId xmlns:r="http://schemas.openxmlformats.org/officeDocument/2006/relationships" id="257" r:id="R368a54c64a5347b9"/>
    <p:sldId xmlns:r="http://schemas.openxmlformats.org/officeDocument/2006/relationships" id="258" r:id="R6ef7625030214358"/>
    <p:sldId xmlns:r="http://schemas.openxmlformats.org/officeDocument/2006/relationships" id="259" r:id="Re50a7aa1e8454a53"/>
    <p:sldId xmlns:r="http://schemas.openxmlformats.org/officeDocument/2006/relationships" id="260" r:id="Rc449e0250de74ec0"/>
    <p:sldId xmlns:r="http://schemas.openxmlformats.org/officeDocument/2006/relationships" id="261" r:id="R9c54225ea0d94741"/>
    <p:sldId xmlns:r="http://schemas.openxmlformats.org/officeDocument/2006/relationships" id="262" r:id="Rd0f1c8d867254bb0"/>
    <p:sldId xmlns:r="http://schemas.openxmlformats.org/officeDocument/2006/relationships" id="263" r:id="R32cbed51082e42c5"/>
    <p:sldId xmlns:r="http://schemas.openxmlformats.org/officeDocument/2006/relationships" id="264" r:id="Rb075f8ca42274327"/>
    <p:sldId xmlns:r="http://schemas.openxmlformats.org/officeDocument/2006/relationships" id="265" r:id="R558a44de2a1841a5"/>
    <p:sldId xmlns:r="http://schemas.openxmlformats.org/officeDocument/2006/relationships" id="266" r:id="Re55f5fcc36534f41"/>
    <p:sldId xmlns:r="http://schemas.openxmlformats.org/officeDocument/2006/relationships" id="267" r:id="R3582adf7d02643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32cbed51082e42c5" Type="http://schemas.openxmlformats.org/officeDocument/2006/relationships/slide" Target="slides/slide8.xml"/><Relationship Id="R3582adf7d02643f6" Type="http://schemas.openxmlformats.org/officeDocument/2006/relationships/slide" Target="slides/slide12.xml"/><Relationship Id="R368a54c64a5347b9" Type="http://schemas.openxmlformats.org/officeDocument/2006/relationships/slide" Target="slides/slide2.xml"/><Relationship Id="R515e0467d5a84a48" Type="http://schemas.openxmlformats.org/officeDocument/2006/relationships/presProps" Target="presProps.xml"/><Relationship Id="R558a44de2a1841a5" Type="http://schemas.openxmlformats.org/officeDocument/2006/relationships/slide" Target="slides/slide10.xml"/><Relationship Id="R6ef7625030214358" Type="http://schemas.openxmlformats.org/officeDocument/2006/relationships/slide" Target="slides/slide3.xml"/><Relationship Id="R717ec1a6bf614183" Type="http://schemas.openxmlformats.org/officeDocument/2006/relationships/theme" Target="theme/theme1.xml"/><Relationship Id="R8238d6a9f433450e" Type="http://schemas.openxmlformats.org/officeDocument/2006/relationships/notesMaster" Target="notesMasters/notesMaster1.xml"/><Relationship Id="R9c54225ea0d94741" Type="http://schemas.openxmlformats.org/officeDocument/2006/relationships/slide" Target="slides/slide6.xml"/><Relationship Id="Ra045a190b5314b2f" Type="http://schemas.openxmlformats.org/officeDocument/2006/relationships/slide" Target="slides/slide1.xml"/><Relationship Id="Rb075f8ca42274327" Type="http://schemas.openxmlformats.org/officeDocument/2006/relationships/slide" Target="slides/slide9.xml"/><Relationship Id="Rc449e0250de74ec0" Type="http://schemas.openxmlformats.org/officeDocument/2006/relationships/slide" Target="slides/slide5.xml"/><Relationship Id="Rd0f1c8d867254bb0" Type="http://schemas.openxmlformats.org/officeDocument/2006/relationships/slide" Target="slides/slide7.xml"/><Relationship Id="Rd9c5a232ee754faa" Type="http://schemas.openxmlformats.org/officeDocument/2006/relationships/slideMaster" Target="slideMasters/slideMaster1.xml"/><Relationship Id="Re50a7aa1e8454a53" Type="http://schemas.openxmlformats.org/officeDocument/2006/relationships/slide" Target="slides/slide4.xml"/><Relationship Id="Re55f5fcc36534f41" Type="http://schemas.openxmlformats.org/officeDocument/2006/relationships/slide" Target="slides/slide11.xml"/><Relationship Id="Rf2738ea30d0a4b9c"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c7141d63c54b4a3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5be887c27b7419b" Type="http://schemas.openxmlformats.org/officeDocument/2006/relationships/notesMaster" Target="../notesMasters/notesMaster1.xml"/><Relationship Id="Rda68cd4cf4d9402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1398b1e8432e42c1" Type="http://schemas.openxmlformats.org/officeDocument/2006/relationships/notesMaster" Target="../notesMasters/notesMaster1.xml"/><Relationship Id="Re4e0a5165f21458a"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39fafe21e36644a7" Type="http://schemas.openxmlformats.org/officeDocument/2006/relationships/slide" Target="../slides/slide3.xml"/><Relationship Id="Rda934c193c4d44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368189fd15b4199" Type="http://schemas.openxmlformats.org/officeDocument/2006/relationships/slide" Target="../slides/slide4.xml"/><Relationship Id="R729d3e8bb3104b84"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bbcc076df6c4cbd" Type="http://schemas.openxmlformats.org/officeDocument/2006/relationships/slide" Target="../slides/slide5.xml"/><Relationship Id="Rf0bf0f4252d54ff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08bd6bb003f84da6" Type="http://schemas.openxmlformats.org/officeDocument/2006/relationships/slide" Target="../slides/slide6.xml"/><Relationship Id="R99fb13747de3493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c054c56d19614f93" Type="http://schemas.openxmlformats.org/officeDocument/2006/relationships/slide" Target="../slides/slide7.xml"/><Relationship Id="Rce035e47497e4f2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edeee7e99c674a74" Type="http://schemas.openxmlformats.org/officeDocument/2006/relationships/slide" Target="../slides/slide8.xml"/><Relationship Id="Rfed51ebc247e4d03"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61f31c22b2e4662" Type="http://schemas.openxmlformats.org/officeDocument/2006/relationships/notesMaster" Target="../notesMasters/notesMaster1.xml"/><Relationship Id="Rf247b0eb6c074438"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97c31918ca774a26" Type="http://schemas.openxmlformats.org/officeDocument/2006/relationships/slide" Target="../slides/slide10.xml"/><Relationship Id="R9e2a0f36cd944264"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b9cf34be0405472c" Type="http://schemas.openxmlformats.org/officeDocument/2006/relationships/notesMaster" Target="../notesMasters/notesMaster1.xml"/><Relationship Id="Rb9e37b69c81c4b9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801de555b7d5475e" Type="http://schemas.openxmlformats.org/officeDocument/2006/relationships/notesMaster" Target="../notesMasters/notesMaster1.xml"/><Relationship Id="Re83bee096ad14bda" Type="http://schemas.openxmlformats.org/officeDocument/2006/relationships/slide" Target="../slides/slide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Dobar dan. Ja sam Mihailo Radojević i predstaviću master rad „Optimalna raspodela poslova na računarima“, urađen pod mentorstvom profesora Dragana Olćana i docentkinje Jovane Petrović. Pitanje koje rad postavlja je jednostavno: kako veliki broj poslova rasporediti na skup računara različitih performansi tako da ukupna zarada bude što veća, a da pritom nijedno vremensko ni tržišno ograničenje ne bude prekršeno.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raspolaganju imamo više servisa i više računara, koji se razlikuju po brzini izvršavanja. Veličina p-i-j je zarada po jedinici servisa i na računaru j, t-i-j je vreme izvršavanja te jedinice, a d-i je broj jedinica servisa i koje treba realizovati. Promenljiva x-i-j kaže koliko je jedinica servisa i dodeljeno računaru j. Maksimizujemo ukupnu zaradu uz dva ograničenja: nijedan računar ne sme da prekorači svoje raspoloživo vreme, i ni za jedan servis ne sme se realizovati više jedinica nego što je traženo. Promenljive su celobrojne i nenegativne, pa problem ima m puta n promenljivih.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Rad povezuje ovaj matematički model sa evolutivnom pretragom. Ono što je ovde specifično nije sam genetički algoritam, nego način na koji je rešenje predstavljeno i postupak popravke prilagođen ovom problemu. Hromozom je matrica raspodele poslova, a posle inicijalizacije, ukrštanja i mutacije primenjuje se namenska četvorofazna popravka. Selekcija, elitizam, ukrštanje i mutacija su standardni elementi; matrični zapis hromozoma i popravka su vezani za razmatranu raspodelu poslova.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Popravka je centralni element algoritma i ima četiri determinističke faze. Prva uklanja negativne vrednosti. Druga smanjuje količine tamo gde je premašen zahtev servisa. Treća oslobađa prekoračeno vreme računara tako što uklanja najmanje profitabilne jedinice. Četvrta preostali kapacitet pohlepno popunjava najprofitabilnijim dopustivim poslovima. Genetički algoritam pritom ostaje populaciona globalna pretraga — popravka samo vraća rešenje u dopustivo stanje i lokalno ga dotera.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Ista formulacija ispitana je na tri problema: deset puta deset, sto puta sto i hiljadu puta hiljadu, odnosno sa sto, deset hiljada i milion promenljivih. HiGHS je korišćen kao referentni alat, a slučajna pretraga kao kontrolna metoda. Za dodatnu proveru korišćen je i NEOS server sa Gurobi solverom; on je rešio prve dve instance, ali problem sa milion promenljivih tim putem nije mogao da se reši. Svaka konfiguracija je pokretana više puta, a sva merenja vremena urađena su na istom računaru — MacBook Pro sa M1 Pro procesorom i šesnaest gigabajta memorije.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Grafikon prikazuje najbolje konfiguracije genetičkog algoritma na svakoj instanci; sve navedene vrednosti su proseci pokretanja, ne najbolja pojedinačna pokretanja. Na maloj instanci, sa milion evaluacija, algoritam dostiže 98,7 procenata optimuma; još veća konfiguracija diže prosek na 98,9, a najbolje pokretanje prelazi 99 procenata. Na srednjoj instanci prosek je 98,8, a na velikoj 97,1 procenat. To su kvalitetna i stabilna rešenja. Ključni nalaz je ipak drugi: na sve tri ispitane linearne instance HiGHS je bio i bolji i brži. Malu instancu rešava za manje od sekunde, srednju za oko 7,7 sekundi, a na velikoj instanci sa milion promenljivih dokazuje optimum za oko 185 sekundi. Genetičkom algoritmu je na toj instanci potrebno preko četiri sata. Dakle, na ovom modelu on nije zamena za egzaktni alat.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Ovde su obe metode poređene pri istom broju evaluacija na svakoj instanci — sto hiljada na maloj, deset miliona na srednjoj i dva miliona na velikoj — i prikazani su proseci pokretanja. Genetički algoritam je bolji od slučajne pretrage na sve tri instance, ali koliko je bolji zavisi od instance: 98,3 prema 82,9 procenata na maloj, 98,5 prema 49,6 na srednjoj i 97,1 prema 88,0 na velikoj. Najveća razlika je na problemu sto puta sto. Ta razlika ne dolazi od broja evaluacija, jer je budžet isti, a obe metode koriste i isto generisanje početnih rešenja i istu popravku. Ono što ostaje kao objašnjenje jeste doprinos selekcije, ukrštanja, mutacije i elitizma, koji pretragu usmeravaju ka kvalitetnijim raspodelama.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Uz isti ukupan broj od milion evaluacija, populacija od hiljadu jedinki brže napreduje na početku, jer prolazi kroz više generacija. Populacija od dve hiljade napreduje sporije, ali zahvaljujući većoj raznovrsnosti na kraju stiže do nešto bolje prosečne vrednosti — 88.817 prema 88.657 dinara. Veličina populacije, dakle, menja odnos između broja jedinki, broja generacija i raznovrsnosti pretrage.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 instanci sto puta sto konfiguracije su poređane po ukupnom broju evaluacija, od pola miliona do četrdeset miliona; ispod svake oznake stoje veličina populacije i broj generacija čiji je proizvod taj budžet. Levo je prosečan kvalitet, desno prosečno vreme jednog pokretanja. Vreme raste gotovo linearno sa brojem evaluacija, a kvalitet se brzo zasićuje: već pri deset miliona evaluacija imamo 98,5 procenata optimuma. Poslednji korak to pokazuje najjasnije — četiri puta više posla podiže kvalitet za svega 0,15 procenata, a vreme sa petsto na hiljadu sedamsto osamdeset sekundi. Dve konfiguracije sa istih deset miliona evaluacija izdvajaju efekat populacije: sto hiljada jedinki daje bolji rezultat od pedeset hiljada, ali je skuplje po evaluaciji. Zato najveća konfiguracija nije automatski i najbolji inženjerski izbor.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Eksperimentalni zaključak važi za ispitane statičke linearne instance: HiGHS je dao najbolju vrednost funkcije cilja, i to za najkraće vreme. Nelinearnosti, dinamičke promene, više ciljeva i ograničenja koja se teško zapisuju linearno nisu ispitivani; navedeni su kao moguća proširenja modela i pravci primene genetičkog algoritma. Na grafikonu se vidi da je šest pokretanja velike instance dalo veoma slične putanje — ali jedno takvo pokretanje traje oko 3,4 sata. Ograničenje evaluacije je i to što je korišćen po jedan problem svake veličine.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Rezultati daju tri odgovora. Prvo, genetički algoritam nalazi stabilna rešenja kvaliteta od približno 97 do 99 procenata referentnog optimuma. Drugo, bolji je od slučajne pretrage na sve tri instance, a razlika je najizraženija na problemu sto puta sto. Treće, veći računski budžet daje bolju vrednost funkcije cilja, ali uz sve manji dobitak: četiri puta više evaluacija donosi 0,15 procenata boljе rešenje, a traje tri i po puta duže.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Glavni doprinos rada je specijalizovana procedura popravke: posle svake izmene hromozoma ona vraća rešenje u dopustivo stanje i zatim ga poboljšava profitabilnijim dodelama. Za ispitane linearne instance HiGHS ostaje prvi izbor. Primena genetičkog algoritma na proširene, dinamičke i višekriterijumske formulacije nije ispitana u ovom radu i predstavlja pravac daljeg istraživanja, zajedno sa adaptivnim operatorima i lokalnom pretragom. Hvala na pažnji.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4fa52a942d47467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b351107654dc455d" Type="http://schemas.openxmlformats.org/officeDocument/2006/relationships/theme" Target="theme/theme2.xml"/><Relationship Id="Rfaa4c52733424448"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a4c527334244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8f8a47d70d2745e8" Type="http://schemas.openxmlformats.org/officeDocument/2006/relationships/slideLayout" Target="../slideLayouts/slideLayout1.xml"/><Relationship Id="Re6df9296d0154e1c" Type="http://schemas.openxmlformats.org/officeDocument/2006/relationships/image" Target="../media/image.png"/><Relationship Id="Rf1be4ba5fa06421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727b39cac6c46f7" Type="http://schemas.openxmlformats.org/officeDocument/2006/relationships/slideLayout" Target="../slideLayouts/slideLayout1.xml"/><Relationship Id="Re96b1a1e760a4a1c"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b97eac419ae4a18" Type="http://schemas.openxmlformats.org/officeDocument/2006/relationships/notesSlide" Target="../notesSlides/notesSlide3.xml"/><Relationship Id="Rbd58b54b403d429b"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3a97d0e4764b4720" Type="http://schemas.openxmlformats.org/officeDocument/2006/relationships/slideLayout" Target="../slideLayouts/slideLayout1.xml"/><Relationship Id="R78da793326304bc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3c29153fdcac4b42" Type="http://schemas.openxmlformats.org/officeDocument/2006/relationships/notesSlide" Target="../notesSlides/notesSlide5.xml"/><Relationship Id="R81b76aaa87b7450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43e8edc3ddad419d" Type="http://schemas.openxmlformats.org/officeDocument/2006/relationships/slideLayout" Target="../slideLayouts/slideLayout1.xml"/><Relationship Id="R73a8dff73ee64ca3" Type="http://schemas.openxmlformats.org/officeDocument/2006/relationships/chart" Target="charts/chart1.xml"/><Relationship Id="Rebca02f44a3c4c1d"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51f90a48efff4b12" Type="http://schemas.openxmlformats.org/officeDocument/2006/relationships/notesSlide" Target="../notesSlides/notesSlide7.xml"/><Relationship Id="R8c68434b5cbc4815" Type="http://schemas.openxmlformats.org/officeDocument/2006/relationships/slideLayout" Target="../slideLayouts/slideLayout1.xml"/><Relationship Id="Ra2262971577e401f" Type="http://schemas.openxmlformats.org/officeDocument/2006/relationships/chart" Target="charts/chart2.xml"/></Relationships>
</file>

<file path=ppt/slides/_rels/slide8.xml.rels><?xml version='1.0' encoding='UTF-8' standalone='yes'?>
<Relationships xmlns="http://schemas.openxmlformats.org/package/2006/relationships"><Relationship Id="R1d995fd7df9b416c" Type="http://schemas.openxmlformats.org/officeDocument/2006/relationships/slideLayout" Target="../slideLayouts/slideLayout1.xml"/><Relationship Id="R2c3c45797bf14b61" Type="http://schemas.openxmlformats.org/officeDocument/2006/relationships/notesSlide" Target="../notesSlides/notesSlide8.xml"/><Relationship Id="Ra60e1d838d814aef" Type="http://schemas.openxmlformats.org/officeDocument/2006/relationships/image" Target="../media/image2.png"/></Relationships>
</file>

<file path=ppt/slides/_rels/slide9.xml.rels><?xml version='1.0' encoding='UTF-8' standalone='yes'?>
<Relationships xmlns="http://schemas.openxmlformats.org/package/2006/relationships"><Relationship Id="R3219ebe64e724c48" Type="http://schemas.openxmlformats.org/officeDocument/2006/relationships/slideLayout" Target="../slideLayouts/slideLayout1.xml"/><Relationship Id="R5407d28115aa42b7" Type="http://schemas.openxmlformats.org/officeDocument/2006/relationships/chart" Target="charts/chart3.xml"/><Relationship Id="R593713b662c645b1" Type="http://schemas.openxmlformats.org/officeDocument/2006/relationships/chart" Target="charts/chart4.xml"/><Relationship Id="Rd66bb34ef2774f6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5ca5528e1f844849" Type="http://schemas.openxmlformats.org/officeDocument/2006/relationships/slideLayout" Target="../slideLayouts/slideLayout1.xml"/><Relationship Id="Rc81cd45ff9314659" Type="http://schemas.openxmlformats.org/officeDocument/2006/relationships/notesSlide" Target="../notesSlides/notesSlide10.xml"/><Relationship Id="Ref41ab772dc0487a" Type="http://schemas.openxmlformats.org/officeDocument/2006/relationships/image" Target="../media/image3.png"/></Relationships>
</file>

<file path=ppt/slides/_rels/slide11.xml.rels><?xml version='1.0' encoding='UTF-8' standalone='yes'?>
<Relationships xmlns="http://schemas.openxmlformats.org/package/2006/relationships"><Relationship Id="Rd742230759b849c0" Type="http://schemas.openxmlformats.org/officeDocument/2006/relationships/notesSlide" Target="../notesSlides/notesSlide11.xml"/><Relationship Id="Rfac0c08f96434012"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6eddb082d3f14e1a" Type="http://schemas.openxmlformats.org/officeDocument/2006/relationships/slideLayout" Target="../slideLayouts/slideLayout1.xml"/><Relationship Id="Rd1b17c087d774313" Type="http://schemas.openxmlformats.org/officeDocument/2006/relationships/notesSlide" Target="../notesSlides/notesSlide12.xml"/></Relationships>
</file>

<file path=ppt/slides/charts/chart1.xml><?xml version="1.0" encoding="utf-8"?>
<c:chartSpace xmlns:c="http://schemas.openxmlformats.org/drawingml/2006/chart">
  <c:lang val="en-US"/>
  <c:chart>
    <c:plotArea>
      <c:barChart>
        <c:barDir val="col"/>
        <c:grouping val="clustered"/>
        <c:varyColors val="0"/>
        <c:ser>
          <c:idx val="0"/>
          <c:order val="0"/>
          <c:tx>
            <c:v>HiGHS</c:v>
          </c:tx>
          <c:spPr>
            <a:solidFill xmlns:a="http://schemas.openxmlformats.org/drawingml/2006/main">
              <a:srgbClr val="123B63"/>
            </a:solidFill>
          </c:spPr>
          <c:cat>
            <c:strLit>
              <c:ptCount val="3"/>
              <c:pt idx="0">
                <c:v>10×10</c:v>
              </c:pt>
              <c:pt idx="1">
                <c:v>100×100</c:v>
              </c:pt>
              <c:pt idx="2">
                <c:v>1000×1000</c:v>
              </c:pt>
            </c:strLit>
          </c:cat>
          <c:val>
            <c:numLit>
              <c:formatCode>0.0"%"</c:formatCode>
              <c:ptCount val="3"/>
              <c:pt idx="0">
                <c:v>100</c:v>
              </c:pt>
              <c:pt idx="1">
                <c:v>100</c:v>
              </c:pt>
              <c:pt idx="2">
                <c:v>100</c:v>
              </c:pt>
            </c:numLit>
          </c:val>
        </c:ser>
        <c:ser>
          <c:idx val="1"/>
          <c:order val="1"/>
          <c:tx>
            <c:v>Genetički algoritam</c:v>
          </c:tx>
          <c:spPr>
            <a:solidFill xmlns:a="http://schemas.openxmlformats.org/drawingml/2006/main">
              <a:srgbClr val="73B9E6"/>
            </a:solidFill>
          </c:spPr>
          <c:cat>
            <c:strLit>
              <c:ptCount val="3"/>
              <c:pt idx="0">
                <c:v>10×10</c:v>
              </c:pt>
              <c:pt idx="1">
                <c:v>100×100</c:v>
              </c:pt>
              <c:pt idx="2">
                <c:v>1000×1000</c:v>
              </c:pt>
            </c:strLit>
          </c:cat>
          <c:val>
            <c:numLit>
              <c:formatCode>0.0"%"</c:formatCode>
              <c:ptCount val="3"/>
              <c:pt idx="0">
                <c:v>98.7</c:v>
              </c:pt>
              <c:pt idx="1">
                <c:v>98.8</c:v>
              </c:pt>
              <c:pt idx="2">
                <c:v>97.1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111827"/>
                </a:solidFill>
              </a:defRPr>
            </a:pPr>
          </a:p>
        </c:txPr>
        <c:crossAx val="48672768"/>
      </c:catAx>
      <c:valAx>
        <c:axId val="48672768"/>
        <c:scaling>
          <c:orientation val="minMax"/>
          <c:max val="102"/>
          <c:min val="90"/>
        </c:scaling>
        <c:delete val="0"/>
        <c:axPos val="l"/>
        <c:majorGridlines>
          <c:spPr>
            <a:ln xmlns:a="http://schemas.openxmlformats.org/drawingml/2006/main" w="9525">
              <a:solidFill>
                <a:srgbClr val="E5EAF0"/>
              </a:solidFill>
              <a:prstDash val="solid"/>
            </a:ln>
          </c:spPr>
        </c:majorGridlines>
        <c:numFmt formatCode="0&quot;%&quot;"/>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273"/>
                </a:solidFill>
              </a:defRPr>
            </a:pPr>
          </a:p>
        </c:txPr>
        <c:crossAx val="48650112"/>
        <c:crossBetween val="between"/>
        <c:majorUnit val="2"/>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36273"/>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Genetički algoritam</c:v>
          </c:tx>
          <c:spPr>
            <a:solidFill xmlns:a="http://schemas.openxmlformats.org/drawingml/2006/main">
              <a:srgbClr val="2E75B6"/>
            </a:solidFill>
          </c:spPr>
          <c:cat>
            <c:strLit>
              <c:ptCount val="3"/>
              <c:pt idx="0">
                <c:v>10×10</c:v>
              </c:pt>
              <c:pt idx="1">
                <c:v>100×100</c:v>
              </c:pt>
              <c:pt idx="2">
                <c:v>1000×1000</c:v>
              </c:pt>
            </c:strLit>
          </c:cat>
          <c:val>
            <c:numLit>
              <c:formatCode>0.0"%"</c:formatCode>
              <c:ptCount val="3"/>
              <c:pt idx="0">
                <c:v>98.28</c:v>
              </c:pt>
              <c:pt idx="1">
                <c:v>98.52</c:v>
              </c:pt>
              <c:pt idx="2">
                <c:v>97.1</c:v>
              </c:pt>
            </c:numLit>
          </c:val>
        </c:ser>
        <c:ser>
          <c:idx val="1"/>
          <c:order val="1"/>
          <c:tx>
            <c:v>Slučajna pretraga</c:v>
          </c:tx>
          <c:spPr>
            <a:solidFill xmlns:a="http://schemas.openxmlformats.org/drawingml/2006/main">
              <a:srgbClr val="B8C3CD"/>
            </a:solidFill>
          </c:spPr>
          <c:cat>
            <c:strLit>
              <c:ptCount val="3"/>
              <c:pt idx="0">
                <c:v>10×10</c:v>
              </c:pt>
              <c:pt idx="1">
                <c:v>100×100</c:v>
              </c:pt>
              <c:pt idx="2">
                <c:v>1000×1000</c:v>
              </c:pt>
            </c:strLit>
          </c:cat>
          <c:val>
            <c:numLit>
              <c:formatCode>0.0"%"</c:formatCode>
              <c:ptCount val="3"/>
              <c:pt idx="0">
                <c:v>82.92</c:v>
              </c:pt>
              <c:pt idx="1">
                <c:v>49.59</c:v>
              </c:pt>
              <c:pt idx="2">
                <c:v>87.97</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111827"/>
                </a:solidFill>
              </a:defRPr>
            </a:pPr>
          </a:p>
        </c:txPr>
        <c:crossAx val="48672768"/>
      </c:catAx>
      <c:valAx>
        <c:axId val="48672768"/>
        <c:scaling>
          <c:orientation val="minMax"/>
          <c:max val="105"/>
          <c:min val="40"/>
        </c:scaling>
        <c:delete val="0"/>
        <c:axPos val="l"/>
        <c:majorGridlines>
          <c:spPr>
            <a:ln xmlns:a="http://schemas.openxmlformats.org/drawingml/2006/main" w="9525">
              <a:solidFill>
                <a:srgbClr val="E5EAF0"/>
              </a:solidFill>
              <a:prstDash val="solid"/>
            </a:ln>
          </c:spPr>
        </c:majorGridlines>
        <c:numFmt formatCode="0&quot;%&quot;"/>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900">
                <a:solidFill>
                  <a:srgbClr val="536273"/>
                </a:solidFill>
              </a:defRPr>
            </a:pPr>
          </a:p>
        </c:txPr>
        <c:crossAx val="48650112"/>
        <c:crossBetween val="between"/>
        <c:majorUnit val="1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36273"/>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 optimuma</c:v>
          </c:tx>
          <c:spPr>
            <a:solidFill xmlns:a="http://schemas.openxmlformats.org/drawingml/2006/main">
              <a:srgbClr val="2E75B6"/>
            </a:solidFill>
          </c:spPr>
          <c:cat>
            <c:strLit>
              <c:ptCount val="6"/>
              <c:pt idx="0">
                <c:v>0,5 M
P=5k
G=100</c:v>
              </c:pt>
              <c:pt idx="1">
                <c:v>1 M
P=10k
G=100</c:v>
              </c:pt>
              <c:pt idx="2">
                <c:v>10 M
P=50k
G=200</c:v>
              </c:pt>
              <c:pt idx="3">
                <c:v>10 M
P=100k
G=100</c:v>
              </c:pt>
              <c:pt idx="4">
                <c:v>30 M
P=150k
G=200</c:v>
              </c:pt>
              <c:pt idx="5">
                <c:v>40 M
P=200k
G=200</c:v>
              </c:pt>
            </c:strLit>
          </c:cat>
          <c:val>
            <c:numLit>
              <c:formatCode>0.00"%"</c:formatCode>
              <c:ptCount val="6"/>
              <c:pt idx="0">
                <c:v>97.9483</c:v>
              </c:pt>
              <c:pt idx="1">
                <c:v>98.1398</c:v>
              </c:pt>
              <c:pt idx="2">
                <c:v>98.5241</c:v>
              </c:pt>
              <c:pt idx="3">
                <c:v>98.6804</c:v>
              </c:pt>
              <c:pt idx="4">
                <c:v>98.7401</c:v>
              </c:pt>
              <c:pt idx="5">
                <c:v>98.8290</c:v>
              </c:pt>
            </c:numLit>
          </c:val>
        </c:ser>
        <c:dLbls>
          <c:txPr>
            <a:bodyPr xmlns:a="http://schemas.openxmlformats.org/drawingml/2006/main" anchorCtr="1"/>
            <a:lstStyle xmlns:a="http://schemas.openxmlformats.org/drawingml/2006/main"/>
            <a:p xmlns:a="http://schemas.openxmlformats.org/drawingml/2006/main">
              <a:pPr>
                <a:defRPr sz="900" b="1">
                  <a:solidFill>
                    <a:srgbClr val="111827"/>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crossAx val="48672768"/>
      </c:catAx>
      <c:valAx>
        <c:axId val="48672768"/>
        <c:scaling>
          <c:orientation val="minMax"/>
          <c:max val="99"/>
          <c:min val="97.8"/>
        </c:scaling>
        <c:delete val="0"/>
        <c:axPos val="l"/>
        <c:majorGridlines>
          <c:spPr>
            <a:ln xmlns:a="http://schemas.openxmlformats.org/drawingml/2006/main" w="9525">
              <a:solidFill>
                <a:srgbClr val="E5EAF0"/>
              </a:solidFill>
              <a:prstDash val="solid"/>
            </a:ln>
          </c:spPr>
        </c:majorGridlines>
        <c:numFmt formatCode="0.0&quot;%&quot;"/>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273"/>
                </a:solidFill>
              </a:defRPr>
            </a:pPr>
          </a:p>
        </c:txPr>
        <c:crossAx val="48650112"/>
        <c:crossBetween val="between"/>
        <c:majorUnit val="0.2"/>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Vreme</c:v>
          </c:tx>
          <c:spPr>
            <a:solidFill xmlns:a="http://schemas.openxmlformats.org/drawingml/2006/main">
              <a:srgbClr val="2E7D5B"/>
            </a:solidFill>
          </c:spPr>
          <c:cat>
            <c:strLit>
              <c:ptCount val="6"/>
              <c:pt idx="0">
                <c:v>0,5 M
P=5k
G=100</c:v>
              </c:pt>
              <c:pt idx="1">
                <c:v>1 M
P=10k
G=100</c:v>
              </c:pt>
              <c:pt idx="2">
                <c:v>10 M
P=50k
G=200</c:v>
              </c:pt>
              <c:pt idx="3">
                <c:v>10 M
P=100k
G=100</c:v>
              </c:pt>
              <c:pt idx="4">
                <c:v>30 M
P=150k
G=200</c:v>
              </c:pt>
              <c:pt idx="5">
                <c:v>40 M
P=200k
G=200</c:v>
              </c:pt>
            </c:strLit>
          </c:cat>
          <c:val>
            <c:numLit>
              <c:formatCode>0" s"</c:formatCode>
              <c:ptCount val="6"/>
              <c:pt idx="0">
                <c:v>16.3</c:v>
              </c:pt>
              <c:pt idx="1">
                <c:v>30</c:v>
              </c:pt>
              <c:pt idx="2">
                <c:v>311.4</c:v>
              </c:pt>
              <c:pt idx="3">
                <c:v>503.8</c:v>
              </c:pt>
              <c:pt idx="4">
                <c:v>1382.6</c:v>
              </c:pt>
              <c:pt idx="5">
                <c:v>1778.8</c:v>
              </c:pt>
            </c:numLit>
          </c:val>
        </c:ser>
        <c:dLbls>
          <c:txPr>
            <a:bodyPr xmlns:a="http://schemas.openxmlformats.org/drawingml/2006/main" anchorCtr="1"/>
            <a:lstStyle xmlns:a="http://schemas.openxmlformats.org/drawingml/2006/main"/>
            <a:p xmlns:a="http://schemas.openxmlformats.org/drawingml/2006/main">
              <a:pPr>
                <a:defRPr sz="900" b="1">
                  <a:solidFill>
                    <a:srgbClr val="111827"/>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crossAx val="48672768"/>
      </c:catAx>
      <c:valAx>
        <c:axId val="48672768"/>
        <c:scaling>
          <c:orientation val="minMax"/>
          <c:max val="2000"/>
          <c:min val="0"/>
        </c:scaling>
        <c:delete val="0"/>
        <c:axPos val="l"/>
        <c:majorGridlines>
          <c:spPr>
            <a:ln xmlns:a="http://schemas.openxmlformats.org/drawingml/2006/main" w="9525">
              <a:solidFill>
                <a:srgbClr val="E5EAF0"/>
              </a:solidFill>
              <a:prstDash val="solid"/>
            </a:ln>
          </c:spPr>
        </c:majorGridlines>
        <c:numFmt formatCode="0&quot; s&quot;"/>
        <c:majorTickMark val="none"/>
        <c:minorTickMark val="none"/>
        <c:spPr>
          <a:ln xmlns:a="http://schemas.openxmlformats.org/drawingml/2006/main" w="9525">
            <a:solidFill>
              <a:srgbClr val="C7D0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273"/>
                </a:solidFill>
              </a:defRPr>
            </a:pPr>
          </a:p>
        </c:txPr>
        <c:crossAx val="48650112"/>
        <c:crossBetween val="between"/>
        <c:majorUnit val="50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D45101-D815-4BA7-929C-10D02C319C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23B63"/>
          </a:solidFill>
          <a:ln xmlns:a="http://schemas.openxmlformats.org/drawingml/2006/main" w="0">
            <a:solidFill>
              <a:srgbClr val="123B63"/>
            </a:solidFill>
            <a:prstDash val="solid"/>
          </a:ln>
        </p:spPr>
        <p:txBody xmlns:a="http://schemas.openxmlformats.org/drawingml/2006/main">
          <a:bodyP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6df9296d0154e1c"/>
          <a:stretch xmlns:a="http://schemas.openxmlformats.org/drawingml/2006/main"/>
        </p:blipFill>
        <p:spPr>
          <a:xfrm xmlns:a="http://schemas.openxmlformats.org/drawingml/2006/main">
            <a:off x="9620250" y="476840"/>
            <a:ext cx="1428750" cy="165617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E09C5F-96EA-4559-A1C5-C06338A4D375}"/>
              </a:ext>
            </a:extLst>
          </p:cNvPr>
          <p:cNvSpPr>
            <a:spLocks xmlns:a="http://schemas.openxmlformats.org/drawingml/2006/main" noGrp="1"/>
          </p:cNvSpPr>
          <p:nvPr/>
        </p:nvSpPr>
        <p:spPr>
          <a:xfrm xmlns:a="http://schemas.openxmlformats.org/drawingml/2006/main">
            <a:off x="571500" y="514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E75B6"/>
                </a:solidFill>
                <a:latin typeface="Arial"/>
                <a:ea typeface="Arial"/>
                <a:cs typeface="Arial"/>
              </a:defRPr>
            </a:pPr>
            <a:r>
              <a:rPr sz="1500" b="1">
                <a:solidFill>
                  <a:srgbClr val="2E75B6"/>
                </a:solidFill>
                <a:latin typeface="Arial"/>
                <a:ea typeface="Arial"/>
                <a:cs typeface="Arial"/>
              </a:rPr>
              <a:t>MASTER RAD</a:t>
            </a:r>
          </a:p>
        </p:txBody>
      </p:sp>
      <p:sp>
        <p:nvSpPr>
          <p:cNvPr id="4" name="">
            <a:extLst xmlns:a="http://schemas.openxmlformats.org/drawingml/2006/main">
              <a:ext uri="{FF2B5EF4-FFF2-40B4-BE49-F238E27FC236}">
                <a16:creationId xmlns:a16="http://schemas.microsoft.com/office/drawing/2014/main" id="{5ACB48A7-6317-42E3-BD2F-D5CBCC32ED9B}"/>
              </a:ext>
            </a:extLst>
          </p:cNvPr>
          <p:cNvSpPr>
            <a:spLocks xmlns:a="http://schemas.openxmlformats.org/drawingml/2006/main" noGrp="1"/>
          </p:cNvSpPr>
          <p:nvPr/>
        </p:nvSpPr>
        <p:spPr>
          <a:xfrm xmlns:a="http://schemas.openxmlformats.org/drawingml/2006/main">
            <a:off x="571500" y="1790700"/>
            <a:ext cx="857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800" b="1">
                <a:solidFill>
                  <a:srgbClr val="111827"/>
                </a:solidFill>
                <a:latin typeface="Arial"/>
                <a:ea typeface="Arial"/>
                <a:cs typeface="Arial"/>
              </a:defRPr>
            </a:pPr>
            <a:r>
              <a:rPr sz="4800" b="1">
                <a:solidFill>
                  <a:srgbClr val="111827"/>
                </a:solidFill>
                <a:latin typeface="Arial"/>
                <a:ea typeface="Arial"/>
                <a:cs typeface="Arial"/>
              </a:rPr>
              <a:t>Optimalna raspodela</a:t>
            </a:r>
          </a:p>
          <a:p xmlns:a="http://schemas.openxmlformats.org/drawingml/2006/main">
            <a:pPr algn="l">
              <a:buNone/>
              <a:defRPr sz="4800" b="1">
                <a:solidFill>
                  <a:srgbClr val="111827"/>
                </a:solidFill>
                <a:latin typeface="Arial"/>
                <a:ea typeface="Arial"/>
                <a:cs typeface="Arial"/>
              </a:defRPr>
            </a:pPr>
            <a:r>
              <a:rPr sz="4800" b="1">
                <a:solidFill>
                  <a:srgbClr val="111827"/>
                </a:solidFill>
                <a:latin typeface="Arial"/>
                <a:ea typeface="Arial"/>
                <a:cs typeface="Arial"/>
              </a:rPr>
              <a:t>poslova na računarima</a:t>
            </a:r>
          </a:p>
        </p:txBody>
      </p:sp>
      <p:sp>
        <p:nvSpPr>
          <p:cNvPr id="5" name="">
            <a:extLst xmlns:a="http://schemas.openxmlformats.org/drawingml/2006/main">
              <a:ext uri="{FF2B5EF4-FFF2-40B4-BE49-F238E27FC236}">
                <a16:creationId xmlns:a16="http://schemas.microsoft.com/office/drawing/2014/main" id="{0C606044-428A-4A6E-BA26-8DF441810597}"/>
              </a:ext>
            </a:extLst>
          </p:cNvPr>
          <p:cNvSpPr>
            <a:spLocks xmlns:a="http://schemas.openxmlformats.org/drawingml/2006/main" noGrp="1"/>
          </p:cNvSpPr>
          <p:nvPr/>
        </p:nvSpPr>
        <p:spPr>
          <a:xfrm xmlns:a="http://schemas.openxmlformats.org/drawingml/2006/main">
            <a:off x="571500" y="45720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23B63"/>
                </a:solidFill>
                <a:latin typeface="Arial"/>
                <a:ea typeface="Arial"/>
                <a:cs typeface="Arial"/>
              </a:defRPr>
            </a:pPr>
            <a:r>
              <a:rPr sz="1875" b="1">
                <a:solidFill>
                  <a:srgbClr val="123B63"/>
                </a:solidFill>
                <a:latin typeface="Arial"/>
                <a:ea typeface="Arial"/>
                <a:cs typeface="Arial"/>
              </a:rPr>
              <a:t>Mihailo Radojević 2023/3209</a:t>
            </a:r>
          </a:p>
        </p:txBody>
      </p:sp>
      <p:sp>
        <p:nvSpPr>
          <p:cNvPr id="6" name="">
            <a:extLst xmlns:a="http://schemas.openxmlformats.org/drawingml/2006/main">
              <a:ext uri="{FF2B5EF4-FFF2-40B4-BE49-F238E27FC236}">
                <a16:creationId xmlns:a16="http://schemas.microsoft.com/office/drawing/2014/main" id="{EAF5D1C4-28B9-4B52-BC97-AABB69C447F6}"/>
              </a:ext>
            </a:extLst>
          </p:cNvPr>
          <p:cNvSpPr>
            <a:spLocks xmlns:a="http://schemas.openxmlformats.org/drawingml/2006/main" noGrp="1"/>
          </p:cNvSpPr>
          <p:nvPr/>
        </p:nvSpPr>
        <p:spPr>
          <a:xfrm xmlns:a="http://schemas.openxmlformats.org/drawingml/2006/main">
            <a:off x="571500" y="5095875"/>
            <a:ext cx="838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536273"/>
                </a:solidFill>
                <a:latin typeface="Arial"/>
                <a:ea typeface="Arial"/>
                <a:cs typeface="Arial"/>
              </a:defRPr>
            </a:pPr>
            <a:r>
              <a:rPr sz="1350" b="0">
                <a:solidFill>
                  <a:srgbClr val="536273"/>
                </a:solidFill>
                <a:latin typeface="Arial"/>
                <a:ea typeface="Arial"/>
                <a:cs typeface="Arial"/>
              </a:rPr>
              <a:t>Mentori: dr Dragan Olćan, redovni profesor · dr Jovana Petrović, docent</a:t>
            </a:r>
          </a:p>
        </p:txBody>
      </p:sp>
      <p:sp>
        <p:nvSpPr>
          <p:cNvPr id="7" name="">
            <a:extLst xmlns:a="http://schemas.openxmlformats.org/drawingml/2006/main">
              <a:ext uri="{FF2B5EF4-FFF2-40B4-BE49-F238E27FC236}">
                <a16:creationId xmlns:a16="http://schemas.microsoft.com/office/drawing/2014/main" id="{89F9EDDA-9CA1-4AB6-9D5B-9D0033C1512B}"/>
              </a:ext>
            </a:extLst>
          </p:cNvPr>
          <p:cNvSpPr>
            <a:spLocks xmlns:a="http://schemas.openxmlformats.org/drawingml/2006/main" noGrp="1"/>
          </p:cNvSpPr>
          <p:nvPr/>
        </p:nvSpPr>
        <p:spPr>
          <a:xfrm xmlns:a="http://schemas.openxmlformats.org/drawingml/2006/main">
            <a:off x="571500" y="60198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a:solidFill>
                  <a:srgbClr val="536273"/>
                </a:solidFill>
                <a:latin typeface="Arial"/>
                <a:ea typeface="Arial"/>
                <a:cs typeface="Arial"/>
              </a:defRPr>
            </a:pPr>
            <a:r>
              <a:rPr sz="1125" b="0">
                <a:solidFill>
                  <a:srgbClr val="536273"/>
                </a:solidFill>
                <a:latin typeface="Arial"/>
                <a:ea typeface="Arial"/>
                <a:cs typeface="Arial"/>
              </a:rPr>
              <a:t>Univerzitet u Beogradu · Elektrotehnički fakultet · avgust 2026.</a:t>
            </a:r>
          </a:p>
        </p:txBody>
      </p:sp>
      <p:sp>
        <p:nvSpPr>
          <p:cNvPr id="8" name="slide-1-number">
            <a:extLst xmlns:a="http://schemas.openxmlformats.org/drawingml/2006/main">
              <a:ext uri="{FF2B5EF4-FFF2-40B4-BE49-F238E27FC236}">
                <a16:creationId xmlns:a16="http://schemas.microsoft.com/office/drawing/2014/main" id="{B3211D7F-2E9C-43AA-86B7-DE1904FF465D}"/>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1/12</a:t>
            </a:r>
          </a:p>
        </p:txBody>
      </p:sp>
      <p:sp>
        <p:nvSpPr>
          <p:cNvPr id="9" name="slide-1-footer">
            <a:extLst xmlns:a="http://schemas.openxmlformats.org/drawingml/2006/main">
              <a:ext uri="{FF2B5EF4-FFF2-40B4-BE49-F238E27FC236}">
                <a16:creationId xmlns:a16="http://schemas.microsoft.com/office/drawing/2014/main" id="{0B6C7019-E24C-4520-B75F-5613E73CE780}"/>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Tree>
    <p:extLst>
      <p:ext uri="{BB962C8B-B14F-4D97-AF65-F5344CB8AC3E}">
        <p14:creationId xmlns:p14="http://schemas.microsoft.com/office/powerpoint/2010/main" val="9361696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2-title">
            <a:extLst xmlns:a="http://schemas.openxmlformats.org/drawingml/2006/main">
              <a:ext uri="{FF2B5EF4-FFF2-40B4-BE49-F238E27FC236}">
                <a16:creationId xmlns:a16="http://schemas.microsoft.com/office/drawing/2014/main" id="{AE814951-09B5-4FA7-A90F-874D08C6DBD6}"/>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Problem i matematički model staju u jedan matrični zapis</a:t>
            </a:r>
          </a:p>
        </p:txBody>
      </p:sp>
      <p:cxnSp>
        <p:nvCxnSpPr>
          <p:cNvPr id="34" name="slide-2-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2-number">
            <a:extLst xmlns:a="http://schemas.openxmlformats.org/drawingml/2006/main">
              <a:ext uri="{FF2B5EF4-FFF2-40B4-BE49-F238E27FC236}">
                <a16:creationId xmlns:a16="http://schemas.microsoft.com/office/drawing/2014/main" id="{B2FEACBB-3D1A-4B2F-94E3-43F689DA7BD7}"/>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2/12</a:t>
            </a:r>
          </a:p>
        </p:txBody>
      </p:sp>
      <p:sp>
        <p:nvSpPr>
          <p:cNvPr id="4" name="slide-2-footer">
            <a:extLst xmlns:a="http://schemas.openxmlformats.org/drawingml/2006/main">
              <a:ext uri="{FF2B5EF4-FFF2-40B4-BE49-F238E27FC236}">
                <a16:creationId xmlns:a16="http://schemas.microsoft.com/office/drawing/2014/main" id="{8B6469AA-F9BF-4283-864E-A5145B218471}"/>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125243D9-6C44-497C-8B71-D0F620452202}"/>
              </a:ext>
            </a:extLst>
          </p:cNvPr>
          <p:cNvSpPr>
            <a:spLocks xmlns:a="http://schemas.openxmlformats.org/drawingml/2006/main" noGrp="1"/>
          </p:cNvSpPr>
          <p:nvPr/>
        </p:nvSpPr>
        <p:spPr>
          <a:xfrm xmlns:a="http://schemas.openxmlformats.org/drawingml/2006/main">
            <a:off x="533400" y="1504950"/>
            <a:ext cx="4095750" cy="4457700"/>
          </a:xfrm>
          <a:prstGeom xmlns:a="http://schemas.openxmlformats.org/drawingml/2006/main" prst="rect">
            <a:avLst/>
          </a:prstGeom>
          <a:solidFill xmlns:a="http://schemas.openxmlformats.org/drawingml/2006/main">
            <a:srgbClr val="EAF3F9"/>
          </a:solidFill>
          <a:ln xmlns:a="http://schemas.openxmlformats.org/drawingml/2006/main" w="9525">
            <a:solidFill>
              <a:srgbClr val="EAF3F9"/>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555725D-F96B-4C8E-910A-BEAA383F21D8}"/>
              </a:ext>
            </a:extLst>
          </p:cNvPr>
          <p:cNvSpPr>
            <a:spLocks xmlns:a="http://schemas.openxmlformats.org/drawingml/2006/main" noGrp="1"/>
          </p:cNvSpPr>
          <p:nvPr/>
        </p:nvSpPr>
        <p:spPr>
          <a:xfrm xmlns:a="http://schemas.openxmlformats.org/drawingml/2006/main">
            <a:off x="800100" y="1809750"/>
            <a:ext cx="3562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23B63"/>
                </a:solidFill>
                <a:latin typeface="Arial"/>
                <a:ea typeface="Arial"/>
                <a:cs typeface="Arial"/>
              </a:defRPr>
            </a:pPr>
            <a:r>
              <a:rPr sz="1875" b="1">
                <a:solidFill>
                  <a:srgbClr val="123B63"/>
                </a:solidFill>
                <a:latin typeface="Arial"/>
                <a:ea typeface="Arial"/>
                <a:cs typeface="Arial"/>
              </a:rPr>
              <a:t>Oznake modela</a:t>
            </a:r>
          </a:p>
        </p:txBody>
      </p:sp>
      <p:sp>
        <p:nvSpPr>
          <p:cNvPr id="7" name="">
            <a:extLst xmlns:a="http://schemas.openxmlformats.org/drawingml/2006/main">
              <a:ext uri="{FF2B5EF4-FFF2-40B4-BE49-F238E27FC236}">
                <a16:creationId xmlns:a16="http://schemas.microsoft.com/office/drawing/2014/main" id="{730E8D09-DB65-4046-A5D5-0965342C726E}"/>
              </a:ext>
            </a:extLst>
          </p:cNvPr>
          <p:cNvSpPr>
            <a:spLocks xmlns:a="http://schemas.openxmlformats.org/drawingml/2006/main" noGrp="1"/>
          </p:cNvSpPr>
          <p:nvPr/>
        </p:nvSpPr>
        <p:spPr>
          <a:xfrm xmlns:a="http://schemas.openxmlformats.org/drawingml/2006/main">
            <a:off x="800100" y="2352675"/>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536273"/>
                </a:solidFill>
                <a:latin typeface="Arial"/>
                <a:ea typeface="Arial"/>
                <a:cs typeface="Arial"/>
              </a:defRPr>
            </a:pPr>
            <a:r>
              <a:rPr sz="1500" b="0">
                <a:solidFill>
                  <a:srgbClr val="536273"/>
                </a:solidFill>
                <a:latin typeface="Arial"/>
                <a:ea typeface="Arial"/>
                <a:cs typeface="Arial"/>
              </a:rPr>
              <a:t>pᵢⱼ — zarada jedinice i na računaru j
tᵢⱼ — vreme jedinice i na računaru j
dᵢ — zahtev za servis i</a:t>
            </a:r>
          </a:p>
        </p:txBody>
      </p:sp>
      <p:sp>
        <p:nvSpPr>
          <p:cNvPr id="8" name="">
            <a:extLst xmlns:a="http://schemas.openxmlformats.org/drawingml/2006/main">
              <a:ext uri="{FF2B5EF4-FFF2-40B4-BE49-F238E27FC236}">
                <a16:creationId xmlns:a16="http://schemas.microsoft.com/office/drawing/2014/main" id="{7D12AAD5-2930-49F2-843B-63B054A27B13}"/>
              </a:ext>
            </a:extLst>
          </p:cNvPr>
          <p:cNvSpPr>
            <a:spLocks xmlns:a="http://schemas.openxmlformats.org/drawingml/2006/main" noGrp="1"/>
          </p:cNvSpPr>
          <p:nvPr/>
        </p:nvSpPr>
        <p:spPr>
          <a:xfrm xmlns:a="http://schemas.openxmlformats.org/drawingml/2006/main">
            <a:off x="800100" y="3429000"/>
            <a:ext cx="1123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a:solidFill>
                  <a:srgbClr val="2E75B6"/>
                </a:solidFill>
                <a:latin typeface="Arial"/>
                <a:ea typeface="Arial"/>
                <a:cs typeface="Arial"/>
              </a:defRPr>
            </a:pPr>
            <a:r>
              <a:rPr sz="3450" b="1">
                <a:solidFill>
                  <a:srgbClr val="2E75B6"/>
                </a:solidFill>
                <a:latin typeface="Arial"/>
                <a:ea typeface="Arial"/>
                <a:cs typeface="Arial"/>
              </a:rPr>
              <a:t>xᵢⱼ</a:t>
            </a:r>
          </a:p>
        </p:txBody>
      </p:sp>
      <p:sp>
        <p:nvSpPr>
          <p:cNvPr id="9" name="">
            <a:extLst xmlns:a="http://schemas.openxmlformats.org/drawingml/2006/main">
              <a:ext uri="{FF2B5EF4-FFF2-40B4-BE49-F238E27FC236}">
                <a16:creationId xmlns:a16="http://schemas.microsoft.com/office/drawing/2014/main" id="{71268AC8-89B2-4C40-9B96-FE4576E4F30B}"/>
              </a:ext>
            </a:extLst>
          </p:cNvPr>
          <p:cNvSpPr>
            <a:spLocks xmlns:a="http://schemas.openxmlformats.org/drawingml/2006/main" noGrp="1"/>
          </p:cNvSpPr>
          <p:nvPr/>
        </p:nvSpPr>
        <p:spPr>
          <a:xfrm xmlns:a="http://schemas.openxmlformats.org/drawingml/2006/main">
            <a:off x="1924050" y="3486150"/>
            <a:ext cx="2305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111827"/>
                </a:solidFill>
                <a:latin typeface="Arial"/>
                <a:ea typeface="Arial"/>
                <a:cs typeface="Arial"/>
              </a:defRPr>
            </a:pPr>
            <a:r>
              <a:rPr sz="1350" b="0">
                <a:solidFill>
                  <a:srgbClr val="111827"/>
                </a:solidFill>
                <a:latin typeface="Arial"/>
                <a:ea typeface="Arial"/>
                <a:cs typeface="Arial"/>
              </a:rPr>
              <a:t>broj jedinica servisa i</a:t>
            </a:r>
          </a:p>
          <a:p xmlns:a="http://schemas.openxmlformats.org/drawingml/2006/main">
            <a:pPr algn="l">
              <a:buNone/>
              <a:defRPr sz="1350" b="0">
                <a:solidFill>
                  <a:srgbClr val="111827"/>
                </a:solidFill>
                <a:latin typeface="Arial"/>
                <a:ea typeface="Arial"/>
                <a:cs typeface="Arial"/>
              </a:defRPr>
            </a:pPr>
            <a:r>
              <a:rPr sz="1350" b="0">
                <a:solidFill>
                  <a:srgbClr val="111827"/>
                </a:solidFill>
                <a:latin typeface="Arial"/>
                <a:ea typeface="Arial"/>
                <a:cs typeface="Arial"/>
              </a:rPr>
              <a:t>raspoređenih na računar j</a:t>
            </a:r>
          </a:p>
        </p:txBody>
      </p:sp>
      <p:sp>
        <p:nvSpPr>
          <p:cNvPr id="10" name="">
            <a:extLst xmlns:a="http://schemas.openxmlformats.org/drawingml/2006/main">
              <a:ext uri="{FF2B5EF4-FFF2-40B4-BE49-F238E27FC236}">
                <a16:creationId xmlns:a16="http://schemas.microsoft.com/office/drawing/2014/main" id="{4DF88A6C-30E5-4621-BA83-9FA3BDBD8717}"/>
              </a:ext>
            </a:extLst>
          </p:cNvPr>
          <p:cNvSpPr>
            <a:spLocks xmlns:a="http://schemas.openxmlformats.org/drawingml/2006/main" noGrp="1"/>
          </p:cNvSpPr>
          <p:nvPr/>
        </p:nvSpPr>
        <p:spPr>
          <a:xfrm xmlns:a="http://schemas.openxmlformats.org/drawingml/2006/main">
            <a:off x="800100" y="45720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E7D5B"/>
                </a:solidFill>
                <a:latin typeface="Arial"/>
                <a:ea typeface="Arial"/>
                <a:cs typeface="Arial"/>
              </a:defRPr>
            </a:pPr>
            <a:r>
              <a:rPr sz="1350" b="1">
                <a:solidFill>
                  <a:srgbClr val="2E7D5B"/>
                </a:solidFill>
                <a:latin typeface="Arial"/>
                <a:ea typeface="Arial"/>
                <a:cs typeface="Arial"/>
              </a:rPr>
              <a:t>Cilj</a:t>
            </a:r>
          </a:p>
        </p:txBody>
      </p:sp>
      <p:sp>
        <p:nvSpPr>
          <p:cNvPr id="11" name="">
            <a:extLst xmlns:a="http://schemas.openxmlformats.org/drawingml/2006/main">
              <a:ext uri="{FF2B5EF4-FFF2-40B4-BE49-F238E27FC236}">
                <a16:creationId xmlns:a16="http://schemas.microsoft.com/office/drawing/2014/main" id="{BC263295-9DC2-40D2-8512-2A66DF8A10D8}"/>
              </a:ext>
            </a:extLst>
          </p:cNvPr>
          <p:cNvSpPr>
            <a:spLocks xmlns:a="http://schemas.openxmlformats.org/drawingml/2006/main" noGrp="1"/>
          </p:cNvSpPr>
          <p:nvPr/>
        </p:nvSpPr>
        <p:spPr>
          <a:xfrm xmlns:a="http://schemas.openxmlformats.org/drawingml/2006/main">
            <a:off x="800100" y="4972050"/>
            <a:ext cx="3562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11827"/>
                </a:solidFill>
                <a:latin typeface="Arial"/>
                <a:ea typeface="Arial"/>
                <a:cs typeface="Arial"/>
              </a:defRPr>
            </a:pPr>
            <a:r>
              <a:rPr sz="1500" b="1">
                <a:solidFill>
                  <a:srgbClr val="111827"/>
                </a:solidFill>
                <a:latin typeface="Arial"/>
                <a:ea typeface="Arial"/>
                <a:cs typeface="Arial"/>
              </a:rPr>
              <a:t>Najveća ukupna zarada uz potpuno poštovanje kapaciteta i zahteva.</a:t>
            </a:r>
          </a:p>
        </p:txBody>
      </p:sp>
      <p:sp>
        <p:nvSpPr>
          <p:cNvPr id="12" name="">
            <a:extLst xmlns:a="http://schemas.openxmlformats.org/drawingml/2006/main">
              <a:ext uri="{FF2B5EF4-FFF2-40B4-BE49-F238E27FC236}">
                <a16:creationId xmlns:a16="http://schemas.microsoft.com/office/drawing/2014/main" id="{F80F7DB9-AFBC-41EC-A592-E58DC1852DD3}"/>
              </a:ext>
            </a:extLst>
          </p:cNvPr>
          <p:cNvSpPr>
            <a:spLocks xmlns:a="http://schemas.openxmlformats.org/drawingml/2006/main" noGrp="1"/>
          </p:cNvSpPr>
          <p:nvPr/>
        </p:nvSpPr>
        <p:spPr>
          <a:xfrm xmlns:a="http://schemas.openxmlformats.org/drawingml/2006/main">
            <a:off x="4953000" y="1504950"/>
            <a:ext cx="6705600" cy="1428750"/>
          </a:xfrm>
          <a:prstGeom xmlns:a="http://schemas.openxmlformats.org/drawingml/2006/main" prst="rect">
            <a:avLst/>
          </a:prstGeom>
          <a:solidFill xmlns:a="http://schemas.openxmlformats.org/drawingml/2006/main">
            <a:srgbClr val="123B63"/>
          </a:solidFill>
          <a:ln xmlns:a="http://schemas.openxmlformats.org/drawingml/2006/main" w="9525">
            <a:solidFill>
              <a:srgbClr val="123B63"/>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E02BA693-215D-44B5-A2B6-A0BFB8F205CD}"/>
              </a:ext>
            </a:extLst>
          </p:cNvPr>
          <p:cNvSpPr>
            <a:spLocks xmlns:a="http://schemas.openxmlformats.org/drawingml/2006/main" noGrp="1"/>
          </p:cNvSpPr>
          <p:nvPr/>
        </p:nvSpPr>
        <p:spPr>
          <a:xfrm xmlns:a="http://schemas.openxmlformats.org/drawingml/2006/main">
            <a:off x="5238750" y="1838325"/>
            <a:ext cx="6134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3150" b="1">
                <a:solidFill>
                  <a:srgbClr val="FFFFFF"/>
                </a:solidFill>
                <a:latin typeface="Arial"/>
                <a:ea typeface="Arial"/>
                <a:cs typeface="Arial"/>
              </a:defRPr>
            </a:pPr>
            <a:r>
              <a:rPr sz="3150" b="1">
                <a:solidFill>
                  <a:srgbClr val="FFFFFF"/>
                </a:solidFill>
                <a:latin typeface="Arial"/>
                <a:ea typeface="Arial"/>
                <a:cs typeface="Arial"/>
              </a:rPr>
              <a:t>max   Σᵢ Σⱼ  pᵢⱼ · xᵢⱼ</a:t>
            </a:r>
          </a:p>
        </p:txBody>
      </p:sp>
      <p:sp>
        <p:nvSpPr>
          <p:cNvPr id="14" name="">
            <a:extLst xmlns:a="http://schemas.openxmlformats.org/drawingml/2006/main">
              <a:ext uri="{FF2B5EF4-FFF2-40B4-BE49-F238E27FC236}">
                <a16:creationId xmlns:a16="http://schemas.microsoft.com/office/drawing/2014/main" id="{A85D1518-7C82-48A1-BC01-5B3B3228E5BE}"/>
              </a:ext>
            </a:extLst>
          </p:cNvPr>
          <p:cNvSpPr>
            <a:spLocks xmlns:a="http://schemas.openxmlformats.org/drawingml/2006/main" noGrp="1"/>
          </p:cNvSpPr>
          <p:nvPr/>
        </p:nvSpPr>
        <p:spPr>
          <a:xfrm xmlns:a="http://schemas.openxmlformats.org/drawingml/2006/main">
            <a:off x="4953000" y="3219450"/>
            <a:ext cx="3181350" cy="19812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12679788-0AC0-457A-97C5-399DA03CCF4E}"/>
              </a:ext>
            </a:extLst>
          </p:cNvPr>
          <p:cNvSpPr>
            <a:spLocks xmlns:a="http://schemas.openxmlformats.org/drawingml/2006/main" noGrp="1"/>
          </p:cNvSpPr>
          <p:nvPr/>
        </p:nvSpPr>
        <p:spPr>
          <a:xfrm xmlns:a="http://schemas.openxmlformats.org/drawingml/2006/main">
            <a:off x="5181600" y="3476625"/>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23B63"/>
                </a:solidFill>
                <a:latin typeface="Arial"/>
                <a:ea typeface="Arial"/>
                <a:cs typeface="Arial"/>
              </a:defRPr>
            </a:pPr>
            <a:r>
              <a:rPr sz="1575" b="1">
                <a:solidFill>
                  <a:srgbClr val="123B63"/>
                </a:solidFill>
                <a:latin typeface="Arial"/>
                <a:ea typeface="Arial"/>
                <a:cs typeface="Arial"/>
              </a:rPr>
              <a:t>Kapacitet računara</a:t>
            </a:r>
          </a:p>
        </p:txBody>
      </p:sp>
      <p:sp>
        <p:nvSpPr>
          <p:cNvPr id="16" name="">
            <a:extLst xmlns:a="http://schemas.openxmlformats.org/drawingml/2006/main">
              <a:ext uri="{FF2B5EF4-FFF2-40B4-BE49-F238E27FC236}">
                <a16:creationId xmlns:a16="http://schemas.microsoft.com/office/drawing/2014/main" id="{98451E80-C04A-45ED-9EA5-ACA68FA0E609}"/>
              </a:ext>
            </a:extLst>
          </p:cNvPr>
          <p:cNvSpPr>
            <a:spLocks xmlns:a="http://schemas.openxmlformats.org/drawingml/2006/main" noGrp="1"/>
          </p:cNvSpPr>
          <p:nvPr/>
        </p:nvSpPr>
        <p:spPr>
          <a:xfrm xmlns:a="http://schemas.openxmlformats.org/drawingml/2006/main">
            <a:off x="5181600" y="403860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111827"/>
                </a:solidFill>
                <a:latin typeface="Arial"/>
                <a:ea typeface="Arial"/>
                <a:cs typeface="Arial"/>
              </a:defRPr>
            </a:pPr>
            <a:r>
              <a:rPr sz="2250" b="1">
                <a:solidFill>
                  <a:srgbClr val="111827"/>
                </a:solidFill>
                <a:latin typeface="Arial"/>
                <a:ea typeface="Arial"/>
                <a:cs typeface="Arial"/>
              </a:rPr>
              <a:t>Σᵢ tᵢⱼxᵢⱼ ≤ T</a:t>
            </a:r>
          </a:p>
        </p:txBody>
      </p:sp>
      <p:sp>
        <p:nvSpPr>
          <p:cNvPr id="17" name="">
            <a:extLst xmlns:a="http://schemas.openxmlformats.org/drawingml/2006/main">
              <a:ext uri="{FF2B5EF4-FFF2-40B4-BE49-F238E27FC236}">
                <a16:creationId xmlns:a16="http://schemas.microsoft.com/office/drawing/2014/main" id="{0B9E810C-595C-4DBB-A4E4-CA5F098E2DE9}"/>
              </a:ext>
            </a:extLst>
          </p:cNvPr>
          <p:cNvSpPr>
            <a:spLocks xmlns:a="http://schemas.openxmlformats.org/drawingml/2006/main" noGrp="1"/>
          </p:cNvSpPr>
          <p:nvPr/>
        </p:nvSpPr>
        <p:spPr>
          <a:xfrm xmlns:a="http://schemas.openxmlformats.org/drawingml/2006/main">
            <a:off x="5181600" y="46577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a:solidFill>
                  <a:srgbClr val="536273"/>
                </a:solidFill>
                <a:latin typeface="Arial"/>
                <a:ea typeface="Arial"/>
                <a:cs typeface="Arial"/>
              </a:defRPr>
            </a:pPr>
            <a:r>
              <a:rPr sz="1200" b="0">
                <a:solidFill>
                  <a:srgbClr val="536273"/>
                </a:solidFill>
                <a:latin typeface="Arial"/>
                <a:ea typeface="Arial"/>
                <a:cs typeface="Arial"/>
              </a:rPr>
              <a:t>za svaki računar j</a:t>
            </a:r>
          </a:p>
        </p:txBody>
      </p:sp>
      <p:sp>
        <p:nvSpPr>
          <p:cNvPr id="18" name="">
            <a:extLst xmlns:a="http://schemas.openxmlformats.org/drawingml/2006/main">
              <a:ext uri="{FF2B5EF4-FFF2-40B4-BE49-F238E27FC236}">
                <a16:creationId xmlns:a16="http://schemas.microsoft.com/office/drawing/2014/main" id="{0E1E3EF0-1A26-434B-8B5A-19881B90D19E}"/>
              </a:ext>
            </a:extLst>
          </p:cNvPr>
          <p:cNvSpPr>
            <a:spLocks xmlns:a="http://schemas.openxmlformats.org/drawingml/2006/main" noGrp="1"/>
          </p:cNvSpPr>
          <p:nvPr/>
        </p:nvSpPr>
        <p:spPr>
          <a:xfrm xmlns:a="http://schemas.openxmlformats.org/drawingml/2006/main">
            <a:off x="8477250" y="3219450"/>
            <a:ext cx="3181350" cy="19812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D5BFB574-B6E5-41E1-848A-C1A9971A079D}"/>
              </a:ext>
            </a:extLst>
          </p:cNvPr>
          <p:cNvSpPr>
            <a:spLocks xmlns:a="http://schemas.openxmlformats.org/drawingml/2006/main" noGrp="1"/>
          </p:cNvSpPr>
          <p:nvPr/>
        </p:nvSpPr>
        <p:spPr>
          <a:xfrm xmlns:a="http://schemas.openxmlformats.org/drawingml/2006/main">
            <a:off x="8705850" y="3476625"/>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23B63"/>
                </a:solidFill>
                <a:latin typeface="Arial"/>
                <a:ea typeface="Arial"/>
                <a:cs typeface="Arial"/>
              </a:defRPr>
            </a:pPr>
            <a:r>
              <a:rPr sz="1575" b="1">
                <a:solidFill>
                  <a:srgbClr val="123B63"/>
                </a:solidFill>
                <a:latin typeface="Arial"/>
                <a:ea typeface="Arial"/>
                <a:cs typeface="Arial"/>
              </a:rPr>
              <a:t>Zahtev servisa</a:t>
            </a:r>
          </a:p>
        </p:txBody>
      </p:sp>
      <p:sp>
        <p:nvSpPr>
          <p:cNvPr id="20" name="">
            <a:extLst xmlns:a="http://schemas.openxmlformats.org/drawingml/2006/main">
              <a:ext uri="{FF2B5EF4-FFF2-40B4-BE49-F238E27FC236}">
                <a16:creationId xmlns:a16="http://schemas.microsoft.com/office/drawing/2014/main" id="{BEED3057-4F02-4A46-B581-6EA9B974C140}"/>
              </a:ext>
            </a:extLst>
          </p:cNvPr>
          <p:cNvSpPr>
            <a:spLocks xmlns:a="http://schemas.openxmlformats.org/drawingml/2006/main" noGrp="1"/>
          </p:cNvSpPr>
          <p:nvPr/>
        </p:nvSpPr>
        <p:spPr>
          <a:xfrm xmlns:a="http://schemas.openxmlformats.org/drawingml/2006/main">
            <a:off x="8705850" y="403860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111827"/>
                </a:solidFill>
                <a:latin typeface="Arial"/>
                <a:ea typeface="Arial"/>
                <a:cs typeface="Arial"/>
              </a:defRPr>
            </a:pPr>
            <a:r>
              <a:rPr sz="2250" b="1">
                <a:solidFill>
                  <a:srgbClr val="111827"/>
                </a:solidFill>
                <a:latin typeface="Arial"/>
                <a:ea typeface="Arial"/>
                <a:cs typeface="Arial"/>
              </a:rPr>
              <a:t>Σⱼ xᵢⱼ ≤ dᵢ</a:t>
            </a:r>
          </a:p>
        </p:txBody>
      </p:sp>
      <p:sp>
        <p:nvSpPr>
          <p:cNvPr id="21" name="">
            <a:extLst xmlns:a="http://schemas.openxmlformats.org/drawingml/2006/main">
              <a:ext uri="{FF2B5EF4-FFF2-40B4-BE49-F238E27FC236}">
                <a16:creationId xmlns:a16="http://schemas.microsoft.com/office/drawing/2014/main" id="{20A1473F-1A6B-4646-8238-B11B5215A3E6}"/>
              </a:ext>
            </a:extLst>
          </p:cNvPr>
          <p:cNvSpPr>
            <a:spLocks xmlns:a="http://schemas.openxmlformats.org/drawingml/2006/main" noGrp="1"/>
          </p:cNvSpPr>
          <p:nvPr/>
        </p:nvSpPr>
        <p:spPr>
          <a:xfrm xmlns:a="http://schemas.openxmlformats.org/drawingml/2006/main">
            <a:off x="8705850" y="4657725"/>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0">
                <a:solidFill>
                  <a:srgbClr val="536273"/>
                </a:solidFill>
                <a:latin typeface="Arial"/>
                <a:ea typeface="Arial"/>
                <a:cs typeface="Arial"/>
              </a:defRPr>
            </a:pPr>
            <a:r>
              <a:rPr sz="1200" b="0">
                <a:solidFill>
                  <a:srgbClr val="536273"/>
                </a:solidFill>
                <a:latin typeface="Arial"/>
                <a:ea typeface="Arial"/>
                <a:cs typeface="Arial"/>
              </a:rPr>
              <a:t>za svaki servis i</a:t>
            </a:r>
          </a:p>
        </p:txBody>
      </p:sp>
      <p:sp>
        <p:nvSpPr>
          <p:cNvPr id="22" name="">
            <a:extLst xmlns:a="http://schemas.openxmlformats.org/drawingml/2006/main">
              <a:ext uri="{FF2B5EF4-FFF2-40B4-BE49-F238E27FC236}">
                <a16:creationId xmlns:a16="http://schemas.microsoft.com/office/drawing/2014/main" id="{BA80F070-1329-4FF1-A067-228AE833E69D}"/>
              </a:ext>
            </a:extLst>
          </p:cNvPr>
          <p:cNvSpPr>
            <a:spLocks xmlns:a="http://schemas.openxmlformats.org/drawingml/2006/main" noGrp="1"/>
          </p:cNvSpPr>
          <p:nvPr/>
        </p:nvSpPr>
        <p:spPr>
          <a:xfrm xmlns:a="http://schemas.openxmlformats.org/drawingml/2006/main">
            <a:off x="5619750" y="5524500"/>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0">
                <a:solidFill>
                  <a:srgbClr val="536273"/>
                </a:solidFill>
                <a:latin typeface="Arial"/>
                <a:ea typeface="Arial"/>
                <a:cs typeface="Arial"/>
              </a:defRPr>
            </a:pPr>
            <a:r>
              <a:rPr sz="1350" b="0">
                <a:solidFill>
                  <a:srgbClr val="536273"/>
                </a:solidFill>
                <a:latin typeface="Arial"/>
                <a:ea typeface="Arial"/>
                <a:cs typeface="Arial"/>
              </a:rPr>
              <a:t>xᵢⱼ ∈ ℤ≥0  ·  m × n celobrojnih promenljivih</a:t>
            </a:r>
          </a:p>
        </p:txBody>
      </p:sp>
    </p:spTree>
    <p:extLst>
      <p:ext uri="{BB962C8B-B14F-4D97-AF65-F5344CB8AC3E}">
        <p14:creationId xmlns:p14="http://schemas.microsoft.com/office/powerpoint/2010/main" val="17226324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slide-3-title">
            <a:extLst xmlns:a="http://schemas.openxmlformats.org/drawingml/2006/main">
              <a:ext uri="{FF2B5EF4-FFF2-40B4-BE49-F238E27FC236}">
                <a16:creationId xmlns:a16="http://schemas.microsoft.com/office/drawing/2014/main" id="{BE88105C-1773-43E5-A1EF-7F8B2E6E40BC}"/>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Rad povezuje matematički model i evolutivnu pretragu</a:t>
            </a:r>
          </a:p>
        </p:txBody>
      </p:sp>
      <p:cxnSp>
        <p:nvCxnSpPr>
          <p:cNvPr id="197" name="slide-3-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3-number">
            <a:extLst xmlns:a="http://schemas.openxmlformats.org/drawingml/2006/main">
              <a:ext uri="{FF2B5EF4-FFF2-40B4-BE49-F238E27FC236}">
                <a16:creationId xmlns:a16="http://schemas.microsoft.com/office/drawing/2014/main" id="{E069B98D-7432-4334-82EB-A9338ADD86AC}"/>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3/12</a:t>
            </a:r>
          </a:p>
        </p:txBody>
      </p:sp>
      <p:sp>
        <p:nvSpPr>
          <p:cNvPr id="4" name="slide-3-footer">
            <a:extLst xmlns:a="http://schemas.openxmlformats.org/drawingml/2006/main">
              <a:ext uri="{FF2B5EF4-FFF2-40B4-BE49-F238E27FC236}">
                <a16:creationId xmlns:a16="http://schemas.microsoft.com/office/drawing/2014/main" id="{0EB88EF9-4B29-40E0-AE5A-127E7EEFCD0D}"/>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4FAB0E06-4C56-4A30-B99D-86D28803EAE5}"/>
              </a:ext>
            </a:extLst>
          </p:cNvPr>
          <p:cNvSpPr>
            <a:spLocks xmlns:a="http://schemas.openxmlformats.org/drawingml/2006/main" noGrp="1"/>
          </p:cNvSpPr>
          <p:nvPr/>
        </p:nvSpPr>
        <p:spPr>
          <a:xfrm xmlns:a="http://schemas.openxmlformats.org/drawingml/2006/main">
            <a:off x="533400" y="14859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2E75B6"/>
                </a:solidFill>
                <a:latin typeface="Arial"/>
                <a:ea typeface="Arial"/>
                <a:cs typeface="Arial"/>
              </a:defRPr>
            </a:pPr>
            <a:r>
              <a:rPr sz="1575" b="1">
                <a:solidFill>
                  <a:srgbClr val="2E75B6"/>
                </a:solidFill>
                <a:latin typeface="Arial"/>
                <a:ea typeface="Arial"/>
                <a:cs typeface="Arial"/>
              </a:rPr>
              <a:t>Tri doprinosa</a:t>
            </a:r>
          </a:p>
        </p:txBody>
      </p:sp>
      <p:sp>
        <p:nvSpPr>
          <p:cNvPr id="6" name="">
            <a:extLst xmlns:a="http://schemas.openxmlformats.org/drawingml/2006/main">
              <a:ext uri="{FF2B5EF4-FFF2-40B4-BE49-F238E27FC236}">
                <a16:creationId xmlns:a16="http://schemas.microsoft.com/office/drawing/2014/main" id="{A22584A6-D3D4-4CE8-8F0B-5F0F7B1F1E63}"/>
              </a:ext>
            </a:extLst>
          </p:cNvPr>
          <p:cNvSpPr>
            <a:spLocks xmlns:a="http://schemas.openxmlformats.org/drawingml/2006/main" noGrp="1"/>
          </p:cNvSpPr>
          <p:nvPr/>
        </p:nvSpPr>
        <p:spPr>
          <a:xfrm xmlns:a="http://schemas.openxmlformats.org/drawingml/2006/main">
            <a:off x="533400" y="1952625"/>
            <a:ext cx="3257550" cy="11430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33A5EAA-2E52-4FAD-9C2A-3395EAEBBFDE}"/>
              </a:ext>
            </a:extLst>
          </p:cNvPr>
          <p:cNvSpPr>
            <a:spLocks xmlns:a="http://schemas.openxmlformats.org/drawingml/2006/main" noGrp="1"/>
          </p:cNvSpPr>
          <p:nvPr/>
        </p:nvSpPr>
        <p:spPr>
          <a:xfrm xmlns:a="http://schemas.openxmlformats.org/drawingml/2006/main">
            <a:off x="723900" y="20859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36273"/>
                </a:solidFill>
                <a:latin typeface="Arial"/>
                <a:ea typeface="Arial"/>
                <a:cs typeface="Arial"/>
              </a:defRPr>
            </a:pPr>
            <a:r>
              <a:rPr sz="1275" b="1">
                <a:solidFill>
                  <a:srgbClr val="536273"/>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CA823003-0356-43A5-8733-4D10F1F2B110}"/>
              </a:ext>
            </a:extLst>
          </p:cNvPr>
          <p:cNvSpPr>
            <a:spLocks xmlns:a="http://schemas.openxmlformats.org/drawingml/2006/main" noGrp="1"/>
          </p:cNvSpPr>
          <p:nvPr/>
        </p:nvSpPr>
        <p:spPr>
          <a:xfrm xmlns:a="http://schemas.openxmlformats.org/drawingml/2006/main">
            <a:off x="723900" y="2371725"/>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11827"/>
                </a:solidFill>
                <a:latin typeface="Arial"/>
                <a:ea typeface="Arial"/>
                <a:cs typeface="Arial"/>
              </a:defRPr>
            </a:pPr>
            <a:r>
              <a:rPr sz="1425" b="1">
                <a:solidFill>
                  <a:srgbClr val="111827"/>
                </a:solidFill>
                <a:latin typeface="Arial"/>
                <a:ea typeface="Arial"/>
                <a:cs typeface="Arial"/>
              </a:rPr>
              <a:t>ILP formulacija</a:t>
            </a:r>
          </a:p>
        </p:txBody>
      </p:sp>
      <p:sp>
        <p:nvSpPr>
          <p:cNvPr id="9" name="">
            <a:extLst xmlns:a="http://schemas.openxmlformats.org/drawingml/2006/main">
              <a:ext uri="{FF2B5EF4-FFF2-40B4-BE49-F238E27FC236}">
                <a16:creationId xmlns:a16="http://schemas.microsoft.com/office/drawing/2014/main" id="{D3351EBF-D7D5-4514-90EF-E2CC098ACD7A}"/>
              </a:ext>
            </a:extLst>
          </p:cNvPr>
          <p:cNvSpPr>
            <a:spLocks xmlns:a="http://schemas.openxmlformats.org/drawingml/2006/main" noGrp="1"/>
          </p:cNvSpPr>
          <p:nvPr/>
        </p:nvSpPr>
        <p:spPr>
          <a:xfrm xmlns:a="http://schemas.openxmlformats.org/drawingml/2006/main">
            <a:off x="723900" y="267652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a:solidFill>
                  <a:srgbClr val="536273"/>
                </a:solidFill>
                <a:latin typeface="Arial"/>
                <a:ea typeface="Arial"/>
                <a:cs typeface="Arial"/>
              </a:defRPr>
            </a:pPr>
            <a:r>
              <a:rPr sz="1125" b="0">
                <a:solidFill>
                  <a:srgbClr val="536273"/>
                </a:solidFill>
                <a:latin typeface="Arial"/>
                <a:ea typeface="Arial"/>
                <a:cs typeface="Arial"/>
              </a:rPr>
              <a:t>Referentni model i rezultat HiGHS-a.</a:t>
            </a:r>
          </a:p>
        </p:txBody>
      </p:sp>
      <p:sp>
        <p:nvSpPr>
          <p:cNvPr id="10" name="">
            <a:extLst xmlns:a="http://schemas.openxmlformats.org/drawingml/2006/main">
              <a:ext uri="{FF2B5EF4-FFF2-40B4-BE49-F238E27FC236}">
                <a16:creationId xmlns:a16="http://schemas.microsoft.com/office/drawing/2014/main" id="{B18B31F9-DE16-409C-9FDD-6CE620EF2218}"/>
              </a:ext>
            </a:extLst>
          </p:cNvPr>
          <p:cNvSpPr>
            <a:spLocks xmlns:a="http://schemas.openxmlformats.org/drawingml/2006/main" noGrp="1"/>
          </p:cNvSpPr>
          <p:nvPr/>
        </p:nvSpPr>
        <p:spPr>
          <a:xfrm xmlns:a="http://schemas.openxmlformats.org/drawingml/2006/main">
            <a:off x="533400" y="3286125"/>
            <a:ext cx="3257550" cy="1143000"/>
          </a:xfrm>
          <a:prstGeom xmlns:a="http://schemas.openxmlformats.org/drawingml/2006/main" prst="rect">
            <a:avLst/>
          </a:prstGeom>
          <a:solidFill xmlns:a="http://schemas.openxmlformats.org/drawingml/2006/main">
            <a:srgbClr val="EAF3F9"/>
          </a:solidFill>
          <a:ln xmlns:a="http://schemas.openxmlformats.org/drawingml/2006/main" w="9525">
            <a:solidFill>
              <a:srgbClr val="2E75B6"/>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2BC97ED-4CE3-41A4-A08F-ECB2A4B1E831}"/>
              </a:ext>
            </a:extLst>
          </p:cNvPr>
          <p:cNvSpPr>
            <a:spLocks xmlns:a="http://schemas.openxmlformats.org/drawingml/2006/main" noGrp="1"/>
          </p:cNvSpPr>
          <p:nvPr/>
        </p:nvSpPr>
        <p:spPr>
          <a:xfrm xmlns:a="http://schemas.openxmlformats.org/drawingml/2006/main">
            <a:off x="723900" y="34194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2E75B6"/>
                </a:solidFill>
                <a:latin typeface="Arial"/>
                <a:ea typeface="Arial"/>
                <a:cs typeface="Arial"/>
              </a:defRPr>
            </a:pPr>
            <a:r>
              <a:rPr sz="1275" b="1">
                <a:solidFill>
                  <a:srgbClr val="2E75B6"/>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F644CE6-5A1F-4B53-8314-904FAC5A9F12}"/>
              </a:ext>
            </a:extLst>
          </p:cNvPr>
          <p:cNvSpPr>
            <a:spLocks xmlns:a="http://schemas.openxmlformats.org/drawingml/2006/main" noGrp="1"/>
          </p:cNvSpPr>
          <p:nvPr/>
        </p:nvSpPr>
        <p:spPr>
          <a:xfrm xmlns:a="http://schemas.openxmlformats.org/drawingml/2006/main">
            <a:off x="723900" y="3705225"/>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11827"/>
                </a:solidFill>
                <a:latin typeface="Arial"/>
                <a:ea typeface="Arial"/>
                <a:cs typeface="Arial"/>
              </a:defRPr>
            </a:pPr>
            <a:r>
              <a:rPr sz="1425" b="1">
                <a:solidFill>
                  <a:srgbClr val="111827"/>
                </a:solidFill>
                <a:latin typeface="Arial"/>
                <a:ea typeface="Arial"/>
                <a:cs typeface="Arial"/>
              </a:rPr>
              <a:t>GA prilagođen problemu</a:t>
            </a:r>
          </a:p>
        </p:txBody>
      </p:sp>
      <p:sp>
        <p:nvSpPr>
          <p:cNvPr id="13" name="">
            <a:extLst xmlns:a="http://schemas.openxmlformats.org/drawingml/2006/main">
              <a:ext uri="{FF2B5EF4-FFF2-40B4-BE49-F238E27FC236}">
                <a16:creationId xmlns:a16="http://schemas.microsoft.com/office/drawing/2014/main" id="{43E3C9B1-5095-414B-AA6A-8B7C7A457DF7}"/>
              </a:ext>
            </a:extLst>
          </p:cNvPr>
          <p:cNvSpPr>
            <a:spLocks xmlns:a="http://schemas.openxmlformats.org/drawingml/2006/main" noGrp="1"/>
          </p:cNvSpPr>
          <p:nvPr/>
        </p:nvSpPr>
        <p:spPr>
          <a:xfrm xmlns:a="http://schemas.openxmlformats.org/drawingml/2006/main">
            <a:off x="723900" y="401002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a:solidFill>
                  <a:srgbClr val="536273"/>
                </a:solidFill>
                <a:latin typeface="Arial"/>
                <a:ea typeface="Arial"/>
                <a:cs typeface="Arial"/>
              </a:defRPr>
            </a:pPr>
            <a:r>
              <a:rPr sz="1125" b="0">
                <a:solidFill>
                  <a:srgbClr val="536273"/>
                </a:solidFill>
                <a:latin typeface="Arial"/>
                <a:ea typeface="Arial"/>
                <a:cs typeface="Arial"/>
              </a:rPr>
              <a:t>Matrični hromozom + namenska popravka.</a:t>
            </a:r>
          </a:p>
        </p:txBody>
      </p:sp>
      <p:sp>
        <p:nvSpPr>
          <p:cNvPr id="14" name="">
            <a:extLst xmlns:a="http://schemas.openxmlformats.org/drawingml/2006/main">
              <a:ext uri="{FF2B5EF4-FFF2-40B4-BE49-F238E27FC236}">
                <a16:creationId xmlns:a16="http://schemas.microsoft.com/office/drawing/2014/main" id="{BD838B94-C29C-4C72-A829-33C688A14E9F}"/>
              </a:ext>
            </a:extLst>
          </p:cNvPr>
          <p:cNvSpPr>
            <a:spLocks xmlns:a="http://schemas.openxmlformats.org/drawingml/2006/main" noGrp="1"/>
          </p:cNvSpPr>
          <p:nvPr/>
        </p:nvSpPr>
        <p:spPr>
          <a:xfrm xmlns:a="http://schemas.openxmlformats.org/drawingml/2006/main">
            <a:off x="533400" y="4619625"/>
            <a:ext cx="3257550" cy="11430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6339008A-A026-45F2-9081-DC324A253BFD}"/>
              </a:ext>
            </a:extLst>
          </p:cNvPr>
          <p:cNvSpPr>
            <a:spLocks xmlns:a="http://schemas.openxmlformats.org/drawingml/2006/main" noGrp="1"/>
          </p:cNvSpPr>
          <p:nvPr/>
        </p:nvSpPr>
        <p:spPr>
          <a:xfrm xmlns:a="http://schemas.openxmlformats.org/drawingml/2006/main">
            <a:off x="723900" y="4752975"/>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536273"/>
                </a:solidFill>
                <a:latin typeface="Arial"/>
                <a:ea typeface="Arial"/>
                <a:cs typeface="Arial"/>
              </a:defRPr>
            </a:pPr>
            <a:r>
              <a:rPr sz="1275" b="1">
                <a:solidFill>
                  <a:srgbClr val="536273"/>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32F4D9E7-891A-4430-A4D3-BC8F1F4CF2E5}"/>
              </a:ext>
            </a:extLst>
          </p:cNvPr>
          <p:cNvSpPr>
            <a:spLocks xmlns:a="http://schemas.openxmlformats.org/drawingml/2006/main" noGrp="1"/>
          </p:cNvSpPr>
          <p:nvPr/>
        </p:nvSpPr>
        <p:spPr>
          <a:xfrm xmlns:a="http://schemas.openxmlformats.org/drawingml/2006/main">
            <a:off x="723900" y="5038725"/>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11827"/>
                </a:solidFill>
                <a:latin typeface="Arial"/>
                <a:ea typeface="Arial"/>
                <a:cs typeface="Arial"/>
              </a:defRPr>
            </a:pPr>
            <a:r>
              <a:rPr sz="1425" b="1">
                <a:solidFill>
                  <a:srgbClr val="111827"/>
                </a:solidFill>
                <a:latin typeface="Arial"/>
                <a:ea typeface="Arial"/>
                <a:cs typeface="Arial"/>
              </a:rPr>
              <a:t>Evaluacija</a:t>
            </a:r>
          </a:p>
        </p:txBody>
      </p:sp>
      <p:sp>
        <p:nvSpPr>
          <p:cNvPr id="17" name="">
            <a:extLst xmlns:a="http://schemas.openxmlformats.org/drawingml/2006/main">
              <a:ext uri="{FF2B5EF4-FFF2-40B4-BE49-F238E27FC236}">
                <a16:creationId xmlns:a16="http://schemas.microsoft.com/office/drawing/2014/main" id="{44BC9CB4-69CB-40D0-AF75-F6BCDBDA433F}"/>
              </a:ext>
            </a:extLst>
          </p:cNvPr>
          <p:cNvSpPr>
            <a:spLocks xmlns:a="http://schemas.openxmlformats.org/drawingml/2006/main" noGrp="1"/>
          </p:cNvSpPr>
          <p:nvPr/>
        </p:nvSpPr>
        <p:spPr>
          <a:xfrm xmlns:a="http://schemas.openxmlformats.org/drawingml/2006/main">
            <a:off x="723900" y="534352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a:solidFill>
                  <a:srgbClr val="536273"/>
                </a:solidFill>
                <a:latin typeface="Arial"/>
                <a:ea typeface="Arial"/>
                <a:cs typeface="Arial"/>
              </a:defRPr>
            </a:pPr>
            <a:r>
              <a:rPr sz="1125" b="0">
                <a:solidFill>
                  <a:srgbClr val="536273"/>
                </a:solidFill>
                <a:latin typeface="Arial"/>
                <a:ea typeface="Arial"/>
                <a:cs typeface="Arial"/>
              </a:rPr>
              <a:t>Tri veličine, kvalitet, vreme i stabilnost.</a:t>
            </a:r>
          </a:p>
        </p:txBody>
      </p:sp>
      <p:sp>
        <p:nvSpPr>
          <p:cNvPr id="18" name="">
            <a:extLst xmlns:a="http://schemas.openxmlformats.org/drawingml/2006/main">
              <a:ext uri="{FF2B5EF4-FFF2-40B4-BE49-F238E27FC236}">
                <a16:creationId xmlns:a16="http://schemas.microsoft.com/office/drawing/2014/main" id="{4253235B-71C6-4FF6-909A-8AE514D96403}"/>
              </a:ext>
            </a:extLst>
          </p:cNvPr>
          <p:cNvSpPr>
            <a:spLocks xmlns:a="http://schemas.openxmlformats.org/drawingml/2006/main" noGrp="1"/>
          </p:cNvSpPr>
          <p:nvPr/>
        </p:nvSpPr>
        <p:spPr>
          <a:xfrm xmlns:a="http://schemas.openxmlformats.org/drawingml/2006/main">
            <a:off x="4286250" y="1485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2E75B6"/>
                </a:solidFill>
                <a:latin typeface="Arial"/>
                <a:ea typeface="Arial"/>
                <a:cs typeface="Arial"/>
              </a:defRPr>
            </a:pPr>
            <a:r>
              <a:rPr sz="1575" b="1">
                <a:solidFill>
                  <a:srgbClr val="2E75B6"/>
                </a:solidFill>
                <a:latin typeface="Arial"/>
                <a:ea typeface="Arial"/>
                <a:cs typeface="Arial"/>
              </a:rPr>
              <a:t>Evolutivna petlja</a:t>
            </a:r>
          </a:p>
        </p:txBody>
      </p:sp>
      <p:cxnSp>
        <p:nvCxnSpPr>
          <p:cNvPr id="214" name=""/>
          <p:cNvCxnSpPr/>
          <p:nvPr/>
        </p:nvCxnSpPr>
        <p:spPr>
          <a:xfrm xmlns:a="http://schemas.openxmlformats.org/drawingml/2006/main">
            <a:off x="5486400" y="3238500"/>
            <a:ext cx="304800" cy="0"/>
          </a:xfrm>
          <a:prstGeom xmlns:a="http://schemas.openxmlformats.org/drawingml/2006/main" prst="straightConnector1">
            <a:avLst/>
          </a:prstGeom>
          <a:ln xmlns:a="http://schemas.openxmlformats.org/drawingml/2006/main" w="19050">
            <a:solidFill>
              <a:srgbClr val="2E75B6"/>
            </a:solidFill>
            <a:prstDash val="solid"/>
          </a:ln>
        </p:spPr>
      </p:cxnSp>
      <p:sp>
        <p:nvSpPr>
          <p:cNvPr id="20" name="">
            <a:extLst xmlns:a="http://schemas.openxmlformats.org/drawingml/2006/main">
              <a:ext uri="{FF2B5EF4-FFF2-40B4-BE49-F238E27FC236}">
                <a16:creationId xmlns:a16="http://schemas.microsoft.com/office/drawing/2014/main" id="{5C0D6657-0295-427A-95D6-F2F927D2225C}"/>
              </a:ext>
            </a:extLst>
          </p:cNvPr>
          <p:cNvSpPr>
            <a:spLocks xmlns:a="http://schemas.openxmlformats.org/drawingml/2006/main" noGrp="1"/>
          </p:cNvSpPr>
          <p:nvPr/>
        </p:nvSpPr>
        <p:spPr>
          <a:xfrm xmlns:a="http://schemas.openxmlformats.org/drawingml/2006/main">
            <a:off x="4286250" y="2524125"/>
            <a:ext cx="1200150" cy="1428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969AE37-319E-4389-BE10-84B1174B380A}"/>
              </a:ext>
            </a:extLst>
          </p:cNvPr>
          <p:cNvSpPr>
            <a:spLocks xmlns:a="http://schemas.openxmlformats.org/drawingml/2006/main" noGrp="1"/>
          </p:cNvSpPr>
          <p:nvPr/>
        </p:nvSpPr>
        <p:spPr>
          <a:xfrm xmlns:a="http://schemas.openxmlformats.org/drawingml/2006/main">
            <a:off x="4400550" y="26670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2E75B6"/>
                </a:solidFill>
                <a:latin typeface="Arial"/>
                <a:ea typeface="Arial"/>
                <a:cs typeface="Arial"/>
              </a:defRPr>
            </a:pPr>
            <a:r>
              <a:rPr sz="1050" b="1">
                <a:solidFill>
                  <a:srgbClr val="2E75B6"/>
                </a:solidFill>
                <a:latin typeface="Arial"/>
                <a:ea typeface="Arial"/>
                <a:cs typeface="Arial"/>
              </a:rPr>
              <a:t>1</a:t>
            </a:r>
          </a:p>
        </p:txBody>
      </p:sp>
      <p:sp>
        <p:nvSpPr>
          <p:cNvPr id="22" name="">
            <a:extLst xmlns:a="http://schemas.openxmlformats.org/drawingml/2006/main">
              <a:ext uri="{FF2B5EF4-FFF2-40B4-BE49-F238E27FC236}">
                <a16:creationId xmlns:a16="http://schemas.microsoft.com/office/drawing/2014/main" id="{A69DA36F-BCA0-487A-94B2-23D7AAEDF7B2}"/>
              </a:ext>
            </a:extLst>
          </p:cNvPr>
          <p:cNvSpPr>
            <a:spLocks xmlns:a="http://schemas.openxmlformats.org/drawingml/2006/main" noGrp="1"/>
          </p:cNvSpPr>
          <p:nvPr/>
        </p:nvSpPr>
        <p:spPr>
          <a:xfrm xmlns:a="http://schemas.openxmlformats.org/drawingml/2006/main">
            <a:off x="4362450" y="30956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Inicijalizacija</a:t>
            </a:r>
          </a:p>
        </p:txBody>
      </p:sp>
      <p:cxnSp>
        <p:nvCxnSpPr>
          <p:cNvPr id="218" name=""/>
          <p:cNvCxnSpPr/>
          <p:nvPr/>
        </p:nvCxnSpPr>
        <p:spPr>
          <a:xfrm xmlns:a="http://schemas.openxmlformats.org/drawingml/2006/main">
            <a:off x="6991350" y="3238500"/>
            <a:ext cx="304800" cy="0"/>
          </a:xfrm>
          <a:prstGeom xmlns:a="http://schemas.openxmlformats.org/drawingml/2006/main" prst="straightConnector1">
            <a:avLst/>
          </a:prstGeom>
          <a:ln xmlns:a="http://schemas.openxmlformats.org/drawingml/2006/main" w="19050">
            <a:solidFill>
              <a:srgbClr val="2E75B6"/>
            </a:solidFill>
            <a:prstDash val="solid"/>
          </a:ln>
        </p:spPr>
      </p:cxnSp>
      <p:sp>
        <p:nvSpPr>
          <p:cNvPr id="24" name="">
            <a:extLst xmlns:a="http://schemas.openxmlformats.org/drawingml/2006/main">
              <a:ext uri="{FF2B5EF4-FFF2-40B4-BE49-F238E27FC236}">
                <a16:creationId xmlns:a16="http://schemas.microsoft.com/office/drawing/2014/main" id="{50EF9013-417D-46FF-942B-F8884E5DF97D}"/>
              </a:ext>
            </a:extLst>
          </p:cNvPr>
          <p:cNvSpPr>
            <a:spLocks xmlns:a="http://schemas.openxmlformats.org/drawingml/2006/main" noGrp="1"/>
          </p:cNvSpPr>
          <p:nvPr/>
        </p:nvSpPr>
        <p:spPr>
          <a:xfrm xmlns:a="http://schemas.openxmlformats.org/drawingml/2006/main">
            <a:off x="5791200" y="2524125"/>
            <a:ext cx="1200150" cy="1428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89FA1395-AD96-45A3-B05E-9B2D133C90AB}"/>
              </a:ext>
            </a:extLst>
          </p:cNvPr>
          <p:cNvSpPr>
            <a:spLocks xmlns:a="http://schemas.openxmlformats.org/drawingml/2006/main" noGrp="1"/>
          </p:cNvSpPr>
          <p:nvPr/>
        </p:nvSpPr>
        <p:spPr>
          <a:xfrm xmlns:a="http://schemas.openxmlformats.org/drawingml/2006/main">
            <a:off x="5905500" y="26670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2E75B6"/>
                </a:solidFill>
                <a:latin typeface="Arial"/>
                <a:ea typeface="Arial"/>
                <a:cs typeface="Arial"/>
              </a:defRPr>
            </a:pPr>
            <a:r>
              <a:rPr sz="1050" b="1">
                <a:solidFill>
                  <a:srgbClr val="2E75B6"/>
                </a:solidFill>
                <a:latin typeface="Arial"/>
                <a:ea typeface="Arial"/>
                <a:cs typeface="Arial"/>
              </a:rPr>
              <a:t>2</a:t>
            </a:r>
          </a:p>
        </p:txBody>
      </p:sp>
      <p:sp>
        <p:nvSpPr>
          <p:cNvPr id="26" name="">
            <a:extLst xmlns:a="http://schemas.openxmlformats.org/drawingml/2006/main">
              <a:ext uri="{FF2B5EF4-FFF2-40B4-BE49-F238E27FC236}">
                <a16:creationId xmlns:a16="http://schemas.microsoft.com/office/drawing/2014/main" id="{5AB1BEA8-A744-4B28-A477-6CA8DBE4DC96}"/>
              </a:ext>
            </a:extLst>
          </p:cNvPr>
          <p:cNvSpPr>
            <a:spLocks xmlns:a="http://schemas.openxmlformats.org/drawingml/2006/main" noGrp="1"/>
          </p:cNvSpPr>
          <p:nvPr/>
        </p:nvSpPr>
        <p:spPr>
          <a:xfrm xmlns:a="http://schemas.openxmlformats.org/drawingml/2006/main">
            <a:off x="5867400" y="30956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Selekcija</a:t>
            </a:r>
          </a:p>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i elitizam</a:t>
            </a:r>
          </a:p>
        </p:txBody>
      </p:sp>
      <p:cxnSp>
        <p:nvCxnSpPr>
          <p:cNvPr id="222" name=""/>
          <p:cNvCxnSpPr/>
          <p:nvPr/>
        </p:nvCxnSpPr>
        <p:spPr>
          <a:xfrm xmlns:a="http://schemas.openxmlformats.org/drawingml/2006/main">
            <a:off x="8496300" y="3238500"/>
            <a:ext cx="304800" cy="0"/>
          </a:xfrm>
          <a:prstGeom xmlns:a="http://schemas.openxmlformats.org/drawingml/2006/main" prst="straightConnector1">
            <a:avLst/>
          </a:prstGeom>
          <a:ln xmlns:a="http://schemas.openxmlformats.org/drawingml/2006/main" w="19050">
            <a:solidFill>
              <a:srgbClr val="2E75B6"/>
            </a:solidFill>
            <a:prstDash val="solid"/>
          </a:ln>
        </p:spPr>
      </p:cxnSp>
      <p:sp>
        <p:nvSpPr>
          <p:cNvPr id="28" name="">
            <a:extLst xmlns:a="http://schemas.openxmlformats.org/drawingml/2006/main">
              <a:ext uri="{FF2B5EF4-FFF2-40B4-BE49-F238E27FC236}">
                <a16:creationId xmlns:a16="http://schemas.microsoft.com/office/drawing/2014/main" id="{9814CC20-F8ED-49BF-B1C9-E8ABCFFB69D3}"/>
              </a:ext>
            </a:extLst>
          </p:cNvPr>
          <p:cNvSpPr>
            <a:spLocks xmlns:a="http://schemas.openxmlformats.org/drawingml/2006/main" noGrp="1"/>
          </p:cNvSpPr>
          <p:nvPr/>
        </p:nvSpPr>
        <p:spPr>
          <a:xfrm xmlns:a="http://schemas.openxmlformats.org/drawingml/2006/main">
            <a:off x="7296150" y="2524125"/>
            <a:ext cx="1200150" cy="1428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F019F72E-B187-45D4-82CA-F9810F33114D}"/>
              </a:ext>
            </a:extLst>
          </p:cNvPr>
          <p:cNvSpPr>
            <a:spLocks xmlns:a="http://schemas.openxmlformats.org/drawingml/2006/main" noGrp="1"/>
          </p:cNvSpPr>
          <p:nvPr/>
        </p:nvSpPr>
        <p:spPr>
          <a:xfrm xmlns:a="http://schemas.openxmlformats.org/drawingml/2006/main">
            <a:off x="7410450" y="26670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2E75B6"/>
                </a:solidFill>
                <a:latin typeface="Arial"/>
                <a:ea typeface="Arial"/>
                <a:cs typeface="Arial"/>
              </a:defRPr>
            </a:pPr>
            <a:r>
              <a:rPr sz="1050" b="1">
                <a:solidFill>
                  <a:srgbClr val="2E75B6"/>
                </a:solidFill>
                <a:latin typeface="Arial"/>
                <a:ea typeface="Arial"/>
                <a:cs typeface="Arial"/>
              </a:rPr>
              <a:t>3</a:t>
            </a:r>
          </a:p>
        </p:txBody>
      </p:sp>
      <p:sp>
        <p:nvSpPr>
          <p:cNvPr id="30" name="">
            <a:extLst xmlns:a="http://schemas.openxmlformats.org/drawingml/2006/main">
              <a:ext uri="{FF2B5EF4-FFF2-40B4-BE49-F238E27FC236}">
                <a16:creationId xmlns:a16="http://schemas.microsoft.com/office/drawing/2014/main" id="{EA1F4929-08FB-4C28-B8C3-7B65EF2B3AC9}"/>
              </a:ext>
            </a:extLst>
          </p:cNvPr>
          <p:cNvSpPr>
            <a:spLocks xmlns:a="http://schemas.openxmlformats.org/drawingml/2006/main" noGrp="1"/>
          </p:cNvSpPr>
          <p:nvPr/>
        </p:nvSpPr>
        <p:spPr>
          <a:xfrm xmlns:a="http://schemas.openxmlformats.org/drawingml/2006/main">
            <a:off x="7372350" y="30956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Ukrštanje</a:t>
            </a:r>
          </a:p>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i mutacija</a:t>
            </a:r>
          </a:p>
        </p:txBody>
      </p:sp>
      <p:cxnSp>
        <p:nvCxnSpPr>
          <p:cNvPr id="226" name=""/>
          <p:cNvCxnSpPr/>
          <p:nvPr/>
        </p:nvCxnSpPr>
        <p:spPr>
          <a:xfrm xmlns:a="http://schemas.openxmlformats.org/drawingml/2006/main">
            <a:off x="10001250" y="3238500"/>
            <a:ext cx="304800" cy="0"/>
          </a:xfrm>
          <a:prstGeom xmlns:a="http://schemas.openxmlformats.org/drawingml/2006/main" prst="straightConnector1">
            <a:avLst/>
          </a:prstGeom>
          <a:ln xmlns:a="http://schemas.openxmlformats.org/drawingml/2006/main" w="19050">
            <a:solidFill>
              <a:srgbClr val="2E75B6"/>
            </a:solidFill>
            <a:prstDash val="solid"/>
          </a:ln>
        </p:spPr>
      </p:cxnSp>
      <p:sp>
        <p:nvSpPr>
          <p:cNvPr id="32" name="">
            <a:extLst xmlns:a="http://schemas.openxmlformats.org/drawingml/2006/main">
              <a:ext uri="{FF2B5EF4-FFF2-40B4-BE49-F238E27FC236}">
                <a16:creationId xmlns:a16="http://schemas.microsoft.com/office/drawing/2014/main" id="{F4303F7E-F547-4D6C-93A3-66C0A887A955}"/>
              </a:ext>
            </a:extLst>
          </p:cNvPr>
          <p:cNvSpPr>
            <a:spLocks xmlns:a="http://schemas.openxmlformats.org/drawingml/2006/main" noGrp="1"/>
          </p:cNvSpPr>
          <p:nvPr/>
        </p:nvSpPr>
        <p:spPr>
          <a:xfrm xmlns:a="http://schemas.openxmlformats.org/drawingml/2006/main">
            <a:off x="8801100" y="2524125"/>
            <a:ext cx="1200150" cy="1428750"/>
          </a:xfrm>
          <a:prstGeom xmlns:a="http://schemas.openxmlformats.org/drawingml/2006/main" prst="rect">
            <a:avLst/>
          </a:prstGeom>
          <a:solidFill xmlns:a="http://schemas.openxmlformats.org/drawingml/2006/main">
            <a:srgbClr val="123B63"/>
          </a:solidFill>
          <a:ln xmlns:a="http://schemas.openxmlformats.org/drawingml/2006/main" w="9525">
            <a:solidFill>
              <a:srgbClr val="123B63"/>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DCA82C5A-F4FA-44F7-96A0-1BF46EC27F35}"/>
              </a:ext>
            </a:extLst>
          </p:cNvPr>
          <p:cNvSpPr>
            <a:spLocks xmlns:a="http://schemas.openxmlformats.org/drawingml/2006/main" noGrp="1"/>
          </p:cNvSpPr>
          <p:nvPr/>
        </p:nvSpPr>
        <p:spPr>
          <a:xfrm xmlns:a="http://schemas.openxmlformats.org/drawingml/2006/main">
            <a:off x="8915400" y="26670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73B9E6"/>
                </a:solidFill>
                <a:latin typeface="Arial"/>
                <a:ea typeface="Arial"/>
                <a:cs typeface="Arial"/>
              </a:defRPr>
            </a:pPr>
            <a:r>
              <a:rPr sz="1050" b="1">
                <a:solidFill>
                  <a:srgbClr val="73B9E6"/>
                </a:solidFill>
                <a:latin typeface="Arial"/>
                <a:ea typeface="Arial"/>
                <a:cs typeface="Arial"/>
              </a:rPr>
              <a:t>4</a:t>
            </a:r>
          </a:p>
        </p:txBody>
      </p:sp>
      <p:sp>
        <p:nvSpPr>
          <p:cNvPr id="34" name="">
            <a:extLst xmlns:a="http://schemas.openxmlformats.org/drawingml/2006/main">
              <a:ext uri="{FF2B5EF4-FFF2-40B4-BE49-F238E27FC236}">
                <a16:creationId xmlns:a16="http://schemas.microsoft.com/office/drawing/2014/main" id="{10FB14D1-3AFA-44D7-95D7-F647134DFF2D}"/>
              </a:ext>
            </a:extLst>
          </p:cNvPr>
          <p:cNvSpPr>
            <a:spLocks xmlns:a="http://schemas.openxmlformats.org/drawingml/2006/main" noGrp="1"/>
          </p:cNvSpPr>
          <p:nvPr/>
        </p:nvSpPr>
        <p:spPr>
          <a:xfrm xmlns:a="http://schemas.openxmlformats.org/drawingml/2006/main">
            <a:off x="8877300" y="30956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Popravka</a:t>
            </a:r>
          </a:p>
        </p:txBody>
      </p:sp>
      <p:sp>
        <p:nvSpPr>
          <p:cNvPr id="35" name="">
            <a:extLst xmlns:a="http://schemas.openxmlformats.org/drawingml/2006/main">
              <a:ext uri="{FF2B5EF4-FFF2-40B4-BE49-F238E27FC236}">
                <a16:creationId xmlns:a16="http://schemas.microsoft.com/office/drawing/2014/main" id="{17183F22-E033-4247-AA9B-79F5D8DE418E}"/>
              </a:ext>
            </a:extLst>
          </p:cNvPr>
          <p:cNvSpPr>
            <a:spLocks xmlns:a="http://schemas.openxmlformats.org/drawingml/2006/main" noGrp="1"/>
          </p:cNvSpPr>
          <p:nvPr/>
        </p:nvSpPr>
        <p:spPr>
          <a:xfrm xmlns:a="http://schemas.openxmlformats.org/drawingml/2006/main">
            <a:off x="10306050" y="2524125"/>
            <a:ext cx="1200150" cy="1428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AE8B4DE7-2806-44A5-B7CC-83084CE4B273}"/>
              </a:ext>
            </a:extLst>
          </p:cNvPr>
          <p:cNvSpPr>
            <a:spLocks xmlns:a="http://schemas.openxmlformats.org/drawingml/2006/main" noGrp="1"/>
          </p:cNvSpPr>
          <p:nvPr/>
        </p:nvSpPr>
        <p:spPr>
          <a:xfrm xmlns:a="http://schemas.openxmlformats.org/drawingml/2006/main">
            <a:off x="10420350" y="26670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2E75B6"/>
                </a:solidFill>
                <a:latin typeface="Arial"/>
                <a:ea typeface="Arial"/>
                <a:cs typeface="Arial"/>
              </a:defRPr>
            </a:pPr>
            <a:r>
              <a:rPr sz="1050" b="1">
                <a:solidFill>
                  <a:srgbClr val="2E75B6"/>
                </a:solidFill>
                <a:latin typeface="Arial"/>
                <a:ea typeface="Arial"/>
                <a:cs typeface="Arial"/>
              </a:rPr>
              <a:t>5</a:t>
            </a:r>
          </a:p>
        </p:txBody>
      </p:sp>
      <p:sp>
        <p:nvSpPr>
          <p:cNvPr id="37" name="">
            <a:extLst xmlns:a="http://schemas.openxmlformats.org/drawingml/2006/main">
              <a:ext uri="{FF2B5EF4-FFF2-40B4-BE49-F238E27FC236}">
                <a16:creationId xmlns:a16="http://schemas.microsoft.com/office/drawing/2014/main" id="{67CE80DF-B58D-4F13-BF9B-B7728DF47900}"/>
              </a:ext>
            </a:extLst>
          </p:cNvPr>
          <p:cNvSpPr>
            <a:spLocks xmlns:a="http://schemas.openxmlformats.org/drawingml/2006/main" noGrp="1"/>
          </p:cNvSpPr>
          <p:nvPr/>
        </p:nvSpPr>
        <p:spPr>
          <a:xfrm xmlns:a="http://schemas.openxmlformats.org/drawingml/2006/main">
            <a:off x="10382250" y="3095625"/>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Nova</a:t>
            </a:r>
          </a:p>
          <a:p xmlns:a="http://schemas.openxmlformats.org/drawingml/2006/main">
            <a:pPr algn="ctr">
              <a:buNone/>
              <a:defRPr sz="1200" b="1">
                <a:solidFill>
                  <a:srgbClr val="111827"/>
                </a:solidFill>
                <a:latin typeface="Arial"/>
                <a:ea typeface="Arial"/>
                <a:cs typeface="Arial"/>
              </a:defRPr>
            </a:pPr>
            <a:r>
              <a:rPr sz="1200" b="1">
                <a:solidFill>
                  <a:srgbClr val="111827"/>
                </a:solidFill>
                <a:latin typeface="Arial"/>
                <a:ea typeface="Arial"/>
                <a:cs typeface="Arial"/>
              </a:rPr>
              <a:t>generacija</a:t>
            </a:r>
          </a:p>
        </p:txBody>
      </p:sp>
      <p:sp>
        <p:nvSpPr>
          <p:cNvPr id="38" name="">
            <a:extLst xmlns:a="http://schemas.openxmlformats.org/drawingml/2006/main">
              <a:ext uri="{FF2B5EF4-FFF2-40B4-BE49-F238E27FC236}">
                <a16:creationId xmlns:a16="http://schemas.microsoft.com/office/drawing/2014/main" id="{8BF426CD-E82F-43B1-B2D6-5E978F0AE364}"/>
              </a:ext>
            </a:extLst>
          </p:cNvPr>
          <p:cNvSpPr>
            <a:spLocks xmlns:a="http://schemas.openxmlformats.org/drawingml/2006/main" noGrp="1"/>
          </p:cNvSpPr>
          <p:nvPr/>
        </p:nvSpPr>
        <p:spPr>
          <a:xfrm xmlns:a="http://schemas.openxmlformats.org/drawingml/2006/main">
            <a:off x="4286250" y="4524375"/>
            <a:ext cx="7219950" cy="990600"/>
          </a:xfrm>
          <a:prstGeom xmlns:a="http://schemas.openxmlformats.org/drawingml/2006/main" prst="rect">
            <a:avLst/>
          </a:prstGeom>
          <a:solidFill xmlns:a="http://schemas.openxmlformats.org/drawingml/2006/main">
            <a:srgbClr val="EAF3F9"/>
          </a:solidFill>
          <a:ln xmlns:a="http://schemas.openxmlformats.org/drawingml/2006/main" w="9525">
            <a:solidFill>
              <a:srgbClr val="EAF3F9"/>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8030C696-644D-4BBC-B668-C88E0894CD5F}"/>
              </a:ext>
            </a:extLst>
          </p:cNvPr>
          <p:cNvSpPr>
            <a:spLocks xmlns:a="http://schemas.openxmlformats.org/drawingml/2006/main" noGrp="1"/>
          </p:cNvSpPr>
          <p:nvPr/>
        </p:nvSpPr>
        <p:spPr>
          <a:xfrm xmlns:a="http://schemas.openxmlformats.org/drawingml/2006/main">
            <a:off x="4533900" y="47625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E7D5B"/>
                </a:solidFill>
                <a:latin typeface="Arial"/>
                <a:ea typeface="Arial"/>
                <a:cs typeface="Arial"/>
              </a:defRPr>
            </a:pPr>
            <a:r>
              <a:rPr sz="1350" b="1">
                <a:solidFill>
                  <a:srgbClr val="2E7D5B"/>
                </a:solidFill>
                <a:latin typeface="Arial"/>
                <a:ea typeface="Arial"/>
                <a:cs typeface="Arial"/>
              </a:rPr>
              <a:t>Ključna veza</a:t>
            </a:r>
          </a:p>
        </p:txBody>
      </p:sp>
      <p:sp>
        <p:nvSpPr>
          <p:cNvPr id="40" name="">
            <a:extLst xmlns:a="http://schemas.openxmlformats.org/drawingml/2006/main">
              <a:ext uri="{FF2B5EF4-FFF2-40B4-BE49-F238E27FC236}">
                <a16:creationId xmlns:a16="http://schemas.microsoft.com/office/drawing/2014/main" id="{4607FF7E-FFE3-48B0-A4A2-F490E0FA991D}"/>
              </a:ext>
            </a:extLst>
          </p:cNvPr>
          <p:cNvSpPr>
            <a:spLocks xmlns:a="http://schemas.openxmlformats.org/drawingml/2006/main" noGrp="1"/>
          </p:cNvSpPr>
          <p:nvPr/>
        </p:nvSpPr>
        <p:spPr>
          <a:xfrm xmlns:a="http://schemas.openxmlformats.org/drawingml/2006/main">
            <a:off x="6038850" y="4695825"/>
            <a:ext cx="5219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11827"/>
                </a:solidFill>
                <a:latin typeface="Arial"/>
                <a:ea typeface="Arial"/>
                <a:cs typeface="Arial"/>
              </a:defRPr>
            </a:pPr>
            <a:r>
              <a:rPr sz="1425" b="0">
                <a:solidFill>
                  <a:srgbClr val="111827"/>
                </a:solidFill>
                <a:latin typeface="Arial"/>
                <a:ea typeface="Arial"/>
                <a:cs typeface="Arial"/>
              </a:rPr>
              <a:t>Svaka promena hromozoma završava se popravkom, pa evolucija uvek radi sa dopustivim rešenjima.</a:t>
            </a:r>
          </a:p>
        </p:txBody>
      </p:sp>
    </p:spTree>
    <p:extLst>
      <p:ext uri="{BB962C8B-B14F-4D97-AF65-F5344CB8AC3E}">
        <p14:creationId xmlns:p14="http://schemas.microsoft.com/office/powerpoint/2010/main" val="4175218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4-title">
            <a:extLst xmlns:a="http://schemas.openxmlformats.org/drawingml/2006/main">
              <a:ext uri="{FF2B5EF4-FFF2-40B4-BE49-F238E27FC236}">
                <a16:creationId xmlns:a16="http://schemas.microsoft.com/office/drawing/2014/main" id="{E2D55ED2-ACEE-463E-B1AF-9D580D5355BE}"/>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Popravka održava dopustivost i poboljšava rešenje</a:t>
            </a:r>
          </a:p>
        </p:txBody>
      </p:sp>
      <p:cxnSp>
        <p:nvCxnSpPr>
          <p:cNvPr id="108" name="slide-4-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4-number">
            <a:extLst xmlns:a="http://schemas.openxmlformats.org/drawingml/2006/main">
              <a:ext uri="{FF2B5EF4-FFF2-40B4-BE49-F238E27FC236}">
                <a16:creationId xmlns:a16="http://schemas.microsoft.com/office/drawing/2014/main" id="{5956C617-7972-4DEE-B33D-A7427C862609}"/>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4/12</a:t>
            </a:r>
          </a:p>
        </p:txBody>
      </p:sp>
      <p:sp>
        <p:nvSpPr>
          <p:cNvPr id="4" name="slide-4-footer">
            <a:extLst xmlns:a="http://schemas.openxmlformats.org/drawingml/2006/main">
              <a:ext uri="{FF2B5EF4-FFF2-40B4-BE49-F238E27FC236}">
                <a16:creationId xmlns:a16="http://schemas.microsoft.com/office/drawing/2014/main" id="{C666F605-78B6-4634-9348-EECE8898A90D}"/>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6C23B66B-89E9-4C35-8EBB-A28D72663B22}"/>
              </a:ext>
            </a:extLst>
          </p:cNvPr>
          <p:cNvSpPr>
            <a:spLocks xmlns:a="http://schemas.openxmlformats.org/drawingml/2006/main" noGrp="1"/>
          </p:cNvSpPr>
          <p:nvPr/>
        </p:nvSpPr>
        <p:spPr>
          <a:xfrm xmlns:a="http://schemas.openxmlformats.org/drawingml/2006/main">
            <a:off x="533400" y="1438275"/>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36273"/>
                </a:solidFill>
                <a:latin typeface="Arial"/>
                <a:ea typeface="Arial"/>
                <a:cs typeface="Arial"/>
              </a:defRPr>
            </a:pPr>
            <a:r>
              <a:rPr sz="1575" b="0">
                <a:solidFill>
                  <a:srgbClr val="536273"/>
                </a:solidFill>
                <a:latin typeface="Arial"/>
                <a:ea typeface="Arial"/>
                <a:cs typeface="Arial"/>
              </a:rPr>
              <a:t>Svako novo rešenje prolazi kroz četiri determinističke faze.</a:t>
            </a:r>
          </a:p>
        </p:txBody>
      </p:sp>
      <p:cxnSp>
        <p:nvCxnSpPr>
          <p:cNvPr id="112" name=""/>
          <p:cNvCxnSpPr/>
          <p:nvPr/>
        </p:nvCxnSpPr>
        <p:spPr>
          <a:xfrm xmlns:a="http://schemas.openxmlformats.org/drawingml/2006/main">
            <a:off x="2857500" y="3257550"/>
            <a:ext cx="476250" cy="0"/>
          </a:xfrm>
          <a:prstGeom xmlns:a="http://schemas.openxmlformats.org/drawingml/2006/main" prst="straightConnector1">
            <a:avLst/>
          </a:prstGeom>
          <a:ln xmlns:a="http://schemas.openxmlformats.org/drawingml/2006/main" w="19050">
            <a:solidFill>
              <a:srgbClr val="2E75B6"/>
            </a:solidFill>
            <a:prstDash val="solid"/>
          </a:ln>
        </p:spPr>
      </p:cxnSp>
      <p:sp>
        <p:nvSpPr>
          <p:cNvPr id="7" name="">
            <a:extLst xmlns:a="http://schemas.openxmlformats.org/drawingml/2006/main">
              <a:ext uri="{FF2B5EF4-FFF2-40B4-BE49-F238E27FC236}">
                <a16:creationId xmlns:a16="http://schemas.microsoft.com/office/drawing/2014/main" id="{0E84FB42-6AF2-48B9-94FA-910DAEE3E4E0}"/>
              </a:ext>
            </a:extLst>
          </p:cNvPr>
          <p:cNvSpPr>
            <a:spLocks xmlns:a="http://schemas.openxmlformats.org/drawingml/2006/main" noGrp="1"/>
          </p:cNvSpPr>
          <p:nvPr/>
        </p:nvSpPr>
        <p:spPr>
          <a:xfrm xmlns:a="http://schemas.openxmlformats.org/drawingml/2006/main">
            <a:off x="533400" y="2143125"/>
            <a:ext cx="2324100" cy="24765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EA852A45-7019-4B95-AC9D-83E78AFAFE82}"/>
              </a:ext>
            </a:extLst>
          </p:cNvPr>
          <p:cNvSpPr>
            <a:spLocks xmlns:a="http://schemas.openxmlformats.org/drawingml/2006/main" noGrp="1"/>
          </p:cNvSpPr>
          <p:nvPr/>
        </p:nvSpPr>
        <p:spPr>
          <a:xfrm xmlns:a="http://schemas.openxmlformats.org/drawingml/2006/main">
            <a:off x="762000" y="2371725"/>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536273"/>
                </a:solidFill>
                <a:latin typeface="Arial"/>
                <a:ea typeface="Arial"/>
                <a:cs typeface="Arial"/>
              </a:defRPr>
            </a:pPr>
            <a:r>
              <a:rPr sz="1500" b="1">
                <a:solidFill>
                  <a:srgbClr val="536273"/>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4D69B333-ECEC-450A-9791-A51199BB12C5}"/>
              </a:ext>
            </a:extLst>
          </p:cNvPr>
          <p:cNvSpPr>
            <a:spLocks xmlns:a="http://schemas.openxmlformats.org/drawingml/2006/main" noGrp="1"/>
          </p:cNvSpPr>
          <p:nvPr/>
        </p:nvSpPr>
        <p:spPr>
          <a:xfrm xmlns:a="http://schemas.openxmlformats.org/drawingml/2006/main">
            <a:off x="762000" y="2952750"/>
            <a:ext cx="1866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11827"/>
                </a:solidFill>
                <a:latin typeface="Arial"/>
                <a:ea typeface="Arial"/>
                <a:cs typeface="Arial"/>
              </a:defRPr>
            </a:pPr>
            <a:r>
              <a:rPr sz="1800" b="1">
                <a:solidFill>
                  <a:srgbClr val="111827"/>
                </a:solidFill>
                <a:latin typeface="Arial"/>
                <a:ea typeface="Arial"/>
                <a:cs typeface="Arial"/>
              </a:rPr>
              <a:t>Odsecanje</a:t>
            </a:r>
          </a:p>
        </p:txBody>
      </p:sp>
      <p:sp>
        <p:nvSpPr>
          <p:cNvPr id="10" name="">
            <a:extLst xmlns:a="http://schemas.openxmlformats.org/drawingml/2006/main">
              <a:ext uri="{FF2B5EF4-FFF2-40B4-BE49-F238E27FC236}">
                <a16:creationId xmlns:a16="http://schemas.microsoft.com/office/drawing/2014/main" id="{092A3BD5-D494-437B-B3CD-9A9F49614EC6}"/>
              </a:ext>
            </a:extLst>
          </p:cNvPr>
          <p:cNvSpPr>
            <a:spLocks xmlns:a="http://schemas.openxmlformats.org/drawingml/2006/main" noGrp="1"/>
          </p:cNvSpPr>
          <p:nvPr/>
        </p:nvSpPr>
        <p:spPr>
          <a:xfrm xmlns:a="http://schemas.openxmlformats.org/drawingml/2006/main">
            <a:off x="762000" y="3705225"/>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536273"/>
                </a:solidFill>
                <a:latin typeface="Arial"/>
                <a:ea typeface="Arial"/>
                <a:cs typeface="Arial"/>
              </a:defRPr>
            </a:pPr>
            <a:r>
              <a:rPr sz="1275" b="0">
                <a:solidFill>
                  <a:srgbClr val="536273"/>
                </a:solidFill>
                <a:latin typeface="Arial"/>
                <a:ea typeface="Arial"/>
                <a:cs typeface="Arial"/>
              </a:rPr>
              <a:t>Negativne vrednosti postaju nula.</a:t>
            </a:r>
          </a:p>
        </p:txBody>
      </p:sp>
      <p:cxnSp>
        <p:nvCxnSpPr>
          <p:cNvPr id="117" name=""/>
          <p:cNvCxnSpPr/>
          <p:nvPr/>
        </p:nvCxnSpPr>
        <p:spPr>
          <a:xfrm xmlns:a="http://schemas.openxmlformats.org/drawingml/2006/main">
            <a:off x="5657850" y="3257550"/>
            <a:ext cx="476250" cy="0"/>
          </a:xfrm>
          <a:prstGeom xmlns:a="http://schemas.openxmlformats.org/drawingml/2006/main" prst="straightConnector1">
            <a:avLst/>
          </a:prstGeom>
          <a:ln xmlns:a="http://schemas.openxmlformats.org/drawingml/2006/main" w="19050">
            <a:solidFill>
              <a:srgbClr val="2E75B6"/>
            </a:solidFill>
            <a:prstDash val="solid"/>
          </a:ln>
        </p:spPr>
      </p:cxnSp>
      <p:sp>
        <p:nvSpPr>
          <p:cNvPr id="12" name="">
            <a:extLst xmlns:a="http://schemas.openxmlformats.org/drawingml/2006/main">
              <a:ext uri="{FF2B5EF4-FFF2-40B4-BE49-F238E27FC236}">
                <a16:creationId xmlns:a16="http://schemas.microsoft.com/office/drawing/2014/main" id="{67F8B6E8-D12F-49C6-847B-A8F23704CA0A}"/>
              </a:ext>
            </a:extLst>
          </p:cNvPr>
          <p:cNvSpPr>
            <a:spLocks xmlns:a="http://schemas.openxmlformats.org/drawingml/2006/main" noGrp="1"/>
          </p:cNvSpPr>
          <p:nvPr/>
        </p:nvSpPr>
        <p:spPr>
          <a:xfrm xmlns:a="http://schemas.openxmlformats.org/drawingml/2006/main">
            <a:off x="3333750" y="2143125"/>
            <a:ext cx="2324100" cy="24765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0A741BB-B15D-4ED5-9CEA-A9ED43F20ABC}"/>
              </a:ext>
            </a:extLst>
          </p:cNvPr>
          <p:cNvSpPr>
            <a:spLocks xmlns:a="http://schemas.openxmlformats.org/drawingml/2006/main" noGrp="1"/>
          </p:cNvSpPr>
          <p:nvPr/>
        </p:nvSpPr>
        <p:spPr>
          <a:xfrm xmlns:a="http://schemas.openxmlformats.org/drawingml/2006/main">
            <a:off x="3562350" y="2371725"/>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536273"/>
                </a:solidFill>
                <a:latin typeface="Arial"/>
                <a:ea typeface="Arial"/>
                <a:cs typeface="Arial"/>
              </a:defRPr>
            </a:pPr>
            <a:r>
              <a:rPr sz="1500" b="1">
                <a:solidFill>
                  <a:srgbClr val="536273"/>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C0A268AC-9747-486D-A5CC-F59CA4F25483}"/>
              </a:ext>
            </a:extLst>
          </p:cNvPr>
          <p:cNvSpPr>
            <a:spLocks xmlns:a="http://schemas.openxmlformats.org/drawingml/2006/main" noGrp="1"/>
          </p:cNvSpPr>
          <p:nvPr/>
        </p:nvSpPr>
        <p:spPr>
          <a:xfrm xmlns:a="http://schemas.openxmlformats.org/drawingml/2006/main">
            <a:off x="3562350" y="2952750"/>
            <a:ext cx="1866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11827"/>
                </a:solidFill>
                <a:latin typeface="Arial"/>
                <a:ea typeface="Arial"/>
                <a:cs typeface="Arial"/>
              </a:defRPr>
            </a:pPr>
            <a:r>
              <a:rPr sz="1800" b="1">
                <a:solidFill>
                  <a:srgbClr val="111827"/>
                </a:solidFill>
                <a:latin typeface="Arial"/>
                <a:ea typeface="Arial"/>
                <a:cs typeface="Arial"/>
              </a:rPr>
              <a:t>Zahtev servisa</a:t>
            </a:r>
          </a:p>
        </p:txBody>
      </p:sp>
      <p:sp>
        <p:nvSpPr>
          <p:cNvPr id="15" name="">
            <a:extLst xmlns:a="http://schemas.openxmlformats.org/drawingml/2006/main">
              <a:ext uri="{FF2B5EF4-FFF2-40B4-BE49-F238E27FC236}">
                <a16:creationId xmlns:a16="http://schemas.microsoft.com/office/drawing/2014/main" id="{F831F6A9-6E06-4CC3-B653-05BA17F89F2F}"/>
              </a:ext>
            </a:extLst>
          </p:cNvPr>
          <p:cNvSpPr>
            <a:spLocks xmlns:a="http://schemas.openxmlformats.org/drawingml/2006/main" noGrp="1"/>
          </p:cNvSpPr>
          <p:nvPr/>
        </p:nvSpPr>
        <p:spPr>
          <a:xfrm xmlns:a="http://schemas.openxmlformats.org/drawingml/2006/main">
            <a:off x="3562350" y="3705225"/>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536273"/>
                </a:solidFill>
                <a:latin typeface="Arial"/>
                <a:ea typeface="Arial"/>
                <a:cs typeface="Arial"/>
              </a:defRPr>
            </a:pPr>
            <a:r>
              <a:rPr sz="1275" b="0">
                <a:solidFill>
                  <a:srgbClr val="536273"/>
                </a:solidFill>
                <a:latin typeface="Arial"/>
                <a:ea typeface="Arial"/>
                <a:cs typeface="Arial"/>
              </a:rPr>
              <a:t>Prekoračeni redovi proporcionalno se smanjuju.</a:t>
            </a:r>
          </a:p>
        </p:txBody>
      </p:sp>
      <p:cxnSp>
        <p:nvCxnSpPr>
          <p:cNvPr id="122" name=""/>
          <p:cNvCxnSpPr/>
          <p:nvPr/>
        </p:nvCxnSpPr>
        <p:spPr>
          <a:xfrm xmlns:a="http://schemas.openxmlformats.org/drawingml/2006/main">
            <a:off x="8458200" y="3257550"/>
            <a:ext cx="476250" cy="0"/>
          </a:xfrm>
          <a:prstGeom xmlns:a="http://schemas.openxmlformats.org/drawingml/2006/main" prst="straightConnector1">
            <a:avLst/>
          </a:prstGeom>
          <a:ln xmlns:a="http://schemas.openxmlformats.org/drawingml/2006/main" w="19050">
            <a:solidFill>
              <a:srgbClr val="2E75B6"/>
            </a:solidFill>
            <a:prstDash val="solid"/>
          </a:ln>
        </p:spPr>
      </p:cxnSp>
      <p:sp>
        <p:nvSpPr>
          <p:cNvPr id="17" name="">
            <a:extLst xmlns:a="http://schemas.openxmlformats.org/drawingml/2006/main">
              <a:ext uri="{FF2B5EF4-FFF2-40B4-BE49-F238E27FC236}">
                <a16:creationId xmlns:a16="http://schemas.microsoft.com/office/drawing/2014/main" id="{FB9D86DD-07EC-47BA-AE35-B702876DAC7E}"/>
              </a:ext>
            </a:extLst>
          </p:cNvPr>
          <p:cNvSpPr>
            <a:spLocks xmlns:a="http://schemas.openxmlformats.org/drawingml/2006/main" noGrp="1"/>
          </p:cNvSpPr>
          <p:nvPr/>
        </p:nvSpPr>
        <p:spPr>
          <a:xfrm xmlns:a="http://schemas.openxmlformats.org/drawingml/2006/main">
            <a:off x="6134100" y="2143125"/>
            <a:ext cx="2324100" cy="24765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4BD3E8A6-DD60-4C17-8340-0FF312AAF5D8}"/>
              </a:ext>
            </a:extLst>
          </p:cNvPr>
          <p:cNvSpPr>
            <a:spLocks xmlns:a="http://schemas.openxmlformats.org/drawingml/2006/main" noGrp="1"/>
          </p:cNvSpPr>
          <p:nvPr/>
        </p:nvSpPr>
        <p:spPr>
          <a:xfrm xmlns:a="http://schemas.openxmlformats.org/drawingml/2006/main">
            <a:off x="6362700" y="2371725"/>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536273"/>
                </a:solidFill>
                <a:latin typeface="Arial"/>
                <a:ea typeface="Arial"/>
                <a:cs typeface="Arial"/>
              </a:defRPr>
            </a:pPr>
            <a:r>
              <a:rPr sz="1500" b="1">
                <a:solidFill>
                  <a:srgbClr val="536273"/>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55745EE5-4BDC-4CC4-B973-DA95CFEB5754}"/>
              </a:ext>
            </a:extLst>
          </p:cNvPr>
          <p:cNvSpPr>
            <a:spLocks xmlns:a="http://schemas.openxmlformats.org/drawingml/2006/main" noGrp="1"/>
          </p:cNvSpPr>
          <p:nvPr/>
        </p:nvSpPr>
        <p:spPr>
          <a:xfrm xmlns:a="http://schemas.openxmlformats.org/drawingml/2006/main">
            <a:off x="6362700" y="2952750"/>
            <a:ext cx="1866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11827"/>
                </a:solidFill>
                <a:latin typeface="Arial"/>
                <a:ea typeface="Arial"/>
                <a:cs typeface="Arial"/>
              </a:defRPr>
            </a:pPr>
            <a:r>
              <a:rPr sz="1800" b="1">
                <a:solidFill>
                  <a:srgbClr val="111827"/>
                </a:solidFill>
                <a:latin typeface="Arial"/>
                <a:ea typeface="Arial"/>
                <a:cs typeface="Arial"/>
              </a:rPr>
              <a:t>Vreme računara</a:t>
            </a:r>
          </a:p>
        </p:txBody>
      </p:sp>
      <p:sp>
        <p:nvSpPr>
          <p:cNvPr id="20" name="">
            <a:extLst xmlns:a="http://schemas.openxmlformats.org/drawingml/2006/main">
              <a:ext uri="{FF2B5EF4-FFF2-40B4-BE49-F238E27FC236}">
                <a16:creationId xmlns:a16="http://schemas.microsoft.com/office/drawing/2014/main" id="{2E27F56A-93B6-4948-8EB3-06F8C67546B8}"/>
              </a:ext>
            </a:extLst>
          </p:cNvPr>
          <p:cNvSpPr>
            <a:spLocks xmlns:a="http://schemas.openxmlformats.org/drawingml/2006/main" noGrp="1"/>
          </p:cNvSpPr>
          <p:nvPr/>
        </p:nvSpPr>
        <p:spPr>
          <a:xfrm xmlns:a="http://schemas.openxmlformats.org/drawingml/2006/main">
            <a:off x="6362700" y="3705225"/>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536273"/>
                </a:solidFill>
                <a:latin typeface="Arial"/>
                <a:ea typeface="Arial"/>
                <a:cs typeface="Arial"/>
              </a:defRPr>
            </a:pPr>
            <a:r>
              <a:rPr sz="1275" b="0">
                <a:solidFill>
                  <a:srgbClr val="536273"/>
                </a:solidFill>
                <a:latin typeface="Arial"/>
                <a:ea typeface="Arial"/>
                <a:cs typeface="Arial"/>
              </a:rPr>
              <a:t>Uklanjaju se najmanje profitabilne jedinice.</a:t>
            </a:r>
          </a:p>
        </p:txBody>
      </p:sp>
      <p:sp>
        <p:nvSpPr>
          <p:cNvPr id="21" name="">
            <a:extLst xmlns:a="http://schemas.openxmlformats.org/drawingml/2006/main">
              <a:ext uri="{FF2B5EF4-FFF2-40B4-BE49-F238E27FC236}">
                <a16:creationId xmlns:a16="http://schemas.microsoft.com/office/drawing/2014/main" id="{35C5DD86-F39F-4189-85AE-61BA1ED1408A}"/>
              </a:ext>
            </a:extLst>
          </p:cNvPr>
          <p:cNvSpPr>
            <a:spLocks xmlns:a="http://schemas.openxmlformats.org/drawingml/2006/main" noGrp="1"/>
          </p:cNvSpPr>
          <p:nvPr/>
        </p:nvSpPr>
        <p:spPr>
          <a:xfrm xmlns:a="http://schemas.openxmlformats.org/drawingml/2006/main">
            <a:off x="8934450" y="2143125"/>
            <a:ext cx="2324100" cy="2476500"/>
          </a:xfrm>
          <a:prstGeom xmlns:a="http://schemas.openxmlformats.org/drawingml/2006/main" prst="rect">
            <a:avLst/>
          </a:prstGeom>
          <a:solidFill xmlns:a="http://schemas.openxmlformats.org/drawingml/2006/main">
            <a:srgbClr val="EAF3F9"/>
          </a:solidFill>
          <a:ln xmlns:a="http://schemas.openxmlformats.org/drawingml/2006/main" w="9525">
            <a:solidFill>
              <a:srgbClr val="2E75B6"/>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3E2AD6E-DD46-411D-BE27-577C60958D42}"/>
              </a:ext>
            </a:extLst>
          </p:cNvPr>
          <p:cNvSpPr>
            <a:spLocks xmlns:a="http://schemas.openxmlformats.org/drawingml/2006/main" noGrp="1"/>
          </p:cNvSpPr>
          <p:nvPr/>
        </p:nvSpPr>
        <p:spPr>
          <a:xfrm xmlns:a="http://schemas.openxmlformats.org/drawingml/2006/main">
            <a:off x="9163050" y="2371725"/>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E75B6"/>
                </a:solidFill>
                <a:latin typeface="Arial"/>
                <a:ea typeface="Arial"/>
                <a:cs typeface="Arial"/>
              </a:defRPr>
            </a:pPr>
            <a:r>
              <a:rPr sz="1500" b="1">
                <a:solidFill>
                  <a:srgbClr val="2E75B6"/>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2216FC79-AE43-4DC6-BC65-629A1DB918E4}"/>
              </a:ext>
            </a:extLst>
          </p:cNvPr>
          <p:cNvSpPr>
            <a:spLocks xmlns:a="http://schemas.openxmlformats.org/drawingml/2006/main" noGrp="1"/>
          </p:cNvSpPr>
          <p:nvPr/>
        </p:nvSpPr>
        <p:spPr>
          <a:xfrm xmlns:a="http://schemas.openxmlformats.org/drawingml/2006/main">
            <a:off x="9163050" y="2952750"/>
            <a:ext cx="1866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11827"/>
                </a:solidFill>
                <a:latin typeface="Arial"/>
                <a:ea typeface="Arial"/>
                <a:cs typeface="Arial"/>
              </a:defRPr>
            </a:pPr>
            <a:r>
              <a:rPr sz="1800" b="1">
                <a:solidFill>
                  <a:srgbClr val="111827"/>
                </a:solidFill>
                <a:latin typeface="Arial"/>
                <a:ea typeface="Arial"/>
                <a:cs typeface="Arial"/>
              </a:rPr>
              <a:t>Popunjavanje</a:t>
            </a:r>
          </a:p>
        </p:txBody>
      </p:sp>
      <p:sp>
        <p:nvSpPr>
          <p:cNvPr id="24" name="">
            <a:extLst xmlns:a="http://schemas.openxmlformats.org/drawingml/2006/main">
              <a:ext uri="{FF2B5EF4-FFF2-40B4-BE49-F238E27FC236}">
                <a16:creationId xmlns:a16="http://schemas.microsoft.com/office/drawing/2014/main" id="{43A19F70-B509-413A-9EE5-2BFA1385C265}"/>
              </a:ext>
            </a:extLst>
          </p:cNvPr>
          <p:cNvSpPr>
            <a:spLocks xmlns:a="http://schemas.openxmlformats.org/drawingml/2006/main" noGrp="1"/>
          </p:cNvSpPr>
          <p:nvPr/>
        </p:nvSpPr>
        <p:spPr>
          <a:xfrm xmlns:a="http://schemas.openxmlformats.org/drawingml/2006/main">
            <a:off x="9163050" y="3705225"/>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536273"/>
                </a:solidFill>
                <a:latin typeface="Arial"/>
                <a:ea typeface="Arial"/>
                <a:cs typeface="Arial"/>
              </a:defRPr>
            </a:pPr>
            <a:r>
              <a:rPr sz="1275" b="0">
                <a:solidFill>
                  <a:srgbClr val="536273"/>
                </a:solidFill>
                <a:latin typeface="Arial"/>
                <a:ea typeface="Arial"/>
                <a:cs typeface="Arial"/>
              </a:rPr>
              <a:t>Dodaju se najprofitabilnije dopustive jedinice.</a:t>
            </a:r>
          </a:p>
        </p:txBody>
      </p:sp>
      <p:sp>
        <p:nvSpPr>
          <p:cNvPr id="25" name="">
            <a:extLst xmlns:a="http://schemas.openxmlformats.org/drawingml/2006/main">
              <a:ext uri="{FF2B5EF4-FFF2-40B4-BE49-F238E27FC236}">
                <a16:creationId xmlns:a16="http://schemas.microsoft.com/office/drawing/2014/main" id="{038736D4-BA68-4ACC-85CA-5FFCBE6AE7B5}"/>
              </a:ext>
            </a:extLst>
          </p:cNvPr>
          <p:cNvSpPr>
            <a:spLocks xmlns:a="http://schemas.openxmlformats.org/drawingml/2006/main" noGrp="1"/>
          </p:cNvSpPr>
          <p:nvPr/>
        </p:nvSpPr>
        <p:spPr>
          <a:xfrm xmlns:a="http://schemas.openxmlformats.org/drawingml/2006/main">
            <a:off x="2476500" y="5095875"/>
            <a:ext cx="7239000" cy="685800"/>
          </a:xfrm>
          <a:prstGeom xmlns:a="http://schemas.openxmlformats.org/drawingml/2006/main" prst="rect">
            <a:avLst/>
          </a:prstGeom>
          <a:solidFill xmlns:a="http://schemas.openxmlformats.org/drawingml/2006/main">
            <a:srgbClr val="123B63"/>
          </a:solidFill>
          <a:ln xmlns:a="http://schemas.openxmlformats.org/drawingml/2006/main" w="9525">
            <a:solidFill>
              <a:srgbClr val="123B63"/>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57D1B1B6-DF56-460E-A02F-416BDF4807B8}"/>
              </a:ext>
            </a:extLst>
          </p:cNvPr>
          <p:cNvSpPr>
            <a:spLocks xmlns:a="http://schemas.openxmlformats.org/drawingml/2006/main" noGrp="1"/>
          </p:cNvSpPr>
          <p:nvPr/>
        </p:nvSpPr>
        <p:spPr>
          <a:xfrm xmlns:a="http://schemas.openxmlformats.org/drawingml/2006/main">
            <a:off x="2762250" y="5276850"/>
            <a:ext cx="666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Rezultat: dopustiv hromozom + pohlepno popunjavanje</a:t>
            </a:r>
          </a:p>
        </p:txBody>
      </p:sp>
    </p:spTree>
    <p:extLst>
      <p:ext uri="{BB962C8B-B14F-4D97-AF65-F5344CB8AC3E}">
        <p14:creationId xmlns:p14="http://schemas.microsoft.com/office/powerpoint/2010/main" val="14428913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5-title">
            <a:extLst xmlns:a="http://schemas.openxmlformats.org/drawingml/2006/main">
              <a:ext uri="{FF2B5EF4-FFF2-40B4-BE49-F238E27FC236}">
                <a16:creationId xmlns:a16="http://schemas.microsoft.com/office/drawing/2014/main" id="{1628FC47-48B5-4F95-9E70-B5570C158672}"/>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Ista formulacija je ispitana na tri problema različite veličine</a:t>
            </a:r>
          </a:p>
        </p:txBody>
      </p:sp>
      <p:cxnSp>
        <p:nvCxnSpPr>
          <p:cNvPr id="36" name="slide-5-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5-number">
            <a:extLst xmlns:a="http://schemas.openxmlformats.org/drawingml/2006/main">
              <a:ext uri="{FF2B5EF4-FFF2-40B4-BE49-F238E27FC236}">
                <a16:creationId xmlns:a16="http://schemas.microsoft.com/office/drawing/2014/main" id="{B6CB7606-7DD8-4E70-B463-580924D2F588}"/>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5/12</a:t>
            </a:r>
          </a:p>
        </p:txBody>
      </p:sp>
      <p:sp>
        <p:nvSpPr>
          <p:cNvPr id="4" name="slide-5-footer">
            <a:extLst xmlns:a="http://schemas.openxmlformats.org/drawingml/2006/main">
              <a:ext uri="{FF2B5EF4-FFF2-40B4-BE49-F238E27FC236}">
                <a16:creationId xmlns:a16="http://schemas.microsoft.com/office/drawing/2014/main" id="{B73FCF1D-5E53-4487-87F4-9F78952553C2}"/>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82F322F9-5BBF-4B9F-9B1D-69313C3224BF}"/>
              </a:ext>
            </a:extLst>
          </p:cNvPr>
          <p:cNvSpPr>
            <a:spLocks xmlns:a="http://schemas.openxmlformats.org/drawingml/2006/main" noGrp="1"/>
          </p:cNvSpPr>
          <p:nvPr/>
        </p:nvSpPr>
        <p:spPr>
          <a:xfrm xmlns:a="http://schemas.openxmlformats.org/drawingml/2006/main">
            <a:off x="533400" y="14287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36273"/>
                </a:solidFill>
                <a:latin typeface="Arial"/>
                <a:ea typeface="Arial"/>
                <a:cs typeface="Arial"/>
              </a:defRPr>
            </a:pPr>
            <a:r>
              <a:rPr sz="1575" b="0">
                <a:solidFill>
                  <a:srgbClr val="536273"/>
                </a:solidFill>
                <a:latin typeface="Arial"/>
                <a:ea typeface="Arial"/>
                <a:cs typeface="Arial"/>
              </a:rPr>
              <a:t>Tri problema · ista funkcija cilja · isti hardver</a:t>
            </a:r>
          </a:p>
        </p:txBody>
      </p:sp>
      <p:sp>
        <p:nvSpPr>
          <p:cNvPr id="6" name="">
            <a:extLst xmlns:a="http://schemas.openxmlformats.org/drawingml/2006/main">
              <a:ext uri="{FF2B5EF4-FFF2-40B4-BE49-F238E27FC236}">
                <a16:creationId xmlns:a16="http://schemas.microsoft.com/office/drawing/2014/main" id="{51A5CF18-D518-4C5D-8FC7-9A63E595E2AD}"/>
              </a:ext>
            </a:extLst>
          </p:cNvPr>
          <p:cNvSpPr>
            <a:spLocks xmlns:a="http://schemas.openxmlformats.org/drawingml/2006/main" noGrp="1"/>
          </p:cNvSpPr>
          <p:nvPr/>
        </p:nvSpPr>
        <p:spPr>
          <a:xfrm xmlns:a="http://schemas.openxmlformats.org/drawingml/2006/main">
            <a:off x="533400" y="2038350"/>
            <a:ext cx="3333750" cy="23812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36DF6A39-D746-4720-B365-8ADF8A77A21B}"/>
              </a:ext>
            </a:extLst>
          </p:cNvPr>
          <p:cNvSpPr>
            <a:spLocks xmlns:a="http://schemas.openxmlformats.org/drawingml/2006/main" noGrp="1"/>
          </p:cNvSpPr>
          <p:nvPr/>
        </p:nvSpPr>
        <p:spPr>
          <a:xfrm xmlns:a="http://schemas.openxmlformats.org/drawingml/2006/main">
            <a:off x="762000" y="22669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2E7D5B"/>
                </a:solidFill>
                <a:latin typeface="Arial"/>
                <a:ea typeface="Arial"/>
                <a:cs typeface="Arial"/>
              </a:defRPr>
            </a:pPr>
            <a:r>
              <a:rPr sz="3150" b="1">
                <a:solidFill>
                  <a:srgbClr val="2E7D5B"/>
                </a:solidFill>
                <a:latin typeface="Arial"/>
                <a:ea typeface="Arial"/>
                <a:cs typeface="Arial"/>
              </a:rPr>
              <a:t>10 × 10</a:t>
            </a:r>
          </a:p>
        </p:txBody>
      </p:sp>
      <p:sp>
        <p:nvSpPr>
          <p:cNvPr id="8" name="">
            <a:extLst xmlns:a="http://schemas.openxmlformats.org/drawingml/2006/main">
              <a:ext uri="{FF2B5EF4-FFF2-40B4-BE49-F238E27FC236}">
                <a16:creationId xmlns:a16="http://schemas.microsoft.com/office/drawing/2014/main" id="{A0F7419C-0B9C-4E43-A5B0-02E3A938090B}"/>
              </a:ext>
            </a:extLst>
          </p:cNvPr>
          <p:cNvSpPr>
            <a:spLocks xmlns:a="http://schemas.openxmlformats.org/drawingml/2006/main" noGrp="1"/>
          </p:cNvSpPr>
          <p:nvPr/>
        </p:nvSpPr>
        <p:spPr>
          <a:xfrm xmlns:a="http://schemas.openxmlformats.org/drawingml/2006/main">
            <a:off x="762000" y="3028950"/>
            <a:ext cx="2876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100 promenljivih</a:t>
            </a:r>
          </a:p>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verifikaciona instanca</a:t>
            </a:r>
          </a:p>
        </p:txBody>
      </p:sp>
      <p:sp>
        <p:nvSpPr>
          <p:cNvPr id="9" name="">
            <a:extLst xmlns:a="http://schemas.openxmlformats.org/drawingml/2006/main">
              <a:ext uri="{FF2B5EF4-FFF2-40B4-BE49-F238E27FC236}">
                <a16:creationId xmlns:a16="http://schemas.microsoft.com/office/drawing/2014/main" id="{DF955726-44C1-44B5-8119-501694ED3CC8}"/>
              </a:ext>
            </a:extLst>
          </p:cNvPr>
          <p:cNvSpPr>
            <a:spLocks xmlns:a="http://schemas.openxmlformats.org/drawingml/2006/main" noGrp="1"/>
          </p:cNvSpPr>
          <p:nvPr/>
        </p:nvSpPr>
        <p:spPr>
          <a:xfrm xmlns:a="http://schemas.openxmlformats.org/drawingml/2006/main">
            <a:off x="4429125" y="2038350"/>
            <a:ext cx="3333750" cy="23812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78C729A-DF4A-4690-A6E6-A43838C9C44B}"/>
              </a:ext>
            </a:extLst>
          </p:cNvPr>
          <p:cNvSpPr>
            <a:spLocks xmlns:a="http://schemas.openxmlformats.org/drawingml/2006/main" noGrp="1"/>
          </p:cNvSpPr>
          <p:nvPr/>
        </p:nvSpPr>
        <p:spPr>
          <a:xfrm xmlns:a="http://schemas.openxmlformats.org/drawingml/2006/main">
            <a:off x="4657725" y="22669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2E75B6"/>
                </a:solidFill>
                <a:latin typeface="Arial"/>
                <a:ea typeface="Arial"/>
                <a:cs typeface="Arial"/>
              </a:defRPr>
            </a:pPr>
            <a:r>
              <a:rPr sz="3150" b="1">
                <a:solidFill>
                  <a:srgbClr val="2E75B6"/>
                </a:solidFill>
                <a:latin typeface="Arial"/>
                <a:ea typeface="Arial"/>
                <a:cs typeface="Arial"/>
              </a:rPr>
              <a:t>100 × 100</a:t>
            </a:r>
          </a:p>
        </p:txBody>
      </p:sp>
      <p:sp>
        <p:nvSpPr>
          <p:cNvPr id="11" name="">
            <a:extLst xmlns:a="http://schemas.openxmlformats.org/drawingml/2006/main">
              <a:ext uri="{FF2B5EF4-FFF2-40B4-BE49-F238E27FC236}">
                <a16:creationId xmlns:a16="http://schemas.microsoft.com/office/drawing/2014/main" id="{576DBEF6-0BD3-4241-BDA7-286CB4F26D40}"/>
              </a:ext>
            </a:extLst>
          </p:cNvPr>
          <p:cNvSpPr>
            <a:spLocks xmlns:a="http://schemas.openxmlformats.org/drawingml/2006/main" noGrp="1"/>
          </p:cNvSpPr>
          <p:nvPr/>
        </p:nvSpPr>
        <p:spPr>
          <a:xfrm xmlns:a="http://schemas.openxmlformats.org/drawingml/2006/main">
            <a:off x="4657725" y="3028950"/>
            <a:ext cx="2876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10.000 promenljivih</a:t>
            </a:r>
          </a:p>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referentna instanca</a:t>
            </a:r>
          </a:p>
        </p:txBody>
      </p:sp>
      <p:sp>
        <p:nvSpPr>
          <p:cNvPr id="12" name="">
            <a:extLst xmlns:a="http://schemas.openxmlformats.org/drawingml/2006/main">
              <a:ext uri="{FF2B5EF4-FFF2-40B4-BE49-F238E27FC236}">
                <a16:creationId xmlns:a16="http://schemas.microsoft.com/office/drawing/2014/main" id="{F6D28DC5-4C6A-45EE-B956-95302CF001B2}"/>
              </a:ext>
            </a:extLst>
          </p:cNvPr>
          <p:cNvSpPr>
            <a:spLocks xmlns:a="http://schemas.openxmlformats.org/drawingml/2006/main" noGrp="1"/>
          </p:cNvSpPr>
          <p:nvPr/>
        </p:nvSpPr>
        <p:spPr>
          <a:xfrm xmlns:a="http://schemas.openxmlformats.org/drawingml/2006/main">
            <a:off x="8324850" y="2038350"/>
            <a:ext cx="3333750" cy="23812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23F42530-D9AE-4307-B872-512152E120BD}"/>
              </a:ext>
            </a:extLst>
          </p:cNvPr>
          <p:cNvSpPr>
            <a:spLocks xmlns:a="http://schemas.openxmlformats.org/drawingml/2006/main" noGrp="1"/>
          </p:cNvSpPr>
          <p:nvPr/>
        </p:nvSpPr>
        <p:spPr>
          <a:xfrm xmlns:a="http://schemas.openxmlformats.org/drawingml/2006/main">
            <a:off x="8553450" y="22669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23B63"/>
                </a:solidFill>
                <a:latin typeface="Arial"/>
                <a:ea typeface="Arial"/>
                <a:cs typeface="Arial"/>
              </a:defRPr>
            </a:pPr>
            <a:r>
              <a:rPr sz="3150" b="1">
                <a:solidFill>
                  <a:srgbClr val="123B63"/>
                </a:solidFill>
                <a:latin typeface="Arial"/>
                <a:ea typeface="Arial"/>
                <a:cs typeface="Arial"/>
              </a:rPr>
              <a:t>1000 × 1000</a:t>
            </a:r>
          </a:p>
        </p:txBody>
      </p:sp>
      <p:sp>
        <p:nvSpPr>
          <p:cNvPr id="14" name="">
            <a:extLst xmlns:a="http://schemas.openxmlformats.org/drawingml/2006/main">
              <a:ext uri="{FF2B5EF4-FFF2-40B4-BE49-F238E27FC236}">
                <a16:creationId xmlns:a16="http://schemas.microsoft.com/office/drawing/2014/main" id="{FECEC887-45F5-452B-9B8B-774F85FD8104}"/>
              </a:ext>
            </a:extLst>
          </p:cNvPr>
          <p:cNvSpPr>
            <a:spLocks xmlns:a="http://schemas.openxmlformats.org/drawingml/2006/main" noGrp="1"/>
          </p:cNvSpPr>
          <p:nvPr/>
        </p:nvSpPr>
        <p:spPr>
          <a:xfrm xmlns:a="http://schemas.openxmlformats.org/drawingml/2006/main">
            <a:off x="8553450" y="3028950"/>
            <a:ext cx="2876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1.000.000 promenljivih</a:t>
            </a:r>
          </a:p>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granica resursa</a:t>
            </a:r>
          </a:p>
        </p:txBody>
      </p:sp>
      <p:sp>
        <p:nvSpPr>
          <p:cNvPr id="15" name="">
            <a:extLst xmlns:a="http://schemas.openxmlformats.org/drawingml/2006/main">
              <a:ext uri="{FF2B5EF4-FFF2-40B4-BE49-F238E27FC236}">
                <a16:creationId xmlns:a16="http://schemas.microsoft.com/office/drawing/2014/main" id="{61DEE111-D8D7-49A3-98A0-6EFD954B7F0B}"/>
              </a:ext>
            </a:extLst>
          </p:cNvPr>
          <p:cNvSpPr>
            <a:spLocks xmlns:a="http://schemas.openxmlformats.org/drawingml/2006/main" noGrp="1"/>
          </p:cNvSpPr>
          <p:nvPr/>
        </p:nvSpPr>
        <p:spPr>
          <a:xfrm xmlns:a="http://schemas.openxmlformats.org/drawingml/2006/main">
            <a:off x="666750" y="4905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23B63"/>
                </a:solidFill>
                <a:latin typeface="Arial"/>
                <a:ea typeface="Arial"/>
                <a:cs typeface="Arial"/>
              </a:defRPr>
            </a:pPr>
            <a:r>
              <a:rPr sz="1425" b="1">
                <a:solidFill>
                  <a:srgbClr val="123B63"/>
                </a:solidFill>
                <a:latin typeface="Arial"/>
                <a:ea typeface="Arial"/>
                <a:cs typeface="Arial"/>
              </a:rPr>
              <a:t>HiGHS</a:t>
            </a:r>
          </a:p>
        </p:txBody>
      </p:sp>
      <p:sp>
        <p:nvSpPr>
          <p:cNvPr id="16" name="">
            <a:extLst xmlns:a="http://schemas.openxmlformats.org/drawingml/2006/main">
              <a:ext uri="{FF2B5EF4-FFF2-40B4-BE49-F238E27FC236}">
                <a16:creationId xmlns:a16="http://schemas.microsoft.com/office/drawing/2014/main" id="{AB501715-88FE-4D09-A709-990EE223DBAA}"/>
              </a:ext>
            </a:extLst>
          </p:cNvPr>
          <p:cNvSpPr>
            <a:spLocks xmlns:a="http://schemas.openxmlformats.org/drawingml/2006/main" noGrp="1"/>
          </p:cNvSpPr>
          <p:nvPr/>
        </p:nvSpPr>
        <p:spPr>
          <a:xfrm xmlns:a="http://schemas.openxmlformats.org/drawingml/2006/main">
            <a:off x="666750" y="52482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36273"/>
                </a:solidFill>
                <a:latin typeface="Arial"/>
                <a:ea typeface="Arial"/>
                <a:cs typeface="Arial"/>
              </a:defRPr>
            </a:pPr>
            <a:r>
              <a:rPr sz="1200" b="0">
                <a:solidFill>
                  <a:srgbClr val="536273"/>
                </a:solidFill>
                <a:latin typeface="Arial"/>
                <a:ea typeface="Arial"/>
                <a:cs typeface="Arial"/>
              </a:rPr>
              <a:t>referentni rezultat</a:t>
            </a:r>
          </a:p>
        </p:txBody>
      </p:sp>
      <p:sp>
        <p:nvSpPr>
          <p:cNvPr id="17" name="">
            <a:extLst xmlns:a="http://schemas.openxmlformats.org/drawingml/2006/main">
              <a:ext uri="{FF2B5EF4-FFF2-40B4-BE49-F238E27FC236}">
                <a16:creationId xmlns:a16="http://schemas.microsoft.com/office/drawing/2014/main" id="{41C8FFA6-D31C-4A4C-955A-DAD655AC4DAC}"/>
              </a:ext>
            </a:extLst>
          </p:cNvPr>
          <p:cNvSpPr>
            <a:spLocks xmlns:a="http://schemas.openxmlformats.org/drawingml/2006/main" noGrp="1"/>
          </p:cNvSpPr>
          <p:nvPr/>
        </p:nvSpPr>
        <p:spPr>
          <a:xfrm xmlns:a="http://schemas.openxmlformats.org/drawingml/2006/main">
            <a:off x="3524250" y="4905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23B63"/>
                </a:solidFill>
                <a:latin typeface="Arial"/>
                <a:ea typeface="Arial"/>
                <a:cs typeface="Arial"/>
              </a:defRPr>
            </a:pPr>
            <a:r>
              <a:rPr sz="1425" b="1">
                <a:solidFill>
                  <a:srgbClr val="123B63"/>
                </a:solidFill>
                <a:latin typeface="Arial"/>
                <a:ea typeface="Arial"/>
                <a:cs typeface="Arial"/>
              </a:rPr>
              <a:t>Slučajna pretraga</a:t>
            </a:r>
          </a:p>
        </p:txBody>
      </p:sp>
      <p:sp>
        <p:nvSpPr>
          <p:cNvPr id="18" name="">
            <a:extLst xmlns:a="http://schemas.openxmlformats.org/drawingml/2006/main">
              <a:ext uri="{FF2B5EF4-FFF2-40B4-BE49-F238E27FC236}">
                <a16:creationId xmlns:a16="http://schemas.microsoft.com/office/drawing/2014/main" id="{AE3A1996-92D4-43DB-8CEC-6DC600104CEA}"/>
              </a:ext>
            </a:extLst>
          </p:cNvPr>
          <p:cNvSpPr>
            <a:spLocks xmlns:a="http://schemas.openxmlformats.org/drawingml/2006/main" noGrp="1"/>
          </p:cNvSpPr>
          <p:nvPr/>
        </p:nvSpPr>
        <p:spPr>
          <a:xfrm xmlns:a="http://schemas.openxmlformats.org/drawingml/2006/main">
            <a:off x="3524250" y="52482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36273"/>
                </a:solidFill>
                <a:latin typeface="Arial"/>
                <a:ea typeface="Arial"/>
                <a:cs typeface="Arial"/>
              </a:defRPr>
            </a:pPr>
            <a:r>
              <a:rPr sz="1200" b="0">
                <a:solidFill>
                  <a:srgbClr val="536273"/>
                </a:solidFill>
                <a:latin typeface="Arial"/>
                <a:ea typeface="Arial"/>
                <a:cs typeface="Arial"/>
              </a:rPr>
              <a:t>kontrolna metoda</a:t>
            </a:r>
          </a:p>
        </p:txBody>
      </p:sp>
      <p:sp>
        <p:nvSpPr>
          <p:cNvPr id="19" name="">
            <a:extLst xmlns:a="http://schemas.openxmlformats.org/drawingml/2006/main">
              <a:ext uri="{FF2B5EF4-FFF2-40B4-BE49-F238E27FC236}">
                <a16:creationId xmlns:a16="http://schemas.microsoft.com/office/drawing/2014/main" id="{A10D80B6-7FBB-4784-AC30-C0EBB2700D45}"/>
              </a:ext>
            </a:extLst>
          </p:cNvPr>
          <p:cNvSpPr>
            <a:spLocks xmlns:a="http://schemas.openxmlformats.org/drawingml/2006/main" noGrp="1"/>
          </p:cNvSpPr>
          <p:nvPr/>
        </p:nvSpPr>
        <p:spPr>
          <a:xfrm xmlns:a="http://schemas.openxmlformats.org/drawingml/2006/main">
            <a:off x="6381750" y="4905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23B63"/>
                </a:solidFill>
                <a:latin typeface="Arial"/>
                <a:ea typeface="Arial"/>
                <a:cs typeface="Arial"/>
              </a:defRPr>
            </a:pPr>
            <a:r>
              <a:rPr sz="1425" b="1">
                <a:solidFill>
                  <a:srgbClr val="123B63"/>
                </a:solidFill>
                <a:latin typeface="Arial"/>
                <a:ea typeface="Arial"/>
                <a:cs typeface="Arial"/>
              </a:rPr>
              <a:t>Više pokretanja</a:t>
            </a:r>
          </a:p>
        </p:txBody>
      </p:sp>
      <p:sp>
        <p:nvSpPr>
          <p:cNvPr id="20" name="">
            <a:extLst xmlns:a="http://schemas.openxmlformats.org/drawingml/2006/main">
              <a:ext uri="{FF2B5EF4-FFF2-40B4-BE49-F238E27FC236}">
                <a16:creationId xmlns:a16="http://schemas.microsoft.com/office/drawing/2014/main" id="{9C3DB3F0-427E-4117-BFB9-F5CBDECAC855}"/>
              </a:ext>
            </a:extLst>
          </p:cNvPr>
          <p:cNvSpPr>
            <a:spLocks xmlns:a="http://schemas.openxmlformats.org/drawingml/2006/main" noGrp="1"/>
          </p:cNvSpPr>
          <p:nvPr/>
        </p:nvSpPr>
        <p:spPr>
          <a:xfrm xmlns:a="http://schemas.openxmlformats.org/drawingml/2006/main">
            <a:off x="6381750" y="52482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36273"/>
                </a:solidFill>
                <a:latin typeface="Arial"/>
                <a:ea typeface="Arial"/>
                <a:cs typeface="Arial"/>
              </a:defRPr>
            </a:pPr>
            <a:r>
              <a:rPr sz="1200" b="0">
                <a:solidFill>
                  <a:srgbClr val="536273"/>
                </a:solidFill>
                <a:latin typeface="Arial"/>
                <a:ea typeface="Arial"/>
                <a:cs typeface="Arial"/>
              </a:rPr>
              <a:t>stabilnost rezultata</a:t>
            </a:r>
          </a:p>
        </p:txBody>
      </p:sp>
      <p:sp>
        <p:nvSpPr>
          <p:cNvPr id="21" name="">
            <a:extLst xmlns:a="http://schemas.openxmlformats.org/drawingml/2006/main">
              <a:ext uri="{FF2B5EF4-FFF2-40B4-BE49-F238E27FC236}">
                <a16:creationId xmlns:a16="http://schemas.microsoft.com/office/drawing/2014/main" id="{6B70B27F-9034-49EA-854F-43EB26B12B6B}"/>
              </a:ext>
            </a:extLst>
          </p:cNvPr>
          <p:cNvSpPr>
            <a:spLocks xmlns:a="http://schemas.openxmlformats.org/drawingml/2006/main" noGrp="1"/>
          </p:cNvSpPr>
          <p:nvPr/>
        </p:nvSpPr>
        <p:spPr>
          <a:xfrm xmlns:a="http://schemas.openxmlformats.org/drawingml/2006/main">
            <a:off x="9239250" y="49053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23B63"/>
                </a:solidFill>
                <a:latin typeface="Arial"/>
                <a:ea typeface="Arial"/>
                <a:cs typeface="Arial"/>
              </a:defRPr>
            </a:pPr>
            <a:r>
              <a:rPr sz="1425" b="1">
                <a:solidFill>
                  <a:srgbClr val="123B63"/>
                </a:solidFill>
                <a:latin typeface="Arial"/>
                <a:ea typeface="Arial"/>
                <a:cs typeface="Arial"/>
              </a:rPr>
              <a:t>Isti hardver</a:t>
            </a:r>
          </a:p>
        </p:txBody>
      </p:sp>
      <p:sp>
        <p:nvSpPr>
          <p:cNvPr id="22" name="">
            <a:extLst xmlns:a="http://schemas.openxmlformats.org/drawingml/2006/main">
              <a:ext uri="{FF2B5EF4-FFF2-40B4-BE49-F238E27FC236}">
                <a16:creationId xmlns:a16="http://schemas.microsoft.com/office/drawing/2014/main" id="{84171E27-A286-4BBF-970A-C0E8930906ED}"/>
              </a:ext>
            </a:extLst>
          </p:cNvPr>
          <p:cNvSpPr>
            <a:spLocks xmlns:a="http://schemas.openxmlformats.org/drawingml/2006/main" noGrp="1"/>
          </p:cNvSpPr>
          <p:nvPr/>
        </p:nvSpPr>
        <p:spPr>
          <a:xfrm xmlns:a="http://schemas.openxmlformats.org/drawingml/2006/main">
            <a:off x="9239250" y="52482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536273"/>
                </a:solidFill>
                <a:latin typeface="Arial"/>
                <a:ea typeface="Arial"/>
                <a:cs typeface="Arial"/>
              </a:defRPr>
            </a:pPr>
            <a:r>
              <a:rPr sz="1200" b="0">
                <a:solidFill>
                  <a:srgbClr val="536273"/>
                </a:solidFill>
                <a:latin typeface="Arial"/>
                <a:ea typeface="Arial"/>
                <a:cs typeface="Arial"/>
              </a:rPr>
              <a:t>M1 Pro · 16 GB RAM</a:t>
            </a:r>
          </a:p>
        </p:txBody>
      </p:sp>
      <p:sp>
        <p:nvSpPr>
          <p:cNvPr id="23" name="">
            <a:extLst xmlns:a="http://schemas.openxmlformats.org/drawingml/2006/main">
              <a:ext uri="{FF2B5EF4-FFF2-40B4-BE49-F238E27FC236}">
                <a16:creationId xmlns:a16="http://schemas.microsoft.com/office/drawing/2014/main" id="{B37C2323-A9DA-4E3E-9F58-79B30C250275}"/>
              </a:ext>
            </a:extLst>
          </p:cNvPr>
          <p:cNvSpPr>
            <a:spLocks xmlns:a="http://schemas.openxmlformats.org/drawingml/2006/main" noGrp="1"/>
          </p:cNvSpPr>
          <p:nvPr/>
        </p:nvSpPr>
        <p:spPr>
          <a:xfrm xmlns:a="http://schemas.openxmlformats.org/drawingml/2006/main">
            <a:off x="533400" y="5734050"/>
            <a:ext cx="11125200" cy="342900"/>
          </a:xfrm>
          <a:prstGeom xmlns:a="http://schemas.openxmlformats.org/drawingml/2006/main" prst="rect">
            <a:avLst/>
          </a:prstGeom>
          <a:solidFill xmlns:a="http://schemas.openxmlformats.org/drawingml/2006/main">
            <a:srgbClr val="EAF3F9"/>
          </a:solidFill>
          <a:ln xmlns:a="http://schemas.openxmlformats.org/drawingml/2006/main" w="9525">
            <a:solidFill>
              <a:srgbClr val="EAF3F9"/>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3CAD6B92-C8B6-40D3-B65C-AF02301CF4EF}"/>
              </a:ext>
            </a:extLst>
          </p:cNvPr>
          <p:cNvSpPr>
            <a:spLocks xmlns:a="http://schemas.openxmlformats.org/drawingml/2006/main" noGrp="1"/>
          </p:cNvSpPr>
          <p:nvPr/>
        </p:nvSpPr>
        <p:spPr>
          <a:xfrm xmlns:a="http://schemas.openxmlformats.org/drawingml/2006/main">
            <a:off x="723900" y="581025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123B63"/>
                </a:solidFill>
                <a:latin typeface="Arial"/>
                <a:ea typeface="Arial"/>
                <a:cs typeface="Arial"/>
              </a:defRPr>
            </a:pPr>
            <a:r>
              <a:rPr sz="1200" b="1">
                <a:solidFill>
                  <a:srgbClr val="123B63"/>
                </a:solidFill>
                <a:latin typeface="Arial"/>
                <a:ea typeface="Arial"/>
                <a:cs typeface="Arial"/>
              </a:rPr>
              <a:t>Online provera: NEOS + Gurobi rešili su 10×10 i 100×100; problem sa 1.000.000 promenljivih nije mogao da se reši tim putem.</a:t>
            </a:r>
          </a:p>
        </p:txBody>
      </p:sp>
    </p:spTree>
    <p:extLst>
      <p:ext uri="{BB962C8B-B14F-4D97-AF65-F5344CB8AC3E}">
        <p14:creationId xmlns:p14="http://schemas.microsoft.com/office/powerpoint/2010/main" val="10621711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6-title">
            <a:extLst xmlns:a="http://schemas.openxmlformats.org/drawingml/2006/main">
              <a:ext uri="{FF2B5EF4-FFF2-40B4-BE49-F238E27FC236}">
                <a16:creationId xmlns:a16="http://schemas.microsoft.com/office/drawing/2014/main" id="{4BE21A62-2B41-40BC-9F97-F8BFD8FB9826}"/>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GA dostiže 97–99% optimuma, ali HiGHS ostaje najefikasniji</a:t>
            </a:r>
          </a:p>
        </p:txBody>
      </p:sp>
      <p:cxnSp>
        <p:nvCxnSpPr>
          <p:cNvPr id="32" name="slide-6-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6-number">
            <a:extLst xmlns:a="http://schemas.openxmlformats.org/drawingml/2006/main">
              <a:ext uri="{FF2B5EF4-FFF2-40B4-BE49-F238E27FC236}">
                <a16:creationId xmlns:a16="http://schemas.microsoft.com/office/drawing/2014/main" id="{E0953594-67FA-4FBA-AF75-17189761A782}"/>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6/12</a:t>
            </a:r>
          </a:p>
        </p:txBody>
      </p:sp>
      <p:sp>
        <p:nvSpPr>
          <p:cNvPr id="4" name="slide-6-footer">
            <a:extLst xmlns:a="http://schemas.openxmlformats.org/drawingml/2006/main">
              <a:ext uri="{FF2B5EF4-FFF2-40B4-BE49-F238E27FC236}">
                <a16:creationId xmlns:a16="http://schemas.microsoft.com/office/drawing/2014/main" id="{03AAB534-58C0-4A98-9122-0B3F7A9CCE0C}"/>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FDF10B23-641F-4A1B-917D-DB79DBF2B5C0}"/>
              </a:ext>
            </a:extLst>
          </p:cNvPr>
          <p:cNvSpPr>
            <a:spLocks xmlns:a="http://schemas.openxmlformats.org/drawingml/2006/main" noGrp="1"/>
          </p:cNvSpPr>
          <p:nvPr/>
        </p:nvSpPr>
        <p:spPr>
          <a:xfrm xmlns:a="http://schemas.openxmlformats.org/drawingml/2006/main">
            <a:off x="533400" y="13335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536273"/>
                </a:solidFill>
                <a:latin typeface="Arial"/>
                <a:ea typeface="Arial"/>
                <a:cs typeface="Arial"/>
              </a:defRPr>
            </a:pPr>
            <a:r>
              <a:rPr sz="1050" b="1">
                <a:solidFill>
                  <a:srgbClr val="536273"/>
                </a:solidFill>
                <a:latin typeface="Arial"/>
                <a:ea typeface="Arial"/>
                <a:cs typeface="Arial"/>
              </a:rPr>
              <a:t>Kvalitet rešenja (% optimuma)</a:t>
            </a:r>
          </a:p>
        </p:txBody>
      </p:sp>
      <p:graphicFrame>
        <p:nvGraphicFramePr>
          <p:cNvPr id="36" name="Chart"/>
          <p:cNvGraphicFramePr/>
          <p:nvPr/>
        </p:nvGraphicFramePr>
        <p:xfrm>
          <a:off xmlns:a="http://schemas.openxmlformats.org/drawingml/2006/main" x="533400" y="1562100"/>
          <a:ext xmlns:a="http://schemas.openxmlformats.org/drawingml/2006/main" cx="7239000" cy="4324350"/>
        </p:xfrm>
        <a:graphic xmlns:a="http://schemas.openxmlformats.org/drawingml/2006/main">
          <a:graphicData uri="http://schemas.openxmlformats.org/drawingml/2006/chart">
            <c:chart xmlns:r="http://schemas.openxmlformats.org/officeDocument/2006/relationships" xmlns:c="http://schemas.openxmlformats.org/drawingml/2006/chart" r:id="R73a8dff73ee64ca3"/>
          </a:graphicData>
        </a:graphic>
      </p:graphicFrame>
      <p:sp>
        <p:nvSpPr>
          <p:cNvPr id="7" name="">
            <a:extLst xmlns:a="http://schemas.openxmlformats.org/drawingml/2006/main">
              <a:ext uri="{FF2B5EF4-FFF2-40B4-BE49-F238E27FC236}">
                <a16:creationId xmlns:a16="http://schemas.microsoft.com/office/drawing/2014/main" id="{02ADD5C5-5992-4729-BA76-7CF30645FCB0}"/>
              </a:ext>
            </a:extLst>
          </p:cNvPr>
          <p:cNvSpPr>
            <a:spLocks xmlns:a="http://schemas.openxmlformats.org/drawingml/2006/main" noGrp="1"/>
          </p:cNvSpPr>
          <p:nvPr/>
        </p:nvSpPr>
        <p:spPr>
          <a:xfrm xmlns:a="http://schemas.openxmlformats.org/drawingml/2006/main">
            <a:off x="8153400" y="1562100"/>
            <a:ext cx="3505200" cy="12192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223C4E3B-0DA3-4B50-8B8E-2970AE37FD18}"/>
              </a:ext>
            </a:extLst>
          </p:cNvPr>
          <p:cNvSpPr>
            <a:spLocks xmlns:a="http://schemas.openxmlformats.org/drawingml/2006/main" noGrp="1"/>
          </p:cNvSpPr>
          <p:nvPr/>
        </p:nvSpPr>
        <p:spPr>
          <a:xfrm xmlns:a="http://schemas.openxmlformats.org/drawingml/2006/main">
            <a:off x="8420100" y="17907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23B63"/>
                </a:solidFill>
                <a:latin typeface="Arial"/>
                <a:ea typeface="Arial"/>
                <a:cs typeface="Arial"/>
              </a:defRPr>
            </a:pPr>
            <a:r>
              <a:rPr sz="1425" b="1">
                <a:solidFill>
                  <a:srgbClr val="123B63"/>
                </a:solidFill>
                <a:latin typeface="Arial"/>
                <a:ea typeface="Arial"/>
                <a:cs typeface="Arial"/>
              </a:rPr>
              <a:t>HiGHS vreme</a:t>
            </a:r>
          </a:p>
        </p:txBody>
      </p:sp>
      <p:sp>
        <p:nvSpPr>
          <p:cNvPr id="9" name="">
            <a:extLst xmlns:a="http://schemas.openxmlformats.org/drawingml/2006/main">
              <a:ext uri="{FF2B5EF4-FFF2-40B4-BE49-F238E27FC236}">
                <a16:creationId xmlns:a16="http://schemas.microsoft.com/office/drawing/2014/main" id="{DDB5DE24-E403-40EC-A07F-A3A7F67BC6D6}"/>
              </a:ext>
            </a:extLst>
          </p:cNvPr>
          <p:cNvSpPr>
            <a:spLocks xmlns:a="http://schemas.openxmlformats.org/drawingml/2006/main" noGrp="1"/>
          </p:cNvSpPr>
          <p:nvPr/>
        </p:nvSpPr>
        <p:spPr>
          <a:xfrm xmlns:a="http://schemas.openxmlformats.org/drawingml/2006/main">
            <a:off x="8420100" y="2105025"/>
            <a:ext cx="2971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656"/>
          </a:bodyPr>
          <a:lstStyle xmlns:a="http://schemas.openxmlformats.org/drawingml/2006/main"/>
          <a:p xmlns:a="http://schemas.openxmlformats.org/drawingml/2006/main">
            <a:pPr algn="l">
              <a:buNone/>
              <a:defRPr sz="1575" b="1">
                <a:solidFill>
                  <a:srgbClr val="111827"/>
                </a:solidFill>
                <a:latin typeface="Arial"/>
                <a:ea typeface="Arial"/>
                <a:cs typeface="Arial"/>
              </a:defRPr>
            </a:pPr>
            <a:r>
              <a:rPr sz="1575" b="1">
                <a:solidFill>
                  <a:srgbClr val="111827"/>
                </a:solidFill>
                <a:latin typeface="Arial"/>
                <a:ea typeface="Arial"/>
                <a:cs typeface="Arial"/>
              </a:rPr>
              <a:t>10×10  &lt;1 s
100×100  7,7 s
1000×1000  185 s</a:t>
            </a:r>
          </a:p>
        </p:txBody>
      </p:sp>
      <p:sp>
        <p:nvSpPr>
          <p:cNvPr id="10" name="">
            <a:extLst xmlns:a="http://schemas.openxmlformats.org/drawingml/2006/main">
              <a:ext uri="{FF2B5EF4-FFF2-40B4-BE49-F238E27FC236}">
                <a16:creationId xmlns:a16="http://schemas.microsoft.com/office/drawing/2014/main" id="{B0997F7F-CE57-4328-B4F2-5CB2F6DABF67}"/>
              </a:ext>
            </a:extLst>
          </p:cNvPr>
          <p:cNvSpPr>
            <a:spLocks xmlns:a="http://schemas.openxmlformats.org/drawingml/2006/main" noGrp="1"/>
          </p:cNvSpPr>
          <p:nvPr/>
        </p:nvSpPr>
        <p:spPr>
          <a:xfrm xmlns:a="http://schemas.openxmlformats.org/drawingml/2006/main">
            <a:off x="8153400" y="3009900"/>
            <a:ext cx="3505200" cy="12192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8CBB47A-E6DD-4508-9C68-B4E10917E096}"/>
              </a:ext>
            </a:extLst>
          </p:cNvPr>
          <p:cNvSpPr>
            <a:spLocks xmlns:a="http://schemas.openxmlformats.org/drawingml/2006/main" noGrp="1"/>
          </p:cNvSpPr>
          <p:nvPr/>
        </p:nvSpPr>
        <p:spPr>
          <a:xfrm xmlns:a="http://schemas.openxmlformats.org/drawingml/2006/main">
            <a:off x="8420100" y="3238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23B63"/>
                </a:solidFill>
                <a:latin typeface="Arial"/>
                <a:ea typeface="Arial"/>
                <a:cs typeface="Arial"/>
              </a:defRPr>
            </a:pPr>
            <a:r>
              <a:rPr sz="1425" b="1">
                <a:solidFill>
                  <a:srgbClr val="123B63"/>
                </a:solidFill>
                <a:latin typeface="Arial"/>
                <a:ea typeface="Arial"/>
                <a:cs typeface="Arial"/>
              </a:rPr>
              <a:t>GA vreme</a:t>
            </a:r>
          </a:p>
        </p:txBody>
      </p:sp>
      <p:sp>
        <p:nvSpPr>
          <p:cNvPr id="12" name="">
            <a:extLst xmlns:a="http://schemas.openxmlformats.org/drawingml/2006/main">
              <a:ext uri="{FF2B5EF4-FFF2-40B4-BE49-F238E27FC236}">
                <a16:creationId xmlns:a16="http://schemas.microsoft.com/office/drawing/2014/main" id="{34551533-90FA-4069-BF21-8568182A2780}"/>
              </a:ext>
            </a:extLst>
          </p:cNvPr>
          <p:cNvSpPr>
            <a:spLocks xmlns:a="http://schemas.openxmlformats.org/drawingml/2006/main" noGrp="1"/>
          </p:cNvSpPr>
          <p:nvPr/>
        </p:nvSpPr>
        <p:spPr>
          <a:xfrm xmlns:a="http://schemas.openxmlformats.org/drawingml/2006/main">
            <a:off x="8420100" y="3552825"/>
            <a:ext cx="2971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889"/>
          </a:bodyPr>
          <a:lstStyle xmlns:a="http://schemas.openxmlformats.org/drawingml/2006/main"/>
          <a:p xmlns:a="http://schemas.openxmlformats.org/drawingml/2006/main">
            <a:pPr algn="l">
              <a:buNone/>
              <a:defRPr sz="1500" b="1">
                <a:solidFill>
                  <a:srgbClr val="111827"/>
                </a:solidFill>
                <a:latin typeface="Arial"/>
                <a:ea typeface="Arial"/>
                <a:cs typeface="Arial"/>
              </a:defRPr>
            </a:pPr>
            <a:r>
              <a:rPr sz="1500" b="1">
                <a:solidFill>
                  <a:srgbClr val="111827"/>
                </a:solidFill>
                <a:latin typeface="Arial"/>
                <a:ea typeface="Arial"/>
                <a:cs typeface="Arial"/>
              </a:rPr>
              <a:t>10×10  &lt;1 s
100×100  do 30 min
1000×1000  do 4,3 h</a:t>
            </a:r>
          </a:p>
        </p:txBody>
      </p:sp>
      <p:sp>
        <p:nvSpPr>
          <p:cNvPr id="13" name="">
            <a:extLst xmlns:a="http://schemas.openxmlformats.org/drawingml/2006/main">
              <a:ext uri="{FF2B5EF4-FFF2-40B4-BE49-F238E27FC236}">
                <a16:creationId xmlns:a16="http://schemas.microsoft.com/office/drawing/2014/main" id="{CA78554B-82DF-410E-AFBB-882D62FCF465}"/>
              </a:ext>
            </a:extLst>
          </p:cNvPr>
          <p:cNvSpPr>
            <a:spLocks xmlns:a="http://schemas.openxmlformats.org/drawingml/2006/main" noGrp="1"/>
          </p:cNvSpPr>
          <p:nvPr/>
        </p:nvSpPr>
        <p:spPr>
          <a:xfrm xmlns:a="http://schemas.openxmlformats.org/drawingml/2006/main">
            <a:off x="8153400" y="4457700"/>
            <a:ext cx="3505200" cy="1428750"/>
          </a:xfrm>
          <a:prstGeom xmlns:a="http://schemas.openxmlformats.org/drawingml/2006/main" prst="rect">
            <a:avLst/>
          </a:prstGeom>
          <a:solidFill xmlns:a="http://schemas.openxmlformats.org/drawingml/2006/main">
            <a:srgbClr val="123B63"/>
          </a:solidFill>
          <a:ln xmlns:a="http://schemas.openxmlformats.org/drawingml/2006/main" w="9525">
            <a:solidFill>
              <a:srgbClr val="123B63"/>
            </a:solid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194A0B0F-81AE-4268-9E2F-784E2F5F2A4B}"/>
              </a:ext>
            </a:extLst>
          </p:cNvPr>
          <p:cNvSpPr>
            <a:spLocks xmlns:a="http://schemas.openxmlformats.org/drawingml/2006/main" noGrp="1"/>
          </p:cNvSpPr>
          <p:nvPr/>
        </p:nvSpPr>
        <p:spPr>
          <a:xfrm xmlns:a="http://schemas.openxmlformats.org/drawingml/2006/main">
            <a:off x="8420100" y="46863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3B9E6"/>
                </a:solidFill>
                <a:latin typeface="Arial"/>
                <a:ea typeface="Arial"/>
                <a:cs typeface="Arial"/>
              </a:defRPr>
            </a:pPr>
            <a:r>
              <a:rPr sz="1350" b="1">
                <a:solidFill>
                  <a:srgbClr val="73B9E6"/>
                </a:solidFill>
                <a:latin typeface="Arial"/>
                <a:ea typeface="Arial"/>
                <a:cs typeface="Arial"/>
              </a:rPr>
              <a:t>Zaključak</a:t>
            </a:r>
          </a:p>
        </p:txBody>
      </p:sp>
      <p:sp>
        <p:nvSpPr>
          <p:cNvPr id="15" name="">
            <a:extLst xmlns:a="http://schemas.openxmlformats.org/drawingml/2006/main">
              <a:ext uri="{FF2B5EF4-FFF2-40B4-BE49-F238E27FC236}">
                <a16:creationId xmlns:a16="http://schemas.microsoft.com/office/drawing/2014/main" id="{1B9FD503-7E49-49B3-88F3-6B51C7008A12}"/>
              </a:ext>
            </a:extLst>
          </p:cNvPr>
          <p:cNvSpPr>
            <a:spLocks xmlns:a="http://schemas.openxmlformats.org/drawingml/2006/main" noGrp="1"/>
          </p:cNvSpPr>
          <p:nvPr/>
        </p:nvSpPr>
        <p:spPr>
          <a:xfrm xmlns:a="http://schemas.openxmlformats.org/drawingml/2006/main">
            <a:off x="8420100" y="507682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64"/>
          </a:bodyPr>
          <a:lstStyle xmlns:a="http://schemas.openxmlformats.org/drawingml/2006/main"/>
          <a:p xmlns:a="http://schemas.openxmlformats.org/drawingml/2006/main">
            <a:pPr algn="l">
              <a:buNone/>
              <a:defRPr sz="1575" b="1">
                <a:solidFill>
                  <a:srgbClr val="FFFFFF"/>
                </a:solidFill>
                <a:latin typeface="Arial"/>
                <a:ea typeface="Arial"/>
                <a:cs typeface="Arial"/>
              </a:defRPr>
            </a:pPr>
            <a:r>
              <a:rPr sz="1575" b="1">
                <a:solidFill>
                  <a:srgbClr val="FFFFFF"/>
                </a:solidFill>
                <a:latin typeface="Arial"/>
                <a:ea typeface="Arial"/>
                <a:cs typeface="Arial"/>
              </a:rPr>
              <a:t>Na ispitanim linearnim instancama HiGHS je i bolji i brži.</a:t>
            </a:r>
          </a:p>
        </p:txBody>
      </p:sp>
    </p:spTree>
    <p:extLst>
      <p:ext uri="{BB962C8B-B14F-4D97-AF65-F5344CB8AC3E}">
        <p14:creationId xmlns:p14="http://schemas.microsoft.com/office/powerpoint/2010/main" val="15898161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7-title">
            <a:extLst xmlns:a="http://schemas.openxmlformats.org/drawingml/2006/main">
              <a:ext uri="{FF2B5EF4-FFF2-40B4-BE49-F238E27FC236}">
                <a16:creationId xmlns:a16="http://schemas.microsoft.com/office/drawing/2014/main" id="{B3DFE990-66C3-44EE-A827-02D91803C77C}"/>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678"/>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Evolutivni operatori donose veliki dobitak u odnosu na slučajnu pretragu</a:t>
            </a:r>
          </a:p>
        </p:txBody>
      </p:sp>
      <p:cxnSp>
        <p:nvCxnSpPr>
          <p:cNvPr id="28" name="slide-7-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7-number">
            <a:extLst xmlns:a="http://schemas.openxmlformats.org/drawingml/2006/main">
              <a:ext uri="{FF2B5EF4-FFF2-40B4-BE49-F238E27FC236}">
                <a16:creationId xmlns:a16="http://schemas.microsoft.com/office/drawing/2014/main" id="{C8125DE6-2224-4A48-8E82-3789D42CEEB8}"/>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7/12</a:t>
            </a:r>
          </a:p>
        </p:txBody>
      </p:sp>
      <p:sp>
        <p:nvSpPr>
          <p:cNvPr id="4" name="slide-7-footer">
            <a:extLst xmlns:a="http://schemas.openxmlformats.org/drawingml/2006/main">
              <a:ext uri="{FF2B5EF4-FFF2-40B4-BE49-F238E27FC236}">
                <a16:creationId xmlns:a16="http://schemas.microsoft.com/office/drawing/2014/main" id="{6AC1280E-ABC7-49E0-A851-34D19743FEAE}"/>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graphicFrame>
        <p:nvGraphicFramePr>
          <p:cNvPr id="31" name="Chart"/>
          <p:cNvGraphicFramePr/>
          <p:nvPr/>
        </p:nvGraphicFramePr>
        <p:xfrm>
          <a:off xmlns:a="http://schemas.openxmlformats.org/drawingml/2006/main" x="533400" y="1562100"/>
          <a:ext xmlns:a="http://schemas.openxmlformats.org/drawingml/2006/main" cx="7239000" cy="4324350"/>
        </p:xfrm>
        <a:graphic xmlns:a="http://schemas.openxmlformats.org/drawingml/2006/main">
          <a:graphicData uri="http://schemas.openxmlformats.org/drawingml/2006/chart">
            <c:chart xmlns:r="http://schemas.openxmlformats.org/officeDocument/2006/relationships" xmlns:c="http://schemas.openxmlformats.org/drawingml/2006/chart" r:id="Ra2262971577e401f"/>
          </a:graphicData>
        </a:graphic>
      </p:graphicFrame>
      <p:sp>
        <p:nvSpPr>
          <p:cNvPr id="6" name="">
            <a:extLst xmlns:a="http://schemas.openxmlformats.org/drawingml/2006/main">
              <a:ext uri="{FF2B5EF4-FFF2-40B4-BE49-F238E27FC236}">
                <a16:creationId xmlns:a16="http://schemas.microsoft.com/office/drawing/2014/main" id="{0A6179E7-49E2-4ADF-826F-A5B665521F00}"/>
              </a:ext>
            </a:extLst>
          </p:cNvPr>
          <p:cNvSpPr>
            <a:spLocks xmlns:a="http://schemas.openxmlformats.org/drawingml/2006/main" noGrp="1"/>
          </p:cNvSpPr>
          <p:nvPr/>
        </p:nvSpPr>
        <p:spPr>
          <a:xfrm xmlns:a="http://schemas.openxmlformats.org/drawingml/2006/main">
            <a:off x="8153400" y="1562100"/>
            <a:ext cx="3505200" cy="1581150"/>
          </a:xfrm>
          <a:prstGeom xmlns:a="http://schemas.openxmlformats.org/drawingml/2006/main" prst="rect">
            <a:avLst/>
          </a:prstGeom>
          <a:solidFill xmlns:a="http://schemas.openxmlformats.org/drawingml/2006/main">
            <a:srgbClr val="EAF3F9"/>
          </a:solidFill>
          <a:ln xmlns:a="http://schemas.openxmlformats.org/drawingml/2006/main" w="9525">
            <a:solidFill>
              <a:srgbClr val="EAF3F9"/>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0F98967-0FA5-4FC4-913F-EFB2273B24AC}"/>
              </a:ext>
            </a:extLst>
          </p:cNvPr>
          <p:cNvSpPr>
            <a:spLocks xmlns:a="http://schemas.openxmlformats.org/drawingml/2006/main" noGrp="1"/>
          </p:cNvSpPr>
          <p:nvPr/>
        </p:nvSpPr>
        <p:spPr>
          <a:xfrm xmlns:a="http://schemas.openxmlformats.org/drawingml/2006/main">
            <a:off x="8382000" y="1704975"/>
            <a:ext cx="3048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0">
                <a:solidFill>
                  <a:srgbClr val="111827"/>
                </a:solidFill>
                <a:latin typeface="Arial"/>
                <a:ea typeface="Arial"/>
                <a:cs typeface="Arial"/>
              </a:defRPr>
            </a:pPr>
            <a:r>
              <a:rPr sz="1200" b="0">
                <a:solidFill>
                  <a:srgbClr val="111827"/>
                </a:solidFill>
                <a:latin typeface="Arial"/>
                <a:ea typeface="Arial"/>
                <a:cs typeface="Arial"/>
              </a:rPr>
              <a:t>Velika razlika nije posledica broja evaluacija. Najverovatnije, inicijalizacija i popravka na ovoj instanci često vode do slabijih rešenja, dok GA selekcijom i evolutivnim operatorima usmerava pretragu ka kvalitetnijim raspodelama.</a:t>
            </a:r>
          </a:p>
        </p:txBody>
      </p:sp>
      <p:sp>
        <p:nvSpPr>
          <p:cNvPr id="8" name="">
            <a:extLst xmlns:a="http://schemas.openxmlformats.org/drawingml/2006/main">
              <a:ext uri="{FF2B5EF4-FFF2-40B4-BE49-F238E27FC236}">
                <a16:creationId xmlns:a16="http://schemas.microsoft.com/office/drawing/2014/main" id="{BD3A86EC-8E8E-418E-A1A6-F2D9D89D06FF}"/>
              </a:ext>
            </a:extLst>
          </p:cNvPr>
          <p:cNvSpPr>
            <a:spLocks xmlns:a="http://schemas.openxmlformats.org/drawingml/2006/main" noGrp="1"/>
          </p:cNvSpPr>
          <p:nvPr/>
        </p:nvSpPr>
        <p:spPr>
          <a:xfrm xmlns:a="http://schemas.openxmlformats.org/drawingml/2006/main">
            <a:off x="8153400" y="3276600"/>
            <a:ext cx="3505200" cy="26098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868B4C9-00C3-490A-92F9-4377B58845F9}"/>
              </a:ext>
            </a:extLst>
          </p:cNvPr>
          <p:cNvSpPr>
            <a:spLocks xmlns:a="http://schemas.openxmlformats.org/drawingml/2006/main" noGrp="1"/>
          </p:cNvSpPr>
          <p:nvPr/>
        </p:nvSpPr>
        <p:spPr>
          <a:xfrm xmlns:a="http://schemas.openxmlformats.org/drawingml/2006/main">
            <a:off x="8382000" y="35242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2E7D5B"/>
                </a:solidFill>
                <a:latin typeface="Arial"/>
                <a:ea typeface="Arial"/>
                <a:cs typeface="Arial"/>
              </a:defRPr>
            </a:pPr>
            <a:r>
              <a:rPr sz="1575" b="1">
                <a:solidFill>
                  <a:srgbClr val="2E7D5B"/>
                </a:solidFill>
                <a:latin typeface="Arial"/>
                <a:ea typeface="Arial"/>
                <a:cs typeface="Arial"/>
              </a:rPr>
              <a:t>Ista početna procedura</a:t>
            </a:r>
          </a:p>
        </p:txBody>
      </p:sp>
      <p:sp>
        <p:nvSpPr>
          <p:cNvPr id="10" name="">
            <a:extLst xmlns:a="http://schemas.openxmlformats.org/drawingml/2006/main">
              <a:ext uri="{FF2B5EF4-FFF2-40B4-BE49-F238E27FC236}">
                <a16:creationId xmlns:a16="http://schemas.microsoft.com/office/drawing/2014/main" id="{892AAE9C-9F7B-4DC9-991C-E5AD784D3650}"/>
              </a:ext>
            </a:extLst>
          </p:cNvPr>
          <p:cNvSpPr>
            <a:spLocks xmlns:a="http://schemas.openxmlformats.org/drawingml/2006/main" noGrp="1"/>
          </p:cNvSpPr>
          <p:nvPr/>
        </p:nvSpPr>
        <p:spPr>
          <a:xfrm xmlns:a="http://schemas.openxmlformats.org/drawingml/2006/main">
            <a:off x="8382000" y="40005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536273"/>
                </a:solidFill>
                <a:latin typeface="Arial"/>
                <a:ea typeface="Arial"/>
                <a:cs typeface="Arial"/>
              </a:defRPr>
            </a:pPr>
            <a:r>
              <a:rPr sz="1350" b="0">
                <a:solidFill>
                  <a:srgbClr val="536273"/>
                </a:solidFill>
                <a:latin typeface="Arial"/>
                <a:ea typeface="Arial"/>
                <a:cs typeface="Arial"/>
              </a:rPr>
              <a:t>Slučajna pretraga i GA koriste isto generisanje rešenja i istu popravku.</a:t>
            </a:r>
          </a:p>
        </p:txBody>
      </p:sp>
      <p:sp>
        <p:nvSpPr>
          <p:cNvPr id="11" name="">
            <a:extLst xmlns:a="http://schemas.openxmlformats.org/drawingml/2006/main">
              <a:ext uri="{FF2B5EF4-FFF2-40B4-BE49-F238E27FC236}">
                <a16:creationId xmlns:a16="http://schemas.microsoft.com/office/drawing/2014/main" id="{D3F22EB3-9C94-4070-AEF1-0515C3CD6F52}"/>
              </a:ext>
            </a:extLst>
          </p:cNvPr>
          <p:cNvSpPr>
            <a:spLocks xmlns:a="http://schemas.openxmlformats.org/drawingml/2006/main" noGrp="1"/>
          </p:cNvSpPr>
          <p:nvPr/>
        </p:nvSpPr>
        <p:spPr>
          <a:xfrm xmlns:a="http://schemas.openxmlformats.org/drawingml/2006/main">
            <a:off x="8382000" y="48958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11827"/>
                </a:solidFill>
                <a:latin typeface="Arial"/>
                <a:ea typeface="Arial"/>
                <a:cs typeface="Arial"/>
              </a:defRPr>
            </a:pPr>
            <a:r>
              <a:rPr sz="1350" b="1">
                <a:solidFill>
                  <a:srgbClr val="111827"/>
                </a:solidFill>
                <a:latin typeface="Arial"/>
                <a:ea typeface="Arial"/>
                <a:cs typeface="Arial"/>
              </a:rPr>
              <a:t>Razlika meri doprinos selekcije, ukrštanja, mutacije i elitizma.</a:t>
            </a:r>
          </a:p>
        </p:txBody>
      </p:sp>
    </p:spTree>
    <p:extLst>
      <p:ext uri="{BB962C8B-B14F-4D97-AF65-F5344CB8AC3E}">
        <p14:creationId xmlns:p14="http://schemas.microsoft.com/office/powerpoint/2010/main" val="10925793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8-title">
            <a:extLst xmlns:a="http://schemas.openxmlformats.org/drawingml/2006/main">
              <a:ext uri="{FF2B5EF4-FFF2-40B4-BE49-F238E27FC236}">
                <a16:creationId xmlns:a16="http://schemas.microsoft.com/office/drawing/2014/main" id="{80E0FBC9-B013-4DB2-B6DB-A92FE797A98E}"/>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14"/>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Uticaj veličine populacije na konvergenciju pri istom broju evaluacija</a:t>
            </a:r>
          </a:p>
        </p:txBody>
      </p:sp>
      <p:cxnSp>
        <p:nvCxnSpPr>
          <p:cNvPr id="30" name="slide-8-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8-number">
            <a:extLst xmlns:a="http://schemas.openxmlformats.org/drawingml/2006/main">
              <a:ext uri="{FF2B5EF4-FFF2-40B4-BE49-F238E27FC236}">
                <a16:creationId xmlns:a16="http://schemas.microsoft.com/office/drawing/2014/main" id="{7BD16CE7-BBA5-4362-8DB1-40409205359F}"/>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8/12</a:t>
            </a:r>
          </a:p>
        </p:txBody>
      </p:sp>
      <p:sp>
        <p:nvSpPr>
          <p:cNvPr id="4" name="slide-8-footer">
            <a:extLst xmlns:a="http://schemas.openxmlformats.org/drawingml/2006/main">
              <a:ext uri="{FF2B5EF4-FFF2-40B4-BE49-F238E27FC236}">
                <a16:creationId xmlns:a16="http://schemas.microsoft.com/office/drawing/2014/main" id="{9FDF00FA-6D37-4F63-BDD0-773D4FD45ADD}"/>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4F47D459-C023-40C7-916D-75FF36DB03E1}"/>
              </a:ext>
            </a:extLst>
          </p:cNvPr>
          <p:cNvSpPr>
            <a:spLocks xmlns:a="http://schemas.openxmlformats.org/drawingml/2006/main" noGrp="1"/>
          </p:cNvSpPr>
          <p:nvPr/>
        </p:nvSpPr>
        <p:spPr>
          <a:xfrm xmlns:a="http://schemas.openxmlformats.org/drawingml/2006/main">
            <a:off x="533400" y="1485900"/>
            <a:ext cx="7429500" cy="43815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60e1d838d814aef"/>
          <a:stretch xmlns:a="http://schemas.openxmlformats.org/drawingml/2006/main"/>
        </p:blipFill>
        <p:spPr>
          <a:xfrm xmlns:a="http://schemas.openxmlformats.org/drawingml/2006/main">
            <a:off x="1135831" y="1676400"/>
            <a:ext cx="6224638"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12B60C9-BE7D-477C-B7E2-DB9D22D0F584}"/>
              </a:ext>
            </a:extLst>
          </p:cNvPr>
          <p:cNvSpPr>
            <a:spLocks xmlns:a="http://schemas.openxmlformats.org/drawingml/2006/main" noGrp="1"/>
          </p:cNvSpPr>
          <p:nvPr/>
        </p:nvSpPr>
        <p:spPr>
          <a:xfrm xmlns:a="http://schemas.openxmlformats.org/drawingml/2006/main">
            <a:off x="8324850" y="1485900"/>
            <a:ext cx="3333750" cy="18669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DA99CA84-782C-4434-8D87-3226334D8AFC}"/>
              </a:ext>
            </a:extLst>
          </p:cNvPr>
          <p:cNvSpPr>
            <a:spLocks xmlns:a="http://schemas.openxmlformats.org/drawingml/2006/main" noGrp="1"/>
          </p:cNvSpPr>
          <p:nvPr/>
        </p:nvSpPr>
        <p:spPr>
          <a:xfrm xmlns:a="http://schemas.openxmlformats.org/drawingml/2006/main">
            <a:off x="8553450" y="1743075"/>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E75B6"/>
                </a:solidFill>
                <a:latin typeface="Arial"/>
                <a:ea typeface="Arial"/>
                <a:cs typeface="Arial"/>
              </a:defRPr>
            </a:pPr>
            <a:r>
              <a:rPr sz="2550" b="1">
                <a:solidFill>
                  <a:srgbClr val="2E75B6"/>
                </a:solidFill>
                <a:latin typeface="Arial"/>
                <a:ea typeface="Arial"/>
                <a:cs typeface="Arial"/>
              </a:rPr>
              <a:t>P = 1000</a:t>
            </a:r>
          </a:p>
        </p:txBody>
      </p:sp>
      <p:sp>
        <p:nvSpPr>
          <p:cNvPr id="9" name="">
            <a:extLst xmlns:a="http://schemas.openxmlformats.org/drawingml/2006/main">
              <a:ext uri="{FF2B5EF4-FFF2-40B4-BE49-F238E27FC236}">
                <a16:creationId xmlns:a16="http://schemas.microsoft.com/office/drawing/2014/main" id="{4AC59997-50B0-472B-A82D-01805EE3F351}"/>
              </a:ext>
            </a:extLst>
          </p:cNvPr>
          <p:cNvSpPr>
            <a:spLocks xmlns:a="http://schemas.openxmlformats.org/drawingml/2006/main" noGrp="1"/>
          </p:cNvSpPr>
          <p:nvPr/>
        </p:nvSpPr>
        <p:spPr>
          <a:xfrm xmlns:a="http://schemas.openxmlformats.org/drawingml/2006/main">
            <a:off x="8553450" y="2419350"/>
            <a:ext cx="2876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536273"/>
                </a:solidFill>
                <a:latin typeface="Arial"/>
                <a:ea typeface="Arial"/>
                <a:cs typeface="Arial"/>
              </a:defRPr>
            </a:pPr>
            <a:r>
              <a:rPr sz="1350" b="0">
                <a:solidFill>
                  <a:srgbClr val="536273"/>
                </a:solidFill>
                <a:latin typeface="Arial"/>
                <a:ea typeface="Arial"/>
                <a:cs typeface="Arial"/>
              </a:rPr>
              <a:t>Brže napreduje u početku jer prolazi kroz više generacija.</a:t>
            </a:r>
          </a:p>
        </p:txBody>
      </p:sp>
      <p:sp>
        <p:nvSpPr>
          <p:cNvPr id="10" name="">
            <a:extLst xmlns:a="http://schemas.openxmlformats.org/drawingml/2006/main">
              <a:ext uri="{FF2B5EF4-FFF2-40B4-BE49-F238E27FC236}">
                <a16:creationId xmlns:a16="http://schemas.microsoft.com/office/drawing/2014/main" id="{AF6EE686-0CA6-4722-9908-5F55E43F953E}"/>
              </a:ext>
            </a:extLst>
          </p:cNvPr>
          <p:cNvSpPr>
            <a:spLocks xmlns:a="http://schemas.openxmlformats.org/drawingml/2006/main" noGrp="1"/>
          </p:cNvSpPr>
          <p:nvPr/>
        </p:nvSpPr>
        <p:spPr>
          <a:xfrm xmlns:a="http://schemas.openxmlformats.org/drawingml/2006/main">
            <a:off x="8324850" y="3733800"/>
            <a:ext cx="3333750" cy="21336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2CB8325-AB26-450E-8E3C-8A7C048B5510}"/>
              </a:ext>
            </a:extLst>
          </p:cNvPr>
          <p:cNvSpPr>
            <a:spLocks xmlns:a="http://schemas.openxmlformats.org/drawingml/2006/main" noGrp="1"/>
          </p:cNvSpPr>
          <p:nvPr/>
        </p:nvSpPr>
        <p:spPr>
          <a:xfrm xmlns:a="http://schemas.openxmlformats.org/drawingml/2006/main">
            <a:off x="8553450" y="4000500"/>
            <a:ext cx="28765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E7D5B"/>
                </a:solidFill>
                <a:latin typeface="Arial"/>
                <a:ea typeface="Arial"/>
                <a:cs typeface="Arial"/>
              </a:defRPr>
            </a:pPr>
            <a:r>
              <a:rPr sz="2550" b="1">
                <a:solidFill>
                  <a:srgbClr val="2E7D5B"/>
                </a:solidFill>
                <a:latin typeface="Arial"/>
                <a:ea typeface="Arial"/>
                <a:cs typeface="Arial"/>
              </a:rPr>
              <a:t>P = 2000</a:t>
            </a:r>
          </a:p>
        </p:txBody>
      </p:sp>
      <p:sp>
        <p:nvSpPr>
          <p:cNvPr id="12" name="">
            <a:extLst xmlns:a="http://schemas.openxmlformats.org/drawingml/2006/main">
              <a:ext uri="{FF2B5EF4-FFF2-40B4-BE49-F238E27FC236}">
                <a16:creationId xmlns:a16="http://schemas.microsoft.com/office/drawing/2014/main" id="{6ECA9871-B5C3-42F9-A480-FC1F5E195377}"/>
              </a:ext>
            </a:extLst>
          </p:cNvPr>
          <p:cNvSpPr>
            <a:spLocks xmlns:a="http://schemas.openxmlformats.org/drawingml/2006/main" noGrp="1"/>
          </p:cNvSpPr>
          <p:nvPr/>
        </p:nvSpPr>
        <p:spPr>
          <a:xfrm xmlns:a="http://schemas.openxmlformats.org/drawingml/2006/main">
            <a:off x="8553450" y="4686300"/>
            <a:ext cx="28765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536273"/>
                </a:solidFill>
                <a:latin typeface="Arial"/>
                <a:ea typeface="Arial"/>
                <a:cs typeface="Arial"/>
              </a:defRPr>
            </a:pPr>
            <a:r>
              <a:rPr sz="1350" b="0">
                <a:solidFill>
                  <a:srgbClr val="536273"/>
                </a:solidFill>
                <a:latin typeface="Arial"/>
                <a:ea typeface="Arial"/>
                <a:cs typeface="Arial"/>
              </a:rPr>
              <a:t>Veća raznovrsnost daje bolji konačni prosek: 88.817 prema 88.657 dinara.</a:t>
            </a:r>
          </a:p>
        </p:txBody>
      </p:sp>
      <p:sp>
        <p:nvSpPr>
          <p:cNvPr id="13" name="">
            <a:extLst xmlns:a="http://schemas.openxmlformats.org/drawingml/2006/main">
              <a:ext uri="{FF2B5EF4-FFF2-40B4-BE49-F238E27FC236}">
                <a16:creationId xmlns:a16="http://schemas.microsoft.com/office/drawing/2014/main" id="{F1D86939-8452-482E-9564-054FA88BA35F}"/>
              </a:ext>
            </a:extLst>
          </p:cNvPr>
          <p:cNvSpPr>
            <a:spLocks xmlns:a="http://schemas.openxmlformats.org/drawingml/2006/main" noGrp="1"/>
          </p:cNvSpPr>
          <p:nvPr/>
        </p:nvSpPr>
        <p:spPr>
          <a:xfrm xmlns:a="http://schemas.openxmlformats.org/drawingml/2006/main">
            <a:off x="8553450" y="55435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123B63"/>
                </a:solidFill>
                <a:latin typeface="Arial"/>
                <a:ea typeface="Arial"/>
                <a:cs typeface="Arial"/>
              </a:defRPr>
            </a:pPr>
            <a:r>
              <a:rPr sz="1125" b="1">
                <a:solidFill>
                  <a:srgbClr val="123B63"/>
                </a:solidFill>
                <a:latin typeface="Arial"/>
                <a:ea typeface="Arial"/>
                <a:cs typeface="Arial"/>
              </a:rPr>
              <a:t>Za obe konfiguracije: 1.000.000 evaluacija</a:t>
            </a:r>
          </a:p>
        </p:txBody>
      </p:sp>
    </p:spTree>
    <p:extLst>
      <p:ext uri="{BB962C8B-B14F-4D97-AF65-F5344CB8AC3E}">
        <p14:creationId xmlns:p14="http://schemas.microsoft.com/office/powerpoint/2010/main" val="14372609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9-title">
            <a:extLst xmlns:a="http://schemas.openxmlformats.org/drawingml/2006/main">
              <a:ext uri="{FF2B5EF4-FFF2-40B4-BE49-F238E27FC236}">
                <a16:creationId xmlns:a16="http://schemas.microsoft.com/office/drawing/2014/main" id="{DBC9B87D-127D-48AC-B227-1851C7A966B0}"/>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Vreme izvršavanja raste mnogo brže od kvaliteta rešenja</a:t>
            </a:r>
          </a:p>
        </p:txBody>
      </p:sp>
      <p:cxnSp>
        <p:nvCxnSpPr>
          <p:cNvPr id="33" name="slide-9-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9-number">
            <a:extLst xmlns:a="http://schemas.openxmlformats.org/drawingml/2006/main">
              <a:ext uri="{FF2B5EF4-FFF2-40B4-BE49-F238E27FC236}">
                <a16:creationId xmlns:a16="http://schemas.microsoft.com/office/drawing/2014/main" id="{6416B135-1A11-415F-AFD8-B9D6AC381F8C}"/>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9/12</a:t>
            </a:r>
          </a:p>
        </p:txBody>
      </p:sp>
      <p:sp>
        <p:nvSpPr>
          <p:cNvPr id="4" name="slide-9-footer">
            <a:extLst xmlns:a="http://schemas.openxmlformats.org/drawingml/2006/main">
              <a:ext uri="{FF2B5EF4-FFF2-40B4-BE49-F238E27FC236}">
                <a16:creationId xmlns:a16="http://schemas.microsoft.com/office/drawing/2014/main" id="{0320427B-64EB-4835-8493-C0757DDDB35C}"/>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480F1226-B7FA-4504-A0C2-7EFAE7594885}"/>
              </a:ext>
            </a:extLst>
          </p:cNvPr>
          <p:cNvSpPr>
            <a:spLocks xmlns:a="http://schemas.openxmlformats.org/drawingml/2006/main" noGrp="1"/>
          </p:cNvSpPr>
          <p:nvPr/>
        </p:nvSpPr>
        <p:spPr>
          <a:xfrm xmlns:a="http://schemas.openxmlformats.org/drawingml/2006/main">
            <a:off x="533400" y="13811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2E75B6"/>
                </a:solidFill>
                <a:latin typeface="Arial"/>
                <a:ea typeface="Arial"/>
                <a:cs typeface="Arial"/>
              </a:defRPr>
            </a:pPr>
            <a:r>
              <a:rPr sz="1275" b="1">
                <a:solidFill>
                  <a:srgbClr val="2E75B6"/>
                </a:solidFill>
                <a:latin typeface="Arial"/>
                <a:ea typeface="Arial"/>
                <a:cs typeface="Arial"/>
              </a:rPr>
              <a:t>Instanca 100×100</a:t>
            </a:r>
          </a:p>
        </p:txBody>
      </p:sp>
      <p:graphicFrame>
        <p:nvGraphicFramePr>
          <p:cNvPr id="37" name="Chart"/>
          <p:cNvGraphicFramePr/>
          <p:nvPr/>
        </p:nvGraphicFramePr>
        <p:xfrm>
          <a:off xmlns:a="http://schemas.openxmlformats.org/drawingml/2006/main" x="533400" y="1790700"/>
          <a:ext xmlns:a="http://schemas.openxmlformats.org/drawingml/2006/main" cx="5334000" cy="3276600"/>
        </p:xfrm>
        <a:graphic xmlns:a="http://schemas.openxmlformats.org/drawingml/2006/main">
          <a:graphicData uri="http://schemas.openxmlformats.org/drawingml/2006/chart">
            <c:chart xmlns:r="http://schemas.openxmlformats.org/officeDocument/2006/relationships" xmlns:c="http://schemas.openxmlformats.org/drawingml/2006/chart" r:id="R5407d28115aa42b7"/>
          </a:graphicData>
        </a:graphic>
      </p:graphicFrame>
      <p:sp>
        <p:nvSpPr>
          <p:cNvPr id="7" name="">
            <a:extLst xmlns:a="http://schemas.openxmlformats.org/drawingml/2006/main">
              <a:ext uri="{FF2B5EF4-FFF2-40B4-BE49-F238E27FC236}">
                <a16:creationId xmlns:a16="http://schemas.microsoft.com/office/drawing/2014/main" id="{C3FC14D6-7858-49D1-B4ED-A49F64D630CE}"/>
              </a:ext>
            </a:extLst>
          </p:cNvPr>
          <p:cNvSpPr>
            <a:spLocks xmlns:a="http://schemas.openxmlformats.org/drawingml/2006/main" noGrp="1"/>
          </p:cNvSpPr>
          <p:nvPr/>
        </p:nvSpPr>
        <p:spPr>
          <a:xfrm xmlns:a="http://schemas.openxmlformats.org/drawingml/2006/main">
            <a:off x="723900" y="16668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536273"/>
                </a:solidFill>
                <a:latin typeface="Arial"/>
                <a:ea typeface="Arial"/>
                <a:cs typeface="Arial"/>
              </a:defRPr>
            </a:pPr>
            <a:r>
              <a:rPr sz="1050" b="1">
                <a:solidFill>
                  <a:srgbClr val="536273"/>
                </a:solidFill>
                <a:latin typeface="Arial"/>
                <a:ea typeface="Arial"/>
                <a:cs typeface="Arial"/>
              </a:rPr>
              <a:t>Prosečan kvalitet (% optimuma)</a:t>
            </a:r>
          </a:p>
        </p:txBody>
      </p:sp>
      <p:graphicFrame>
        <p:nvGraphicFramePr>
          <p:cNvPr id="39" name="Chart"/>
          <p:cNvGraphicFramePr/>
          <p:nvPr/>
        </p:nvGraphicFramePr>
        <p:xfrm>
          <a:off xmlns:a="http://schemas.openxmlformats.org/drawingml/2006/main" x="6324600" y="1790700"/>
          <a:ext xmlns:a="http://schemas.openxmlformats.org/drawingml/2006/main" cx="5334000" cy="3276600"/>
        </p:xfrm>
        <a:graphic xmlns:a="http://schemas.openxmlformats.org/drawingml/2006/main">
          <a:graphicData uri="http://schemas.openxmlformats.org/drawingml/2006/chart">
            <c:chart xmlns:r="http://schemas.openxmlformats.org/officeDocument/2006/relationships" xmlns:c="http://schemas.openxmlformats.org/drawingml/2006/chart" r:id="R593713b662c645b1"/>
          </a:graphicData>
        </a:graphic>
      </p:graphicFrame>
      <p:sp>
        <p:nvSpPr>
          <p:cNvPr id="9" name="">
            <a:extLst xmlns:a="http://schemas.openxmlformats.org/drawingml/2006/main">
              <a:ext uri="{FF2B5EF4-FFF2-40B4-BE49-F238E27FC236}">
                <a16:creationId xmlns:a16="http://schemas.microsoft.com/office/drawing/2014/main" id="{3345177E-50AC-4371-852D-A35E58F58DF0}"/>
              </a:ext>
            </a:extLst>
          </p:cNvPr>
          <p:cNvSpPr>
            <a:spLocks xmlns:a="http://schemas.openxmlformats.org/drawingml/2006/main" noGrp="1"/>
          </p:cNvSpPr>
          <p:nvPr/>
        </p:nvSpPr>
        <p:spPr>
          <a:xfrm xmlns:a="http://schemas.openxmlformats.org/drawingml/2006/main">
            <a:off x="6515100" y="1666875"/>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536273"/>
                </a:solidFill>
                <a:latin typeface="Arial"/>
                <a:ea typeface="Arial"/>
                <a:cs typeface="Arial"/>
              </a:defRPr>
            </a:pPr>
            <a:r>
              <a:rPr sz="1050" b="1">
                <a:solidFill>
                  <a:srgbClr val="536273"/>
                </a:solidFill>
                <a:latin typeface="Arial"/>
                <a:ea typeface="Arial"/>
                <a:cs typeface="Arial"/>
              </a:rPr>
              <a:t>Prosečno vreme jednog pokretanja (s)</a:t>
            </a:r>
          </a:p>
        </p:txBody>
      </p:sp>
      <p:sp>
        <p:nvSpPr>
          <p:cNvPr id="10" name="">
            <a:extLst xmlns:a="http://schemas.openxmlformats.org/drawingml/2006/main">
              <a:ext uri="{FF2B5EF4-FFF2-40B4-BE49-F238E27FC236}">
                <a16:creationId xmlns:a16="http://schemas.microsoft.com/office/drawing/2014/main" id="{06D13255-D356-4151-A8F3-14593E85DD63}"/>
              </a:ext>
            </a:extLst>
          </p:cNvPr>
          <p:cNvSpPr>
            <a:spLocks xmlns:a="http://schemas.openxmlformats.org/drawingml/2006/main" noGrp="1"/>
          </p:cNvSpPr>
          <p:nvPr/>
        </p:nvSpPr>
        <p:spPr>
          <a:xfrm xmlns:a="http://schemas.openxmlformats.org/drawingml/2006/main">
            <a:off x="1524000" y="5314950"/>
            <a:ext cx="9144000" cy="647700"/>
          </a:xfrm>
          <a:prstGeom xmlns:a="http://schemas.openxmlformats.org/drawingml/2006/main" prst="rect">
            <a:avLst/>
          </a:prstGeom>
          <a:solidFill xmlns:a="http://schemas.openxmlformats.org/drawingml/2006/main">
            <a:srgbClr val="123B63"/>
          </a:solidFill>
          <a:ln xmlns:a="http://schemas.openxmlformats.org/drawingml/2006/main" w="9525">
            <a:solidFill>
              <a:srgbClr val="123B63"/>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3AB5B06-35B8-4F4E-A19F-241141D970C9}"/>
              </a:ext>
            </a:extLst>
          </p:cNvPr>
          <p:cNvSpPr>
            <a:spLocks xmlns:a="http://schemas.openxmlformats.org/drawingml/2006/main" noGrp="1"/>
          </p:cNvSpPr>
          <p:nvPr/>
        </p:nvSpPr>
        <p:spPr>
          <a:xfrm xmlns:a="http://schemas.openxmlformats.org/drawingml/2006/main">
            <a:off x="1809750" y="54864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10 M → 40 M evaluacija: kvalitet +0,15% (98,68 → 98,83), vreme 504 s → 1.779 s (3,5×)</a:t>
            </a:r>
          </a:p>
        </p:txBody>
      </p:sp>
    </p:spTree>
    <p:extLst>
      <p:ext uri="{BB962C8B-B14F-4D97-AF65-F5344CB8AC3E}">
        <p14:creationId xmlns:p14="http://schemas.microsoft.com/office/powerpoint/2010/main" val="19246309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10-title">
            <a:extLst xmlns:a="http://schemas.openxmlformats.org/drawingml/2006/main">
              <a:ext uri="{FF2B5EF4-FFF2-40B4-BE49-F238E27FC236}">
                <a16:creationId xmlns:a16="http://schemas.microsoft.com/office/drawing/2014/main" id="{809B489D-DE1A-4F28-8C0E-9AB797A2E48F}"/>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Ispitane linearne instance favorizuju HiGHS</a:t>
            </a:r>
          </a:p>
        </p:txBody>
      </p:sp>
      <p:cxnSp>
        <p:nvCxnSpPr>
          <p:cNvPr id="33" name="slide-10-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10-number">
            <a:extLst xmlns:a="http://schemas.openxmlformats.org/drawingml/2006/main">
              <a:ext uri="{FF2B5EF4-FFF2-40B4-BE49-F238E27FC236}">
                <a16:creationId xmlns:a16="http://schemas.microsoft.com/office/drawing/2014/main" id="{B56E4AAE-924F-4047-9A0C-B2FC4DF3BBE6}"/>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10/12</a:t>
            </a:r>
          </a:p>
        </p:txBody>
      </p:sp>
      <p:sp>
        <p:nvSpPr>
          <p:cNvPr id="4" name="slide-10-footer">
            <a:extLst xmlns:a="http://schemas.openxmlformats.org/drawingml/2006/main">
              <a:ext uri="{FF2B5EF4-FFF2-40B4-BE49-F238E27FC236}">
                <a16:creationId xmlns:a16="http://schemas.microsoft.com/office/drawing/2014/main" id="{7A31792B-454D-4DDB-88B9-802CBBB31997}"/>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70D7876B-B10F-42EF-94D4-3763E0FB816E}"/>
              </a:ext>
            </a:extLst>
          </p:cNvPr>
          <p:cNvSpPr>
            <a:spLocks xmlns:a="http://schemas.openxmlformats.org/drawingml/2006/main" noGrp="1"/>
          </p:cNvSpPr>
          <p:nvPr/>
        </p:nvSpPr>
        <p:spPr>
          <a:xfrm xmlns:a="http://schemas.openxmlformats.org/drawingml/2006/main">
            <a:off x="533400" y="15049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E75B6"/>
                </a:solidFill>
                <a:latin typeface="Arial"/>
                <a:ea typeface="Arial"/>
                <a:cs typeface="Arial"/>
              </a:defRPr>
            </a:pPr>
            <a:r>
              <a:rPr sz="1500" b="1">
                <a:solidFill>
                  <a:srgbClr val="2E75B6"/>
                </a:solidFill>
                <a:latin typeface="Arial"/>
                <a:ea typeface="Arial"/>
                <a:cs typeface="Arial"/>
              </a:rPr>
              <a:t>Preporuka</a:t>
            </a:r>
          </a:p>
        </p:txBody>
      </p:sp>
      <p:sp>
        <p:nvSpPr>
          <p:cNvPr id="6" name="">
            <a:extLst xmlns:a="http://schemas.openxmlformats.org/drawingml/2006/main">
              <a:ext uri="{FF2B5EF4-FFF2-40B4-BE49-F238E27FC236}">
                <a16:creationId xmlns:a16="http://schemas.microsoft.com/office/drawing/2014/main" id="{B1C150BC-B1B2-45A8-8A1F-325D03861725}"/>
              </a:ext>
            </a:extLst>
          </p:cNvPr>
          <p:cNvSpPr>
            <a:spLocks xmlns:a="http://schemas.openxmlformats.org/drawingml/2006/main" noGrp="1"/>
          </p:cNvSpPr>
          <p:nvPr/>
        </p:nvSpPr>
        <p:spPr>
          <a:xfrm xmlns:a="http://schemas.openxmlformats.org/drawingml/2006/main">
            <a:off x="533400" y="1952625"/>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23B63"/>
                </a:solidFill>
                <a:latin typeface="Arial"/>
                <a:ea typeface="Arial"/>
                <a:cs typeface="Arial"/>
              </a:defRPr>
            </a:pPr>
            <a:r>
              <a:rPr sz="2850" b="1">
                <a:solidFill>
                  <a:srgbClr val="123B63"/>
                </a:solidFill>
                <a:latin typeface="Arial"/>
                <a:ea typeface="Arial"/>
                <a:cs typeface="Arial"/>
              </a:rPr>
              <a:t>HiGHS prvo</a:t>
            </a:r>
          </a:p>
        </p:txBody>
      </p:sp>
      <p:sp>
        <p:nvSpPr>
          <p:cNvPr id="7" name="">
            <a:extLst xmlns:a="http://schemas.openxmlformats.org/drawingml/2006/main">
              <a:ext uri="{FF2B5EF4-FFF2-40B4-BE49-F238E27FC236}">
                <a16:creationId xmlns:a16="http://schemas.microsoft.com/office/drawing/2014/main" id="{365183AE-8881-44BD-9F45-2343AEBE518B}"/>
              </a:ext>
            </a:extLst>
          </p:cNvPr>
          <p:cNvSpPr>
            <a:spLocks xmlns:a="http://schemas.openxmlformats.org/drawingml/2006/main" noGrp="1"/>
          </p:cNvSpPr>
          <p:nvPr/>
        </p:nvSpPr>
        <p:spPr>
          <a:xfrm xmlns:a="http://schemas.openxmlformats.org/drawingml/2006/main">
            <a:off x="533400" y="2647950"/>
            <a:ext cx="4572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536273"/>
                </a:solidFill>
                <a:latin typeface="Arial"/>
                <a:ea typeface="Arial"/>
                <a:cs typeface="Arial"/>
              </a:defRPr>
            </a:pPr>
            <a:r>
              <a:rPr sz="1575" b="0">
                <a:solidFill>
                  <a:srgbClr val="536273"/>
                </a:solidFill>
                <a:latin typeface="Arial"/>
                <a:ea typeface="Arial"/>
                <a:cs typeface="Arial"/>
              </a:rPr>
              <a:t>Za statičke linearne instance ovog tipa HiGHS je dao najbolji referentni rezultat uz najmanje vreme.</a:t>
            </a:r>
          </a:p>
        </p:txBody>
      </p:sp>
      <p:sp>
        <p:nvSpPr>
          <p:cNvPr id="8" name="">
            <a:extLst xmlns:a="http://schemas.openxmlformats.org/drawingml/2006/main">
              <a:ext uri="{FF2B5EF4-FFF2-40B4-BE49-F238E27FC236}">
                <a16:creationId xmlns:a16="http://schemas.microsoft.com/office/drawing/2014/main" id="{2F31A720-7912-407E-8D1A-6F347E19B236}"/>
              </a:ext>
            </a:extLst>
          </p:cNvPr>
          <p:cNvSpPr>
            <a:spLocks xmlns:a="http://schemas.openxmlformats.org/drawingml/2006/main" noGrp="1"/>
          </p:cNvSpPr>
          <p:nvPr/>
        </p:nvSpPr>
        <p:spPr>
          <a:xfrm xmlns:a="http://schemas.openxmlformats.org/drawingml/2006/main">
            <a:off x="533400" y="4010025"/>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111827"/>
                </a:solidFill>
                <a:latin typeface="Arial"/>
                <a:ea typeface="Arial"/>
                <a:cs typeface="Arial"/>
              </a:defRPr>
            </a:pPr>
            <a:r>
              <a:rPr sz="1875" b="1">
                <a:solidFill>
                  <a:srgbClr val="111827"/>
                </a:solidFill>
                <a:latin typeface="Arial"/>
                <a:ea typeface="Arial"/>
                <a:cs typeface="Arial"/>
              </a:rPr>
              <a:t>Moguća proširenja matematičkog modela</a:t>
            </a:r>
          </a:p>
        </p:txBody>
      </p:sp>
      <p:sp>
        <p:nvSpPr>
          <p:cNvPr id="9" name="">
            <a:extLst xmlns:a="http://schemas.openxmlformats.org/drawingml/2006/main">
              <a:ext uri="{FF2B5EF4-FFF2-40B4-BE49-F238E27FC236}">
                <a16:creationId xmlns:a16="http://schemas.microsoft.com/office/drawing/2014/main" id="{DCF6BFA2-D4A0-46C7-A7EA-60DD30040975}"/>
              </a:ext>
            </a:extLst>
          </p:cNvPr>
          <p:cNvSpPr>
            <a:spLocks xmlns:a="http://schemas.openxmlformats.org/drawingml/2006/main" noGrp="1"/>
          </p:cNvSpPr>
          <p:nvPr/>
        </p:nvSpPr>
        <p:spPr>
          <a:xfrm xmlns:a="http://schemas.openxmlformats.org/drawingml/2006/main">
            <a:off x="533400" y="464820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536273"/>
                </a:solidFill>
                <a:latin typeface="Arial"/>
                <a:ea typeface="Arial"/>
                <a:cs typeface="Arial"/>
              </a:defRPr>
            </a:pPr>
            <a:r>
              <a:rPr sz="1350" b="0">
                <a:solidFill>
                  <a:srgbClr val="536273"/>
                </a:solidFill>
                <a:latin typeface="Arial"/>
                <a:ea typeface="Arial"/>
                <a:cs typeface="Arial"/>
              </a:rPr>
              <a:t>Nisu ispitana u ovom radu: nelinearnosti, dinamičke promene, više ciljeva i ograničenja koja se teško izražavaju linearnom formulacijom.</a:t>
            </a:r>
          </a:p>
        </p:txBody>
      </p:sp>
      <p:sp>
        <p:nvSpPr>
          <p:cNvPr id="10" name="">
            <a:extLst xmlns:a="http://schemas.openxmlformats.org/drawingml/2006/main">
              <a:ext uri="{FF2B5EF4-FFF2-40B4-BE49-F238E27FC236}">
                <a16:creationId xmlns:a16="http://schemas.microsoft.com/office/drawing/2014/main" id="{B4007C85-AB95-4F10-8056-5FC686C5FA29}"/>
              </a:ext>
            </a:extLst>
          </p:cNvPr>
          <p:cNvSpPr>
            <a:spLocks xmlns:a="http://schemas.openxmlformats.org/drawingml/2006/main" noGrp="1"/>
          </p:cNvSpPr>
          <p:nvPr/>
        </p:nvSpPr>
        <p:spPr>
          <a:xfrm xmlns:a="http://schemas.openxmlformats.org/drawingml/2006/main">
            <a:off x="533400" y="5619750"/>
            <a:ext cx="4762500" cy="457200"/>
          </a:xfrm>
          <a:prstGeom xmlns:a="http://schemas.openxmlformats.org/drawingml/2006/main" prst="rect">
            <a:avLst/>
          </a:prstGeom>
          <a:solidFill xmlns:a="http://schemas.openxmlformats.org/drawingml/2006/main">
            <a:srgbClr val="EAF3F9"/>
          </a:solidFill>
          <a:ln xmlns:a="http://schemas.openxmlformats.org/drawingml/2006/main" w="9525">
            <a:solidFill>
              <a:srgbClr val="EAF3F9"/>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41321975-BBF2-4E08-ABFF-A4C8B264497B}"/>
              </a:ext>
            </a:extLst>
          </p:cNvPr>
          <p:cNvSpPr>
            <a:spLocks xmlns:a="http://schemas.openxmlformats.org/drawingml/2006/main" noGrp="1"/>
          </p:cNvSpPr>
          <p:nvPr/>
        </p:nvSpPr>
        <p:spPr>
          <a:xfrm xmlns:a="http://schemas.openxmlformats.org/drawingml/2006/main">
            <a:off x="685800" y="5743575"/>
            <a:ext cx="4457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123B63"/>
                </a:solidFill>
                <a:latin typeface="Arial"/>
                <a:ea typeface="Arial"/>
                <a:cs typeface="Arial"/>
              </a:defRPr>
            </a:pPr>
            <a:r>
              <a:rPr sz="1200" b="1">
                <a:solidFill>
                  <a:srgbClr val="123B63"/>
                </a:solidFill>
                <a:latin typeface="Arial"/>
                <a:ea typeface="Arial"/>
                <a:cs typeface="Arial"/>
              </a:rPr>
              <a:t>Ograničenje: jedna instanca po veličini.</a:t>
            </a:r>
          </a:p>
        </p:txBody>
      </p:sp>
      <p:sp>
        <p:nvSpPr>
          <p:cNvPr id="12" name="">
            <a:extLst xmlns:a="http://schemas.openxmlformats.org/drawingml/2006/main">
              <a:ext uri="{FF2B5EF4-FFF2-40B4-BE49-F238E27FC236}">
                <a16:creationId xmlns:a16="http://schemas.microsoft.com/office/drawing/2014/main" id="{0C7CCACA-4FC5-4FF8-A25D-4D5B137A4896}"/>
              </a:ext>
            </a:extLst>
          </p:cNvPr>
          <p:cNvSpPr>
            <a:spLocks xmlns:a="http://schemas.openxmlformats.org/drawingml/2006/main" noGrp="1"/>
          </p:cNvSpPr>
          <p:nvPr/>
        </p:nvSpPr>
        <p:spPr>
          <a:xfrm xmlns:a="http://schemas.openxmlformats.org/drawingml/2006/main">
            <a:off x="5715000" y="1504950"/>
            <a:ext cx="5943600" cy="457200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f41ab772dc0487a"/>
          <a:stretch xmlns:a="http://schemas.openxmlformats.org/drawingml/2006/main"/>
        </p:blipFill>
        <p:spPr>
          <a:xfrm xmlns:a="http://schemas.openxmlformats.org/drawingml/2006/main">
            <a:off x="5943600" y="1952625"/>
            <a:ext cx="5486400" cy="27432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2D0AD5B-E406-4700-AC3A-8707F8774AE8}"/>
              </a:ext>
            </a:extLst>
          </p:cNvPr>
          <p:cNvSpPr>
            <a:spLocks xmlns:a="http://schemas.openxmlformats.org/drawingml/2006/main" noGrp="1"/>
          </p:cNvSpPr>
          <p:nvPr/>
        </p:nvSpPr>
        <p:spPr>
          <a:xfrm xmlns:a="http://schemas.openxmlformats.org/drawingml/2006/main">
            <a:off x="6096000" y="50101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123B63"/>
                </a:solidFill>
                <a:latin typeface="Arial"/>
                <a:ea typeface="Arial"/>
                <a:cs typeface="Arial"/>
              </a:defRPr>
            </a:pPr>
            <a:r>
              <a:rPr sz="1500" b="1">
                <a:solidFill>
                  <a:srgbClr val="123B63"/>
                </a:solidFill>
                <a:latin typeface="Arial"/>
                <a:ea typeface="Arial"/>
                <a:cs typeface="Arial"/>
              </a:rPr>
              <a:t>Zaključci</a:t>
            </a:r>
          </a:p>
        </p:txBody>
      </p:sp>
      <p:sp>
        <p:nvSpPr>
          <p:cNvPr id="15" name="">
            <a:extLst xmlns:a="http://schemas.openxmlformats.org/drawingml/2006/main">
              <a:ext uri="{FF2B5EF4-FFF2-40B4-BE49-F238E27FC236}">
                <a16:creationId xmlns:a16="http://schemas.microsoft.com/office/drawing/2014/main" id="{533CC7BD-4604-4CF5-9341-B3EAB2FB638E}"/>
              </a:ext>
            </a:extLst>
          </p:cNvPr>
          <p:cNvSpPr>
            <a:spLocks xmlns:a="http://schemas.openxmlformats.org/drawingml/2006/main" noGrp="1"/>
          </p:cNvSpPr>
          <p:nvPr/>
        </p:nvSpPr>
        <p:spPr>
          <a:xfrm xmlns:a="http://schemas.openxmlformats.org/drawingml/2006/main">
            <a:off x="6096000" y="535305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536273"/>
                </a:solidFill>
                <a:latin typeface="Arial"/>
                <a:ea typeface="Arial"/>
                <a:cs typeface="Arial"/>
              </a:defRPr>
            </a:pPr>
            <a:r>
              <a:rPr sz="1275" b="0">
                <a:solidFill>
                  <a:srgbClr val="536273"/>
                </a:solidFill>
                <a:latin typeface="Arial"/>
                <a:ea typeface="Arial"/>
                <a:cs typeface="Arial"/>
              </a:rPr>
              <a:t>•  Rezultati su stabilni kroz šest pokretanja.</a:t>
            </a:r>
          </a:p>
        </p:txBody>
      </p:sp>
      <p:sp>
        <p:nvSpPr>
          <p:cNvPr id="16" name="">
            <a:extLst xmlns:a="http://schemas.openxmlformats.org/drawingml/2006/main">
              <a:ext uri="{FF2B5EF4-FFF2-40B4-BE49-F238E27FC236}">
                <a16:creationId xmlns:a16="http://schemas.microsoft.com/office/drawing/2014/main" id="{C17659BC-F1EB-4882-BF27-157114E6847B}"/>
              </a:ext>
            </a:extLst>
          </p:cNvPr>
          <p:cNvSpPr>
            <a:spLocks xmlns:a="http://schemas.openxmlformats.org/drawingml/2006/main" noGrp="1"/>
          </p:cNvSpPr>
          <p:nvPr/>
        </p:nvSpPr>
        <p:spPr>
          <a:xfrm xmlns:a="http://schemas.openxmlformats.org/drawingml/2006/main">
            <a:off x="6096000" y="5657850"/>
            <a:ext cx="514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a:solidFill>
                  <a:srgbClr val="536273"/>
                </a:solidFill>
                <a:latin typeface="Arial"/>
                <a:ea typeface="Arial"/>
                <a:cs typeface="Arial"/>
              </a:defRPr>
            </a:pPr>
            <a:r>
              <a:rPr sz="1275" b="0">
                <a:solidFill>
                  <a:srgbClr val="536273"/>
                </a:solidFill>
                <a:latin typeface="Arial"/>
                <a:ea typeface="Arial"/>
                <a:cs typeface="Arial"/>
              </a:rPr>
              <a:t>•  Jedno pokretanje velike instance traje oko 3,4 sata.</a:t>
            </a:r>
          </a:p>
        </p:txBody>
      </p:sp>
    </p:spTree>
    <p:extLst>
      <p:ext uri="{BB962C8B-B14F-4D97-AF65-F5344CB8AC3E}">
        <p14:creationId xmlns:p14="http://schemas.microsoft.com/office/powerpoint/2010/main" val="1879168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11-title">
            <a:extLst xmlns:a="http://schemas.openxmlformats.org/drawingml/2006/main">
              <a:ext uri="{FF2B5EF4-FFF2-40B4-BE49-F238E27FC236}">
                <a16:creationId xmlns:a16="http://schemas.microsoft.com/office/drawing/2014/main" id="{E9A6F1FE-A10A-4234-9BC4-F4D8896E332F}"/>
              </a:ext>
            </a:extLst>
          </p:cNvPr>
          <p:cNvSpPr>
            <a:spLocks xmlns:a="http://schemas.openxmlformats.org/drawingml/2006/main" noGrp="1"/>
          </p:cNvSpPr>
          <p:nvPr/>
        </p:nvSpPr>
        <p:spPr>
          <a:xfrm xmlns:a="http://schemas.openxmlformats.org/drawingml/2006/main">
            <a:off x="533400" y="323850"/>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850" b="1">
                <a:solidFill>
                  <a:srgbClr val="111827"/>
                </a:solidFill>
                <a:latin typeface="Arial"/>
                <a:ea typeface="Arial"/>
                <a:cs typeface="Arial"/>
              </a:defRPr>
            </a:pPr>
            <a:r>
              <a:rPr sz="2850" b="1">
                <a:solidFill>
                  <a:srgbClr val="111827"/>
                </a:solidFill>
                <a:latin typeface="Arial"/>
                <a:ea typeface="Arial"/>
                <a:cs typeface="Arial"/>
              </a:rPr>
              <a:t>Tri nalaza opisuju performanse genetičkog algoritma</a:t>
            </a:r>
          </a:p>
        </p:txBody>
      </p:sp>
      <p:cxnSp>
        <p:nvCxnSpPr>
          <p:cNvPr id="27" name="slide-11-header-rule"/>
          <p:cNvCxnSpPr/>
          <p:nvPr/>
        </p:nvCxnSpPr>
        <p:spPr>
          <a:xfrm xmlns:a="http://schemas.openxmlformats.org/drawingml/2006/main">
            <a:off x="533400" y="1143000"/>
            <a:ext cx="11125200" cy="0"/>
          </a:xfrm>
          <a:prstGeom xmlns:a="http://schemas.openxmlformats.org/drawingml/2006/main" prst="straightConnector1">
            <a:avLst/>
          </a:prstGeom>
          <a:ln xmlns:a="http://schemas.openxmlformats.org/drawingml/2006/main" w="9525">
            <a:solidFill>
              <a:srgbClr val="C7D0D9"/>
            </a:solidFill>
            <a:prstDash val="solid"/>
          </a:ln>
        </p:spPr>
      </p:cxnSp>
      <p:sp>
        <p:nvSpPr>
          <p:cNvPr id="3" name="slide-11-number">
            <a:extLst xmlns:a="http://schemas.openxmlformats.org/drawingml/2006/main">
              <a:ext uri="{FF2B5EF4-FFF2-40B4-BE49-F238E27FC236}">
                <a16:creationId xmlns:a16="http://schemas.microsoft.com/office/drawing/2014/main" id="{5520D0A8-4098-4032-A4CC-1BD2A9FA0F9B}"/>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11/12</a:t>
            </a:r>
          </a:p>
        </p:txBody>
      </p:sp>
      <p:sp>
        <p:nvSpPr>
          <p:cNvPr id="4" name="slide-11-footer">
            <a:extLst xmlns:a="http://schemas.openxmlformats.org/drawingml/2006/main">
              <a:ext uri="{FF2B5EF4-FFF2-40B4-BE49-F238E27FC236}">
                <a16:creationId xmlns:a16="http://schemas.microsoft.com/office/drawing/2014/main" id="{8AC500ED-CDEF-470C-BF66-A226F184DFFB}"/>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
        <p:nvSpPr>
          <p:cNvPr id="5" name="">
            <a:extLst xmlns:a="http://schemas.openxmlformats.org/drawingml/2006/main">
              <a:ext uri="{FF2B5EF4-FFF2-40B4-BE49-F238E27FC236}">
                <a16:creationId xmlns:a16="http://schemas.microsoft.com/office/drawing/2014/main" id="{E91894FE-616B-4DDB-9F12-C27DB079CF47}"/>
              </a:ext>
            </a:extLst>
          </p:cNvPr>
          <p:cNvSpPr>
            <a:spLocks xmlns:a="http://schemas.openxmlformats.org/drawingml/2006/main" noGrp="1"/>
          </p:cNvSpPr>
          <p:nvPr/>
        </p:nvSpPr>
        <p:spPr>
          <a:xfrm xmlns:a="http://schemas.openxmlformats.org/drawingml/2006/main">
            <a:off x="533400" y="1809750"/>
            <a:ext cx="3333750" cy="31432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057381C6-90AB-437B-9D12-878CCB5D0486}"/>
              </a:ext>
            </a:extLst>
          </p:cNvPr>
          <p:cNvSpPr>
            <a:spLocks xmlns:a="http://schemas.openxmlformats.org/drawingml/2006/main" noGrp="1"/>
          </p:cNvSpPr>
          <p:nvPr/>
        </p:nvSpPr>
        <p:spPr>
          <a:xfrm xmlns:a="http://schemas.openxmlformats.org/drawingml/2006/main">
            <a:off x="762000" y="20383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23B63"/>
                </a:solidFill>
                <a:latin typeface="Arial"/>
                <a:ea typeface="Arial"/>
                <a:cs typeface="Arial"/>
              </a:defRPr>
            </a:pPr>
            <a:r>
              <a:rPr sz="3150" b="1">
                <a:solidFill>
                  <a:srgbClr val="123B63"/>
                </a:solidFill>
                <a:latin typeface="Arial"/>
                <a:ea typeface="Arial"/>
                <a:cs typeface="Arial"/>
              </a:rPr>
              <a:t>97–99%</a:t>
            </a:r>
          </a:p>
        </p:txBody>
      </p:sp>
      <p:sp>
        <p:nvSpPr>
          <p:cNvPr id="7" name="">
            <a:extLst xmlns:a="http://schemas.openxmlformats.org/drawingml/2006/main">
              <a:ext uri="{FF2B5EF4-FFF2-40B4-BE49-F238E27FC236}">
                <a16:creationId xmlns:a16="http://schemas.microsoft.com/office/drawing/2014/main" id="{ED1BB1B8-47F0-45F6-871E-617869A9F53B}"/>
              </a:ext>
            </a:extLst>
          </p:cNvPr>
          <p:cNvSpPr>
            <a:spLocks xmlns:a="http://schemas.openxmlformats.org/drawingml/2006/main" noGrp="1"/>
          </p:cNvSpPr>
          <p:nvPr/>
        </p:nvSpPr>
        <p:spPr>
          <a:xfrm xmlns:a="http://schemas.openxmlformats.org/drawingml/2006/main">
            <a:off x="762000" y="2800350"/>
            <a:ext cx="28765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KVALITET</a:t>
            </a:r>
          </a:p>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Stabilna rešenja bliska referentnom optimumu na sve tri instance.</a:t>
            </a:r>
          </a:p>
        </p:txBody>
      </p:sp>
      <p:sp>
        <p:nvSpPr>
          <p:cNvPr id="8" name="">
            <a:extLst xmlns:a="http://schemas.openxmlformats.org/drawingml/2006/main">
              <a:ext uri="{FF2B5EF4-FFF2-40B4-BE49-F238E27FC236}">
                <a16:creationId xmlns:a16="http://schemas.microsoft.com/office/drawing/2014/main" id="{1ED0F6E5-6F6B-4DAF-BECA-0FBF0AB5EC02}"/>
              </a:ext>
            </a:extLst>
          </p:cNvPr>
          <p:cNvSpPr>
            <a:spLocks xmlns:a="http://schemas.openxmlformats.org/drawingml/2006/main" noGrp="1"/>
          </p:cNvSpPr>
          <p:nvPr/>
        </p:nvSpPr>
        <p:spPr>
          <a:xfrm xmlns:a="http://schemas.openxmlformats.org/drawingml/2006/main">
            <a:off x="4429125" y="1809750"/>
            <a:ext cx="3333750" cy="31432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5B329FF-13DE-4BD6-9848-E69485E8DAEF}"/>
              </a:ext>
            </a:extLst>
          </p:cNvPr>
          <p:cNvSpPr>
            <a:spLocks xmlns:a="http://schemas.openxmlformats.org/drawingml/2006/main" noGrp="1"/>
          </p:cNvSpPr>
          <p:nvPr/>
        </p:nvSpPr>
        <p:spPr>
          <a:xfrm xmlns:a="http://schemas.openxmlformats.org/drawingml/2006/main">
            <a:off x="4657725" y="20383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2E75B6"/>
                </a:solidFill>
                <a:latin typeface="Arial"/>
                <a:ea typeface="Arial"/>
                <a:cs typeface="Arial"/>
              </a:defRPr>
            </a:pPr>
            <a:r>
              <a:rPr sz="3150" b="1">
                <a:solidFill>
                  <a:srgbClr val="2E75B6"/>
                </a:solidFill>
                <a:latin typeface="Arial"/>
                <a:ea typeface="Arial"/>
                <a:cs typeface="Arial"/>
              </a:rPr>
              <a:t>Varira</a:t>
            </a:r>
          </a:p>
        </p:txBody>
      </p:sp>
      <p:sp>
        <p:nvSpPr>
          <p:cNvPr id="10" name="">
            <a:extLst xmlns:a="http://schemas.openxmlformats.org/drawingml/2006/main">
              <a:ext uri="{FF2B5EF4-FFF2-40B4-BE49-F238E27FC236}">
                <a16:creationId xmlns:a16="http://schemas.microsoft.com/office/drawing/2014/main" id="{428B0B13-10BE-4314-8B29-0BE69CE1A18A}"/>
              </a:ext>
            </a:extLst>
          </p:cNvPr>
          <p:cNvSpPr>
            <a:spLocks xmlns:a="http://schemas.openxmlformats.org/drawingml/2006/main" noGrp="1"/>
          </p:cNvSpPr>
          <p:nvPr/>
        </p:nvSpPr>
        <p:spPr>
          <a:xfrm xmlns:a="http://schemas.openxmlformats.org/drawingml/2006/main">
            <a:off x="4657725" y="2800350"/>
            <a:ext cx="28765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POREĐENJE</a:t>
            </a:r>
          </a:p>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GA je bolji od slučajne pretrage na sve tri instance, ali razlika zavisi od instance.</a:t>
            </a:r>
          </a:p>
        </p:txBody>
      </p:sp>
      <p:sp>
        <p:nvSpPr>
          <p:cNvPr id="11" name="">
            <a:extLst xmlns:a="http://schemas.openxmlformats.org/drawingml/2006/main">
              <a:ext uri="{FF2B5EF4-FFF2-40B4-BE49-F238E27FC236}">
                <a16:creationId xmlns:a16="http://schemas.microsoft.com/office/drawing/2014/main" id="{0524FAC7-0F21-4DB3-8DED-566C18119323}"/>
              </a:ext>
            </a:extLst>
          </p:cNvPr>
          <p:cNvSpPr>
            <a:spLocks xmlns:a="http://schemas.openxmlformats.org/drawingml/2006/main" noGrp="1"/>
          </p:cNvSpPr>
          <p:nvPr/>
        </p:nvSpPr>
        <p:spPr>
          <a:xfrm xmlns:a="http://schemas.openxmlformats.org/drawingml/2006/main">
            <a:off x="8324850" y="1809750"/>
            <a:ext cx="3333750" cy="31432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3ED9E36-9158-475D-9AB1-B8C59CBD4089}"/>
              </a:ext>
            </a:extLst>
          </p:cNvPr>
          <p:cNvSpPr>
            <a:spLocks xmlns:a="http://schemas.openxmlformats.org/drawingml/2006/main" noGrp="1"/>
          </p:cNvSpPr>
          <p:nvPr/>
        </p:nvSpPr>
        <p:spPr>
          <a:xfrm xmlns:a="http://schemas.openxmlformats.org/drawingml/2006/main">
            <a:off x="8553450" y="2038350"/>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2E7D5B"/>
                </a:solidFill>
                <a:latin typeface="Arial"/>
                <a:ea typeface="Arial"/>
                <a:cs typeface="Arial"/>
              </a:defRPr>
            </a:pPr>
            <a:r>
              <a:rPr sz="3150" b="1">
                <a:solidFill>
                  <a:srgbClr val="2E7D5B"/>
                </a:solidFill>
                <a:latin typeface="Arial"/>
                <a:ea typeface="Arial"/>
                <a:cs typeface="Arial"/>
              </a:rPr>
              <a:t>≈3,5×</a:t>
            </a:r>
          </a:p>
        </p:txBody>
      </p:sp>
      <p:sp>
        <p:nvSpPr>
          <p:cNvPr id="13" name="">
            <a:extLst xmlns:a="http://schemas.openxmlformats.org/drawingml/2006/main">
              <a:ext uri="{FF2B5EF4-FFF2-40B4-BE49-F238E27FC236}">
                <a16:creationId xmlns:a16="http://schemas.microsoft.com/office/drawing/2014/main" id="{E45B6052-BC54-4740-A1DD-7CD1E09B8F7C}"/>
              </a:ext>
            </a:extLst>
          </p:cNvPr>
          <p:cNvSpPr>
            <a:spLocks xmlns:a="http://schemas.openxmlformats.org/drawingml/2006/main" noGrp="1"/>
          </p:cNvSpPr>
          <p:nvPr/>
        </p:nvSpPr>
        <p:spPr>
          <a:xfrm xmlns:a="http://schemas.openxmlformats.org/drawingml/2006/main">
            <a:off x="8553450" y="2800350"/>
            <a:ext cx="28765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VREME IZVRŠAVANJA</a:t>
            </a:r>
          </a:p>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Četiri puta veći broj evaluacija daje 0,15% bolju vrednost funkcije cilja uz 3,5× duže izvršavanje.</a:t>
            </a:r>
          </a:p>
        </p:txBody>
      </p:sp>
      <p:sp>
        <p:nvSpPr>
          <p:cNvPr id="14" name="">
            <a:extLst xmlns:a="http://schemas.openxmlformats.org/drawingml/2006/main">
              <a:ext uri="{FF2B5EF4-FFF2-40B4-BE49-F238E27FC236}">
                <a16:creationId xmlns:a16="http://schemas.microsoft.com/office/drawing/2014/main" id="{42C3AA0C-335E-466F-BF41-037FDB644E6D}"/>
              </a:ext>
            </a:extLst>
          </p:cNvPr>
          <p:cNvSpPr>
            <a:spLocks xmlns:a="http://schemas.openxmlformats.org/drawingml/2006/main" noGrp="1"/>
          </p:cNvSpPr>
          <p:nvPr/>
        </p:nvSpPr>
        <p:spPr>
          <a:xfrm xmlns:a="http://schemas.openxmlformats.org/drawingml/2006/main">
            <a:off x="2333625" y="5334000"/>
            <a:ext cx="7524750" cy="647700"/>
          </a:xfrm>
          <a:prstGeom xmlns:a="http://schemas.openxmlformats.org/drawingml/2006/main" prst="rect">
            <a:avLst/>
          </a:prstGeom>
          <a:solidFill xmlns:a="http://schemas.openxmlformats.org/drawingml/2006/main">
            <a:srgbClr val="EAF3F9"/>
          </a:solidFill>
          <a:ln xmlns:a="http://schemas.openxmlformats.org/drawingml/2006/main" w="9525">
            <a:solidFill>
              <a:srgbClr val="EAF3F9"/>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24F2184-CA2E-47CD-8047-C8080D498A76}"/>
              </a:ext>
            </a:extLst>
          </p:cNvPr>
          <p:cNvSpPr>
            <a:spLocks xmlns:a="http://schemas.openxmlformats.org/drawingml/2006/main" noGrp="1"/>
          </p:cNvSpPr>
          <p:nvPr/>
        </p:nvSpPr>
        <p:spPr>
          <a:xfrm xmlns:a="http://schemas.openxmlformats.org/drawingml/2006/main">
            <a:off x="2619375" y="5505450"/>
            <a:ext cx="695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6"/>
          </a:bodyPr>
          <a:lstStyle xmlns:a="http://schemas.openxmlformats.org/drawingml/2006/main"/>
          <a:p xmlns:a="http://schemas.openxmlformats.org/drawingml/2006/main">
            <a:pPr algn="ctr">
              <a:buNone/>
              <a:defRPr sz="1650" b="1">
                <a:solidFill>
                  <a:srgbClr val="123B63"/>
                </a:solidFill>
                <a:latin typeface="Arial"/>
                <a:ea typeface="Arial"/>
                <a:cs typeface="Arial"/>
              </a:defRPr>
            </a:pPr>
            <a:r>
              <a:rPr sz="1650" b="1">
                <a:solidFill>
                  <a:srgbClr val="123B63"/>
                </a:solidFill>
                <a:latin typeface="Arial"/>
                <a:ea typeface="Arial"/>
                <a:cs typeface="Arial"/>
              </a:rPr>
              <a:t>Praktični izbor je kompromis kvaliteta, vremena i fleksibilnosti modela.</a:t>
            </a:r>
          </a:p>
        </p:txBody>
      </p:sp>
    </p:spTree>
    <p:extLst>
      <p:ext uri="{BB962C8B-B14F-4D97-AF65-F5344CB8AC3E}">
        <p14:creationId xmlns:p14="http://schemas.microsoft.com/office/powerpoint/2010/main" val="2006072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2EE01E7-50B8-4A1E-8B16-937D65D89F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23B63"/>
          </a:solidFill>
          <a:ln xmlns:a="http://schemas.openxmlformats.org/drawingml/2006/main" w="0">
            <a:solidFill>
              <a:srgbClr val="123B63"/>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432CFE7-0CA1-47E3-B8DD-331CC2EC3928}"/>
              </a:ext>
            </a:extLst>
          </p:cNvPr>
          <p:cNvSpPr>
            <a:spLocks xmlns:a="http://schemas.openxmlformats.org/drawingml/2006/main" noGrp="1"/>
          </p:cNvSpPr>
          <p:nvPr/>
        </p:nvSpPr>
        <p:spPr>
          <a:xfrm xmlns:a="http://schemas.openxmlformats.org/drawingml/2006/main">
            <a:off x="571500" y="514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E75B6"/>
                </a:solidFill>
                <a:latin typeface="Arial"/>
                <a:ea typeface="Arial"/>
                <a:cs typeface="Arial"/>
              </a:defRPr>
            </a:pPr>
            <a:r>
              <a:rPr sz="1500" b="1">
                <a:solidFill>
                  <a:srgbClr val="2E75B6"/>
                </a:solidFill>
                <a:latin typeface="Arial"/>
                <a:ea typeface="Arial"/>
                <a:cs typeface="Arial"/>
              </a:rPr>
              <a:t>ZAKLJUČAK</a:t>
            </a:r>
          </a:p>
        </p:txBody>
      </p:sp>
      <p:sp>
        <p:nvSpPr>
          <p:cNvPr id="3" name="">
            <a:extLst xmlns:a="http://schemas.openxmlformats.org/drawingml/2006/main">
              <a:ext uri="{FF2B5EF4-FFF2-40B4-BE49-F238E27FC236}">
                <a16:creationId xmlns:a16="http://schemas.microsoft.com/office/drawing/2014/main" id="{DF8F25ED-9E9E-4393-AD2C-32BFB637E13E}"/>
              </a:ext>
            </a:extLst>
          </p:cNvPr>
          <p:cNvSpPr>
            <a:spLocks xmlns:a="http://schemas.openxmlformats.org/drawingml/2006/main" noGrp="1"/>
          </p:cNvSpPr>
          <p:nvPr/>
        </p:nvSpPr>
        <p:spPr>
          <a:xfrm xmlns:a="http://schemas.openxmlformats.org/drawingml/2006/main">
            <a:off x="571500" y="1428750"/>
            <a:ext cx="1019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a:solidFill>
                  <a:srgbClr val="111827"/>
                </a:solidFill>
                <a:latin typeface="Arial"/>
                <a:ea typeface="Arial"/>
                <a:cs typeface="Arial"/>
              </a:defRPr>
            </a:pPr>
            <a:r>
              <a:rPr sz="3450" b="1">
                <a:solidFill>
                  <a:srgbClr val="111827"/>
                </a:solidFill>
                <a:latin typeface="Arial"/>
                <a:ea typeface="Arial"/>
                <a:cs typeface="Arial"/>
              </a:rPr>
              <a:t>GA je kvalitetna dopuna, ne zamena za HiGHS</a:t>
            </a:r>
          </a:p>
        </p:txBody>
      </p:sp>
      <p:sp>
        <p:nvSpPr>
          <p:cNvPr id="4" name="">
            <a:extLst xmlns:a="http://schemas.openxmlformats.org/drawingml/2006/main">
              <a:ext uri="{FF2B5EF4-FFF2-40B4-BE49-F238E27FC236}">
                <a16:creationId xmlns:a16="http://schemas.microsoft.com/office/drawing/2014/main" id="{86D97E2D-A436-4B91-81FA-C449A514B54C}"/>
              </a:ext>
            </a:extLst>
          </p:cNvPr>
          <p:cNvSpPr>
            <a:spLocks xmlns:a="http://schemas.openxmlformats.org/drawingml/2006/main" noGrp="1"/>
          </p:cNvSpPr>
          <p:nvPr/>
        </p:nvSpPr>
        <p:spPr>
          <a:xfrm xmlns:a="http://schemas.openxmlformats.org/drawingml/2006/main">
            <a:off x="571500" y="2762250"/>
            <a:ext cx="3143250" cy="1809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76E8C8D-61D3-4844-A78C-BF7D6D282274}"/>
              </a:ext>
            </a:extLst>
          </p:cNvPr>
          <p:cNvSpPr>
            <a:spLocks xmlns:a="http://schemas.openxmlformats.org/drawingml/2006/main" noGrp="1"/>
          </p:cNvSpPr>
          <p:nvPr/>
        </p:nvSpPr>
        <p:spPr>
          <a:xfrm xmlns:a="http://schemas.openxmlformats.org/drawingml/2006/main">
            <a:off x="800100" y="2990850"/>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23B63"/>
                </a:solidFill>
                <a:latin typeface="Arial"/>
                <a:ea typeface="Arial"/>
                <a:cs typeface="Arial"/>
              </a:defRPr>
            </a:pPr>
            <a:r>
              <a:rPr sz="3150" b="1">
                <a:solidFill>
                  <a:srgbClr val="123B63"/>
                </a:solidFill>
                <a:latin typeface="Arial"/>
                <a:ea typeface="Arial"/>
                <a:cs typeface="Arial"/>
              </a:rPr>
              <a:t>97–99%</a:t>
            </a:r>
          </a:p>
        </p:txBody>
      </p:sp>
      <p:sp>
        <p:nvSpPr>
          <p:cNvPr id="6" name="">
            <a:extLst xmlns:a="http://schemas.openxmlformats.org/drawingml/2006/main">
              <a:ext uri="{FF2B5EF4-FFF2-40B4-BE49-F238E27FC236}">
                <a16:creationId xmlns:a16="http://schemas.microsoft.com/office/drawing/2014/main" id="{94A21108-8758-428B-848C-E3F058658EAA}"/>
              </a:ext>
            </a:extLst>
          </p:cNvPr>
          <p:cNvSpPr>
            <a:spLocks xmlns:a="http://schemas.openxmlformats.org/drawingml/2006/main" noGrp="1"/>
          </p:cNvSpPr>
          <p:nvPr/>
        </p:nvSpPr>
        <p:spPr>
          <a:xfrm xmlns:a="http://schemas.openxmlformats.org/drawingml/2006/main">
            <a:off x="800100" y="37528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kvalitet rešenja na ispitanim instancama</a:t>
            </a:r>
          </a:p>
        </p:txBody>
      </p:sp>
      <p:sp>
        <p:nvSpPr>
          <p:cNvPr id="7" name="">
            <a:extLst xmlns:a="http://schemas.openxmlformats.org/drawingml/2006/main">
              <a:ext uri="{FF2B5EF4-FFF2-40B4-BE49-F238E27FC236}">
                <a16:creationId xmlns:a16="http://schemas.microsoft.com/office/drawing/2014/main" id="{EA2DB837-709D-4170-A967-190B6988FA68}"/>
              </a:ext>
            </a:extLst>
          </p:cNvPr>
          <p:cNvSpPr>
            <a:spLocks xmlns:a="http://schemas.openxmlformats.org/drawingml/2006/main" noGrp="1"/>
          </p:cNvSpPr>
          <p:nvPr/>
        </p:nvSpPr>
        <p:spPr>
          <a:xfrm xmlns:a="http://schemas.openxmlformats.org/drawingml/2006/main">
            <a:off x="4286250" y="2762250"/>
            <a:ext cx="3143250" cy="1809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6622223C-F82A-44C5-A4BD-F9C0B34A8882}"/>
              </a:ext>
            </a:extLst>
          </p:cNvPr>
          <p:cNvSpPr>
            <a:spLocks xmlns:a="http://schemas.openxmlformats.org/drawingml/2006/main" noGrp="1"/>
          </p:cNvSpPr>
          <p:nvPr/>
        </p:nvSpPr>
        <p:spPr>
          <a:xfrm xmlns:a="http://schemas.openxmlformats.org/drawingml/2006/main">
            <a:off x="4514850" y="2990850"/>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2E75B6"/>
                </a:solidFill>
                <a:latin typeface="Arial"/>
                <a:ea typeface="Arial"/>
                <a:cs typeface="Arial"/>
              </a:defRPr>
            </a:pPr>
            <a:r>
              <a:rPr sz="3150" b="1">
                <a:solidFill>
                  <a:srgbClr val="2E75B6"/>
                </a:solidFill>
                <a:latin typeface="Arial"/>
                <a:ea typeface="Arial"/>
                <a:cs typeface="Arial"/>
              </a:rPr>
              <a:t>HiGHS prvo</a:t>
            </a:r>
          </a:p>
        </p:txBody>
      </p:sp>
      <p:sp>
        <p:nvSpPr>
          <p:cNvPr id="9" name="">
            <a:extLst xmlns:a="http://schemas.openxmlformats.org/drawingml/2006/main">
              <a:ext uri="{FF2B5EF4-FFF2-40B4-BE49-F238E27FC236}">
                <a16:creationId xmlns:a16="http://schemas.microsoft.com/office/drawing/2014/main" id="{B7A80611-9279-4391-B9E0-D6306DFE1600}"/>
              </a:ext>
            </a:extLst>
          </p:cNvPr>
          <p:cNvSpPr>
            <a:spLocks xmlns:a="http://schemas.openxmlformats.org/drawingml/2006/main" noGrp="1"/>
          </p:cNvSpPr>
          <p:nvPr/>
        </p:nvSpPr>
        <p:spPr>
          <a:xfrm xmlns:a="http://schemas.openxmlformats.org/drawingml/2006/main">
            <a:off x="4514850" y="37528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za statičke linearne instance ovog rada</a:t>
            </a:r>
          </a:p>
        </p:txBody>
      </p:sp>
      <p:sp>
        <p:nvSpPr>
          <p:cNvPr id="10" name="">
            <a:extLst xmlns:a="http://schemas.openxmlformats.org/drawingml/2006/main">
              <a:ext uri="{FF2B5EF4-FFF2-40B4-BE49-F238E27FC236}">
                <a16:creationId xmlns:a16="http://schemas.microsoft.com/office/drawing/2014/main" id="{58A3C622-05F3-4AAE-B305-4261CE70100C}"/>
              </a:ext>
            </a:extLst>
          </p:cNvPr>
          <p:cNvSpPr>
            <a:spLocks xmlns:a="http://schemas.openxmlformats.org/drawingml/2006/main" noGrp="1"/>
          </p:cNvSpPr>
          <p:nvPr/>
        </p:nvSpPr>
        <p:spPr>
          <a:xfrm xmlns:a="http://schemas.openxmlformats.org/drawingml/2006/main">
            <a:off x="8001000" y="2762250"/>
            <a:ext cx="3143250" cy="1809750"/>
          </a:xfrm>
          <a:prstGeom xmlns:a="http://schemas.openxmlformats.org/drawingml/2006/main" prst="rect">
            <a:avLst/>
          </a:prstGeom>
          <a:solidFill xmlns:a="http://schemas.openxmlformats.org/drawingml/2006/main">
            <a:srgbClr val="F2F4F6"/>
          </a:solidFill>
          <a:ln xmlns:a="http://schemas.openxmlformats.org/drawingml/2006/main" w="9525">
            <a:solidFill>
              <a:srgbClr val="F2F4F6"/>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F399FC8B-363D-4913-A8A3-C974C25348CA}"/>
              </a:ext>
            </a:extLst>
          </p:cNvPr>
          <p:cNvSpPr>
            <a:spLocks xmlns:a="http://schemas.openxmlformats.org/drawingml/2006/main" noGrp="1"/>
          </p:cNvSpPr>
          <p:nvPr/>
        </p:nvSpPr>
        <p:spPr>
          <a:xfrm xmlns:a="http://schemas.openxmlformats.org/drawingml/2006/main">
            <a:off x="8229600" y="2990850"/>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11"/>
          </a:bodyPr>
          <a:lstStyle xmlns:a="http://schemas.openxmlformats.org/drawingml/2006/main"/>
          <a:p xmlns:a="http://schemas.openxmlformats.org/drawingml/2006/main">
            <a:pPr algn="l">
              <a:buNone/>
              <a:defRPr sz="3150" b="1">
                <a:solidFill>
                  <a:srgbClr val="2E7D5B"/>
                </a:solidFill>
                <a:latin typeface="Arial"/>
                <a:ea typeface="Arial"/>
                <a:cs typeface="Arial"/>
              </a:defRPr>
            </a:pPr>
            <a:r>
              <a:rPr sz="3150" b="1">
                <a:solidFill>
                  <a:srgbClr val="2E7D5B"/>
                </a:solidFill>
                <a:latin typeface="Arial"/>
                <a:ea typeface="Arial"/>
                <a:cs typeface="Arial"/>
              </a:rPr>
              <a:t>GA fleksibilnost</a:t>
            </a:r>
          </a:p>
        </p:txBody>
      </p:sp>
      <p:sp>
        <p:nvSpPr>
          <p:cNvPr id="12" name="">
            <a:extLst xmlns:a="http://schemas.openxmlformats.org/drawingml/2006/main">
              <a:ext uri="{FF2B5EF4-FFF2-40B4-BE49-F238E27FC236}">
                <a16:creationId xmlns:a16="http://schemas.microsoft.com/office/drawing/2014/main" id="{C9BE9AE3-CF9E-46FA-A9B4-DF28CAF87062}"/>
              </a:ext>
            </a:extLst>
          </p:cNvPr>
          <p:cNvSpPr>
            <a:spLocks xmlns:a="http://schemas.openxmlformats.org/drawingml/2006/main" noGrp="1"/>
          </p:cNvSpPr>
          <p:nvPr/>
        </p:nvSpPr>
        <p:spPr>
          <a:xfrm xmlns:a="http://schemas.openxmlformats.org/drawingml/2006/main">
            <a:off x="8229600" y="37528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536273"/>
                </a:solidFill>
                <a:latin typeface="Arial"/>
                <a:ea typeface="Arial"/>
                <a:cs typeface="Arial"/>
              </a:defRPr>
            </a:pPr>
            <a:r>
              <a:rPr sz="1425" b="0">
                <a:solidFill>
                  <a:srgbClr val="536273"/>
                </a:solidFill>
                <a:latin typeface="Arial"/>
                <a:ea typeface="Arial"/>
                <a:cs typeface="Arial"/>
              </a:rPr>
              <a:t>za proširene, dinamičke i višekriterijumske modele</a:t>
            </a:r>
          </a:p>
        </p:txBody>
      </p:sp>
      <p:sp>
        <p:nvSpPr>
          <p:cNvPr id="13" name="">
            <a:extLst xmlns:a="http://schemas.openxmlformats.org/drawingml/2006/main">
              <a:ext uri="{FF2B5EF4-FFF2-40B4-BE49-F238E27FC236}">
                <a16:creationId xmlns:a16="http://schemas.microsoft.com/office/drawing/2014/main" id="{A57E01C3-7678-4EF3-8D69-EFBBACE36FB9}"/>
              </a:ext>
            </a:extLst>
          </p:cNvPr>
          <p:cNvSpPr>
            <a:spLocks xmlns:a="http://schemas.openxmlformats.org/drawingml/2006/main" noGrp="1"/>
          </p:cNvSpPr>
          <p:nvPr/>
        </p:nvSpPr>
        <p:spPr>
          <a:xfrm xmlns:a="http://schemas.openxmlformats.org/drawingml/2006/main">
            <a:off x="571500" y="5238750"/>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a:solidFill>
                  <a:srgbClr val="123B63"/>
                </a:solidFill>
                <a:latin typeface="Arial"/>
                <a:ea typeface="Arial"/>
                <a:cs typeface="Arial"/>
              </a:defRPr>
            </a:pPr>
            <a:r>
              <a:rPr sz="1425" b="0">
                <a:solidFill>
                  <a:srgbClr val="123B63"/>
                </a:solidFill>
                <a:latin typeface="Arial"/>
                <a:ea typeface="Arial"/>
                <a:cs typeface="Arial"/>
              </a:rPr>
              <a:t>Dalji rad: adaptivni operatori · lokalna pretraga · dinamičke instance · više ciljeva</a:t>
            </a:r>
          </a:p>
        </p:txBody>
      </p:sp>
      <p:sp>
        <p:nvSpPr>
          <p:cNvPr id="14" name="">
            <a:extLst xmlns:a="http://schemas.openxmlformats.org/drawingml/2006/main">
              <a:ext uri="{FF2B5EF4-FFF2-40B4-BE49-F238E27FC236}">
                <a16:creationId xmlns:a16="http://schemas.microsoft.com/office/drawing/2014/main" id="{07B6D951-205C-4CC2-9910-983F50D3FAE6}"/>
              </a:ext>
            </a:extLst>
          </p:cNvPr>
          <p:cNvSpPr>
            <a:spLocks xmlns:a="http://schemas.openxmlformats.org/drawingml/2006/main" noGrp="1"/>
          </p:cNvSpPr>
          <p:nvPr/>
        </p:nvSpPr>
        <p:spPr>
          <a:xfrm xmlns:a="http://schemas.openxmlformats.org/drawingml/2006/main">
            <a:off x="571500" y="5905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536273"/>
                </a:solidFill>
                <a:latin typeface="Arial"/>
                <a:ea typeface="Arial"/>
                <a:cs typeface="Arial"/>
              </a:defRPr>
            </a:pPr>
            <a:r>
              <a:rPr sz="1350" b="1">
                <a:solidFill>
                  <a:srgbClr val="536273"/>
                </a:solidFill>
                <a:latin typeface="Arial"/>
                <a:ea typeface="Arial"/>
                <a:cs typeface="Arial"/>
              </a:rPr>
              <a:t>Hvala na pažnji</a:t>
            </a:r>
          </a:p>
        </p:txBody>
      </p:sp>
      <p:sp>
        <p:nvSpPr>
          <p:cNvPr id="15" name="slide-12-number">
            <a:extLst xmlns:a="http://schemas.openxmlformats.org/drawingml/2006/main">
              <a:ext uri="{FF2B5EF4-FFF2-40B4-BE49-F238E27FC236}">
                <a16:creationId xmlns:a16="http://schemas.microsoft.com/office/drawing/2014/main" id="{80A4C6E4-60D3-4054-A6B7-E9881687C644}"/>
              </a:ext>
            </a:extLst>
          </p:cNvPr>
          <p:cNvSpPr>
            <a:spLocks xmlns:a="http://schemas.openxmlformats.org/drawingml/2006/main" noGrp="1"/>
          </p:cNvSpPr>
          <p:nvPr/>
        </p:nvSpPr>
        <p:spPr>
          <a:xfrm xmlns:a="http://schemas.openxmlformats.org/drawingml/2006/main">
            <a:off x="10134600" y="63436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a:solidFill>
                  <a:srgbClr val="536273"/>
                </a:solidFill>
                <a:latin typeface="Arial"/>
                <a:ea typeface="Arial"/>
                <a:cs typeface="Arial"/>
              </a:defRPr>
            </a:pPr>
            <a:r>
              <a:rPr sz="975" b="0">
                <a:solidFill>
                  <a:srgbClr val="536273"/>
                </a:solidFill>
                <a:latin typeface="Arial"/>
                <a:ea typeface="Arial"/>
                <a:cs typeface="Arial"/>
              </a:rPr>
              <a:t>12/12</a:t>
            </a:r>
          </a:p>
        </p:txBody>
      </p:sp>
      <p:sp>
        <p:nvSpPr>
          <p:cNvPr id="16" name="slide-12-footer">
            <a:extLst xmlns:a="http://schemas.openxmlformats.org/drawingml/2006/main">
              <a:ext uri="{FF2B5EF4-FFF2-40B4-BE49-F238E27FC236}">
                <a16:creationId xmlns:a16="http://schemas.microsoft.com/office/drawing/2014/main" id="{59102BAF-91B0-44B2-BFE2-9D87C573E268}"/>
              </a:ext>
            </a:extLst>
          </p:cNvPr>
          <p:cNvSpPr>
            <a:spLocks xmlns:a="http://schemas.openxmlformats.org/drawingml/2006/main" noGrp="1"/>
          </p:cNvSpPr>
          <p:nvPr/>
        </p:nvSpPr>
        <p:spPr>
          <a:xfrm xmlns:a="http://schemas.openxmlformats.org/drawingml/2006/main">
            <a:off x="533400" y="63436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a:solidFill>
                  <a:srgbClr val="536273"/>
                </a:solidFill>
                <a:latin typeface="Arial"/>
                <a:ea typeface="Arial"/>
                <a:cs typeface="Arial"/>
              </a:defRPr>
            </a:pPr>
            <a:r>
              <a:rPr sz="825" b="0">
                <a:solidFill>
                  <a:srgbClr val="536273"/>
                </a:solidFill>
                <a:latin typeface="Arial"/>
                <a:ea typeface="Arial"/>
                <a:cs typeface="Arial"/>
              </a:rPr>
              <a:t>OPTIMALNA RASPODELA POSLOVA NA RAČUNARIMA</a:t>
            </a:r>
          </a:p>
        </p:txBody>
      </p:sp>
    </p:spTree>
    <p:extLst>
      <p:ext uri="{BB962C8B-B14F-4D97-AF65-F5344CB8AC3E}">
        <p14:creationId xmlns:p14="http://schemas.microsoft.com/office/powerpoint/2010/main" val="2565504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2026-08-28T10:11:35.9300000Z</dcterms:created>
  <dcterms:modified xsi:type="dcterms:W3CDTF">2026-08-28T10:11:35.9300000Z</dcterms:modified>
</coreProperties>
</file>